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6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315F-C768-624A-948A-1F8E9E61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2AD43-CB59-1CDB-A73B-68402D03B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3EA1E-B4A1-334F-E14A-0C44A9C69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19ED-604A-E256-C172-DAB41EA038D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0926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CCEB-FBAD-01A9-B7DE-7A2342C7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09F72-3140-4D4E-8321-0C5ABE3C9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2CE38-B16D-8DC4-8741-6B701E73A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83B05-1F65-5D4D-F70B-87E126FE4B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5081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94F6366-F04C-42BB-A7E9-EA23D4F0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506CD060-6BA2-4DA7-B238-1EDAE023F7A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D58364B0-21D5-4EC9-B72D-962DF163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EFBC3208-A765-4161-BAA7-A92A09203D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>
            <a:extLst>
              <a:ext uri="{FF2B5EF4-FFF2-40B4-BE49-F238E27FC236}">
                <a16:creationId xmlns:a16="http://schemas.microsoft.com/office/drawing/2014/main" id="{4FEC919C-FBE8-43AA-8E45-5ECBD238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FDC03C9B-8E69-4851-BE0C-5810C66931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8" name="PlaceHolder 3">
            <a:extLst>
              <a:ext uri="{FF2B5EF4-FFF2-40B4-BE49-F238E27FC236}">
                <a16:creationId xmlns:a16="http://schemas.microsoft.com/office/drawing/2014/main" id="{DE1120D2-30E5-4947-B22F-BB64E083949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>
            <a:extLst>
              <a:ext uri="{FF2B5EF4-FFF2-40B4-BE49-F238E27FC236}">
                <a16:creationId xmlns:a16="http://schemas.microsoft.com/office/drawing/2014/main" id="{361D3771-5F0B-4CF4-8B11-1F31126C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>
            <a:extLst>
              <a:ext uri="{FF2B5EF4-FFF2-40B4-BE49-F238E27FC236}">
                <a16:creationId xmlns:a16="http://schemas.microsoft.com/office/drawing/2014/main" id="{E6F6DE3F-7659-45D1-98F2-D3A064C6BB7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>
            <a:extLst>
              <a:ext uri="{FF2B5EF4-FFF2-40B4-BE49-F238E27FC236}">
                <a16:creationId xmlns:a16="http://schemas.microsoft.com/office/drawing/2014/main" id="{F35FFCA4-325F-4B30-8CD2-D585D839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PlaceHolder 2">
            <a:extLst>
              <a:ext uri="{FF2B5EF4-FFF2-40B4-BE49-F238E27FC236}">
                <a16:creationId xmlns:a16="http://schemas.microsoft.com/office/drawing/2014/main" id="{4B134ECE-FF36-45F1-A47D-B1088A84AD8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3" name="PlaceHolder 3">
            <a:extLst>
              <a:ext uri="{FF2B5EF4-FFF2-40B4-BE49-F238E27FC236}">
                <a16:creationId xmlns:a16="http://schemas.microsoft.com/office/drawing/2014/main" id="{0D1DEE4C-C395-45E0-9790-5A5E8E29A0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4" name="PlaceHolder 4">
            <a:extLst>
              <a:ext uri="{FF2B5EF4-FFF2-40B4-BE49-F238E27FC236}">
                <a16:creationId xmlns:a16="http://schemas.microsoft.com/office/drawing/2014/main" id="{F6DCA3D3-F682-4953-9B3D-F59BB7880C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>
            <a:extLst>
              <a:ext uri="{FF2B5EF4-FFF2-40B4-BE49-F238E27FC236}">
                <a16:creationId xmlns:a16="http://schemas.microsoft.com/office/drawing/2014/main" id="{AF73657E-5A5C-4B37-89E1-320A578C9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6" name="PlaceHolder 2">
            <a:extLst>
              <a:ext uri="{FF2B5EF4-FFF2-40B4-BE49-F238E27FC236}">
                <a16:creationId xmlns:a16="http://schemas.microsoft.com/office/drawing/2014/main" id="{0F921B62-FD24-43BC-A48E-7F9AB5B219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7" name="PlaceHolder 3">
            <a:extLst>
              <a:ext uri="{FF2B5EF4-FFF2-40B4-BE49-F238E27FC236}">
                <a16:creationId xmlns:a16="http://schemas.microsoft.com/office/drawing/2014/main" id="{D5018AE1-B297-435F-9DD8-163358F6CE2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F76A6914-A7A1-4A57-8381-F8D2885CE69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>
            <a:extLst>
              <a:ext uri="{FF2B5EF4-FFF2-40B4-BE49-F238E27FC236}">
                <a16:creationId xmlns:a16="http://schemas.microsoft.com/office/drawing/2014/main" id="{AB36E7E3-C4AA-4412-BBE1-47DE133B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0" name="PlaceHolder 2">
            <a:extLst>
              <a:ext uri="{FF2B5EF4-FFF2-40B4-BE49-F238E27FC236}">
                <a16:creationId xmlns:a16="http://schemas.microsoft.com/office/drawing/2014/main" id="{69B6DE1D-B121-48C5-845F-94C38ADD22A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1" name="PlaceHolder 3">
            <a:extLst>
              <a:ext uri="{FF2B5EF4-FFF2-40B4-BE49-F238E27FC236}">
                <a16:creationId xmlns:a16="http://schemas.microsoft.com/office/drawing/2014/main" id="{47B0A36E-3380-4AD6-A4CE-6E637F8065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2" name="PlaceHolder 4">
            <a:extLst>
              <a:ext uri="{FF2B5EF4-FFF2-40B4-BE49-F238E27FC236}">
                <a16:creationId xmlns:a16="http://schemas.microsoft.com/office/drawing/2014/main" id="{35828682-E1A5-4EDE-BC42-78012AB14A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>
            <a:extLst>
              <a:ext uri="{FF2B5EF4-FFF2-40B4-BE49-F238E27FC236}">
                <a16:creationId xmlns:a16="http://schemas.microsoft.com/office/drawing/2014/main" id="{9B8F6AF8-828D-48C4-BB3E-B4BBA686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4" name="PlaceHolder 2">
            <a:extLst>
              <a:ext uri="{FF2B5EF4-FFF2-40B4-BE49-F238E27FC236}">
                <a16:creationId xmlns:a16="http://schemas.microsoft.com/office/drawing/2014/main" id="{C38B47E6-3EDC-45AB-93B6-10014E9041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5" name="PlaceHolder 3">
            <a:extLst>
              <a:ext uri="{FF2B5EF4-FFF2-40B4-BE49-F238E27FC236}">
                <a16:creationId xmlns:a16="http://schemas.microsoft.com/office/drawing/2014/main" id="{6BBD16B1-37B7-44F1-9BEA-4E7AAC74A18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>
            <a:extLst>
              <a:ext uri="{FF2B5EF4-FFF2-40B4-BE49-F238E27FC236}">
                <a16:creationId xmlns:a16="http://schemas.microsoft.com/office/drawing/2014/main" id="{A3BEE8BB-7812-4AC6-AE0D-AE55865D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7" name="PlaceHolder 2">
            <a:extLst>
              <a:ext uri="{FF2B5EF4-FFF2-40B4-BE49-F238E27FC236}">
                <a16:creationId xmlns:a16="http://schemas.microsoft.com/office/drawing/2014/main" id="{CCF95D07-CF8D-4EB6-8075-BF97B5DD98C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8" name="PlaceHolder 3">
            <a:extLst>
              <a:ext uri="{FF2B5EF4-FFF2-40B4-BE49-F238E27FC236}">
                <a16:creationId xmlns:a16="http://schemas.microsoft.com/office/drawing/2014/main" id="{FF225462-B597-4599-813B-1D8FFD3C3B0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9" name="PlaceHolder 4">
            <a:extLst>
              <a:ext uri="{FF2B5EF4-FFF2-40B4-BE49-F238E27FC236}">
                <a16:creationId xmlns:a16="http://schemas.microsoft.com/office/drawing/2014/main" id="{1721DCE8-1963-44C7-9151-8BC7274A097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30" name="PlaceHolder 5">
            <a:extLst>
              <a:ext uri="{FF2B5EF4-FFF2-40B4-BE49-F238E27FC236}">
                <a16:creationId xmlns:a16="http://schemas.microsoft.com/office/drawing/2014/main" id="{4165FE82-F519-4FEB-9AB6-F77E4CBD7F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>
            <a:extLst>
              <a:ext uri="{FF2B5EF4-FFF2-40B4-BE49-F238E27FC236}">
                <a16:creationId xmlns:a16="http://schemas.microsoft.com/office/drawing/2014/main" id="{E36FC53E-A334-40E8-9E88-4022ABA7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2" name="PlaceHolder 2">
            <a:extLst>
              <a:ext uri="{FF2B5EF4-FFF2-40B4-BE49-F238E27FC236}">
                <a16:creationId xmlns:a16="http://schemas.microsoft.com/office/drawing/2014/main" id="{B328B6B7-ABF0-4DB2-8C69-BBD3DAD9F2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33" name="PlaceHolder 3">
            <a:extLst>
              <a:ext uri="{FF2B5EF4-FFF2-40B4-BE49-F238E27FC236}">
                <a16:creationId xmlns:a16="http://schemas.microsoft.com/office/drawing/2014/main" id="{D6B776A9-B46B-4310-AC24-E608CD0D0B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34" name="PlaceHolder 4">
            <a:extLst>
              <a:ext uri="{FF2B5EF4-FFF2-40B4-BE49-F238E27FC236}">
                <a16:creationId xmlns:a16="http://schemas.microsoft.com/office/drawing/2014/main" id="{BDA9BB3A-4EB1-44F0-A74F-7F3830BD8B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35" name="PlaceHolder 5">
            <a:extLst>
              <a:ext uri="{FF2B5EF4-FFF2-40B4-BE49-F238E27FC236}">
                <a16:creationId xmlns:a16="http://schemas.microsoft.com/office/drawing/2014/main" id="{787460CB-CD30-4578-96A6-5E41959B05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36" name="PlaceHolder 6">
            <a:extLst>
              <a:ext uri="{FF2B5EF4-FFF2-40B4-BE49-F238E27FC236}">
                <a16:creationId xmlns:a16="http://schemas.microsoft.com/office/drawing/2014/main" id="{F4C556E8-C801-4DBF-87B1-49C844FD9D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37" name="PlaceHolder 7">
            <a:extLst>
              <a:ext uri="{FF2B5EF4-FFF2-40B4-BE49-F238E27FC236}">
                <a16:creationId xmlns:a16="http://schemas.microsoft.com/office/drawing/2014/main" id="{EF64978B-775B-456D-8B07-1E4063A427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161FA149-798A-401A-A1B9-70CB23A1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sz="4400" b="0">
                <a:latin typeface="Arial"/>
                <a:ea typeface="Arial"/>
                <a:cs typeface="Arial"/>
              </a:rPr>
              <a:t>点击鼠标编辑标题文字格式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3E18D50-625F-4801-A61F-7D6E80B9FF5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har char=""/>
            </a:pPr>
            <a:r>
              <a:rPr sz="3200" b="0">
                <a:latin typeface="Arial"/>
                <a:ea typeface="Arial"/>
                <a:cs typeface="Arial"/>
              </a:rPr>
              <a:t>点击鼠标编辑大纲文字格式</a:t>
            </a:r>
          </a:p>
          <a:p>
            <a:pPr marL="864000" indent="-324000">
              <a:spcBef>
                <a:spcPts val="1134"/>
              </a:spcBef>
              <a:buChar char=""/>
            </a:pPr>
            <a:r>
              <a:rPr sz="2800" b="0">
                <a:latin typeface="Arial"/>
                <a:ea typeface="Arial"/>
                <a:cs typeface="Arial"/>
              </a:rPr>
              <a:t>第二个大纲级</a:t>
            </a:r>
          </a:p>
          <a:p>
            <a:pPr marL="1296000" indent="-288000">
              <a:spcBef>
                <a:spcPts val="850"/>
              </a:spcBef>
              <a:buChar char=""/>
            </a:pPr>
            <a:r>
              <a:rPr sz="2400" b="0">
                <a:latin typeface="Arial"/>
                <a:ea typeface="Arial"/>
                <a:cs typeface="Arial"/>
              </a:rPr>
              <a:t>第三大纲级别</a:t>
            </a:r>
          </a:p>
          <a:p>
            <a:pPr marL="1728000" indent="-216000">
              <a:spcBef>
                <a:spcPts val="567"/>
              </a:spcBef>
              <a:buChar char=""/>
            </a:pPr>
            <a:r>
              <a:rPr sz="2000" b="0">
                <a:latin typeface="Arial"/>
                <a:ea typeface="Arial"/>
                <a:cs typeface="Arial"/>
              </a:rPr>
              <a:t>第四大纲级别</a:t>
            </a:r>
          </a:p>
          <a:p>
            <a:pPr marL="2160000" indent="-216000">
              <a:spcBef>
                <a:spcPts val="283"/>
              </a:spcBef>
              <a:buChar char=""/>
            </a:pPr>
            <a:r>
              <a:rPr sz="2000" b="0">
                <a:latin typeface="Arial"/>
                <a:ea typeface="Arial"/>
                <a:cs typeface="Arial"/>
              </a:rPr>
              <a:t>第五大纲级别</a:t>
            </a:r>
          </a:p>
          <a:p>
            <a:pPr marL="2592000" indent="-216000">
              <a:spcBef>
                <a:spcPts val="283"/>
              </a:spcBef>
              <a:buChar char=""/>
            </a:pPr>
            <a:r>
              <a:rPr sz="2000" b="0">
                <a:latin typeface="Arial"/>
                <a:ea typeface="Arial"/>
                <a:cs typeface="Arial"/>
              </a:rPr>
              <a:t>第六大纲级别</a:t>
            </a:r>
          </a:p>
          <a:p>
            <a:pPr marL="3024000" indent="-216000">
              <a:spcBef>
                <a:spcPts val="283"/>
              </a:spcBef>
              <a:buChar char=""/>
            </a:pPr>
            <a:r>
              <a:rPr sz="2000" b="0">
                <a:latin typeface="Arial"/>
                <a:ea typeface="Arial"/>
                <a:cs typeface="Arial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"/>
          <p:cNvPicPr>
            <a:picLocks noChangeAspect="1"/>
          </p:cNvPicPr>
          <p:nvPr/>
        </p:nvPicPr>
        <p:blipFill>
          <a:blip r:embed="rId3"/>
          <a:srcRect l="2" r="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</p:pic>
      <p:sp>
        <p:nvSpPr>
          <p:cNvPr id="39" name="CustomShape 1">
            <a:extLst>
              <a:ext uri="{FF2B5EF4-FFF2-40B4-BE49-F238E27FC236}">
                <a16:creationId xmlns:a16="http://schemas.microsoft.com/office/drawing/2014/main" id="{0E5BF9D9-E976-4931-A473-208DFD33A8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0720" cy="685728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" name="CustomShape 2">
            <a:extLst>
              <a:ext uri="{FF2B5EF4-FFF2-40B4-BE49-F238E27FC236}">
                <a16:creationId xmlns:a16="http://schemas.microsoft.com/office/drawing/2014/main" id="{C7739EAF-C9D9-490A-9B7C-121668112248}"/>
              </a:ext>
            </a:extLst>
          </p:cNvPr>
          <p:cNvSpPr>
            <a:spLocks noGrp="1"/>
          </p:cNvSpPr>
          <p:nvPr/>
        </p:nvSpPr>
        <p:spPr>
          <a:xfrm>
            <a:off x="694800" y="694800"/>
            <a:ext cx="3519720" cy="419760"/>
          </a:xfrm>
          <a:prstGeom prst="roundRect">
            <a:avLst>
              <a:gd name="adj" fmla="val 16667"/>
            </a:avLst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" name="CustomShape 3">
            <a:extLst>
              <a:ext uri="{FF2B5EF4-FFF2-40B4-BE49-F238E27FC236}">
                <a16:creationId xmlns:a16="http://schemas.microsoft.com/office/drawing/2014/main" id="{FD8B0CD8-E76C-42BF-A78F-8514D8853152}"/>
              </a:ext>
            </a:extLst>
          </p:cNvPr>
          <p:cNvSpPr>
            <a:spLocks noGrp="1"/>
          </p:cNvSpPr>
          <p:nvPr/>
        </p:nvSpPr>
        <p:spPr>
          <a:xfrm>
            <a:off x="694800" y="653040"/>
            <a:ext cx="3519720" cy="50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当前实现 · 工程验证 · 真机部署接口</a:t>
            </a:r>
          </a:p>
        </p:txBody>
      </p:sp>
      <p:sp>
        <p:nvSpPr>
          <p:cNvPr id="42" name="CustomShape 4">
            <a:extLst>
              <a:ext uri="{FF2B5EF4-FFF2-40B4-BE49-F238E27FC236}">
                <a16:creationId xmlns:a16="http://schemas.microsoft.com/office/drawing/2014/main" id="{318D2252-D31D-417F-B510-3F263CD0D377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789200" cy="652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38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户外空地协同连续排雷系统</a:t>
            </a:r>
          </a:p>
        </p:txBody>
      </p:sp>
      <p:sp>
        <p:nvSpPr>
          <p:cNvPr id="43" name="CustomShape 5">
            <a:extLst>
              <a:ext uri="{FF2B5EF4-FFF2-40B4-BE49-F238E27FC236}">
                <a16:creationId xmlns:a16="http://schemas.microsoft.com/office/drawing/2014/main" id="{E912979A-77F2-4D9A-936F-525A0F1B4796}"/>
              </a:ext>
            </a:extLst>
          </p:cNvPr>
          <p:cNvSpPr>
            <a:spLocks noGrp="1"/>
          </p:cNvSpPr>
          <p:nvPr/>
        </p:nvSpPr>
        <p:spPr>
          <a:xfrm>
            <a:off x="722520" y="2240280"/>
            <a:ext cx="10423440" cy="39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1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UAV 搜索建图与远场定位 · UGV 近场复定位与机械臂抓取</a:t>
            </a:r>
          </a:p>
        </p:txBody>
      </p:sp>
      <p:sp>
        <p:nvSpPr>
          <p:cNvPr id="44" name="CustomShape 6">
            <a:extLst>
              <a:ext uri="{FF2B5EF4-FFF2-40B4-BE49-F238E27FC236}">
                <a16:creationId xmlns:a16="http://schemas.microsoft.com/office/drawing/2014/main" id="{6FA449A6-1DEE-4C16-A53A-9E8E5CE60981}"/>
              </a:ext>
            </a:extLst>
          </p:cNvPr>
          <p:cNvSpPr>
            <a:spLocks noGrp="1"/>
          </p:cNvSpPr>
          <p:nvPr/>
        </p:nvSpPr>
        <p:spPr>
          <a:xfrm>
            <a:off x="685800" y="4260960"/>
            <a:ext cx="10834920" cy="133416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5" name="CustomShape 7">
            <a:extLst>
              <a:ext uri="{FF2B5EF4-FFF2-40B4-BE49-F238E27FC236}">
                <a16:creationId xmlns:a16="http://schemas.microsoft.com/office/drawing/2014/main" id="{F6CD849B-D5CC-4871-8FF4-235BC24E2951}"/>
              </a:ext>
            </a:extLst>
          </p:cNvPr>
          <p:cNvSpPr>
            <a:spLocks noGrp="1"/>
          </p:cNvSpPr>
          <p:nvPr/>
        </p:nvSpPr>
        <p:spPr>
          <a:xfrm>
            <a:off x="951120" y="4517280"/>
            <a:ext cx="1325160" cy="34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buNone/>
              <a:defRPr sz="14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核心结论</a:t>
            </a:r>
          </a:p>
        </p:txBody>
      </p:sp>
      <p:sp>
        <p:nvSpPr>
          <p:cNvPr id="46" name="CustomShape 8">
            <a:extLst>
              <a:ext uri="{FF2B5EF4-FFF2-40B4-BE49-F238E27FC236}">
                <a16:creationId xmlns:a16="http://schemas.microsoft.com/office/drawing/2014/main" id="{32ECCC68-8236-4581-B695-B286ED5FFBE6}"/>
              </a:ext>
            </a:extLst>
          </p:cNvPr>
          <p:cNvSpPr>
            <a:spLocks noGrp="1"/>
          </p:cNvSpPr>
          <p:nvPr/>
        </p:nvSpPr>
        <p:spPr>
          <a:xfrm>
            <a:off x="2212920" y="4501440"/>
            <a:ext cx="8795880" cy="74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5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采用 Egocentric 地面导航，显式承认 UAV 位姿与 LiDAR 量测误差；</a:t>
            </a:r>
          </a:p>
          <a:p>
            <a:pPr>
              <a:buNone/>
              <a:defRPr sz="15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以局部一致性保护 elevation map，并完成导航—抓取软件链。</a:t>
            </a:r>
          </a:p>
        </p:txBody>
      </p:sp>
      <p:sp>
        <p:nvSpPr>
          <p:cNvPr id="47" name="CustomShape 9">
            <a:extLst>
              <a:ext uri="{FF2B5EF4-FFF2-40B4-BE49-F238E27FC236}">
                <a16:creationId xmlns:a16="http://schemas.microsoft.com/office/drawing/2014/main" id="{0ACA06AC-76A4-4F29-BA2C-5EAB963DCEFF}"/>
              </a:ext>
            </a:extLst>
          </p:cNvPr>
          <p:cNvSpPr>
            <a:spLocks noGrp="1"/>
          </p:cNvSpPr>
          <p:nvPr/>
        </p:nvSpPr>
        <p:spPr>
          <a:xfrm>
            <a:off x="749880" y="6192000"/>
            <a:ext cx="4145760" cy="286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4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小组成员：武天豪 赵汝堃 杜军 吴淑林</a:t>
            </a:r>
          </a:p>
        </p:txBody>
      </p:sp>
    </p:spTree>
    <p:extLst>
      <p:ext uri="{BB962C8B-B14F-4D97-AF65-F5344CB8AC3E}">
        <p14:creationId xmlns:p14="http://schemas.microsoft.com/office/powerpoint/2010/main" val="29790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/>
          <p:cNvPicPr>
            <a:picLocks noChangeAspect="1"/>
          </p:cNvPicPr>
          <p:nvPr/>
        </p:nvPicPr>
        <p:blipFill>
          <a:blip r:embed="rId3"/>
          <a:srcRect l="2" r="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</p:pic>
      <p:sp>
        <p:nvSpPr>
          <p:cNvPr id="49" name="CustomShape 1">
            <a:extLst>
              <a:ext uri="{FF2B5EF4-FFF2-40B4-BE49-F238E27FC236}">
                <a16:creationId xmlns:a16="http://schemas.microsoft.com/office/drawing/2014/main" id="{09070F0A-AFE7-48E1-B2D5-12EE31011B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E8F0EDCA-CA61-405D-8FCB-A519240394B0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1" name="CustomShape 3">
            <a:extLst>
              <a:ext uri="{FF2B5EF4-FFF2-40B4-BE49-F238E27FC236}">
                <a16:creationId xmlns:a16="http://schemas.microsoft.com/office/drawing/2014/main" id="{5F83BF05-EA03-4359-BB2E-3E819DE7D52F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系统目标与总体架构</a:t>
            </a:r>
          </a:p>
        </p:txBody>
      </p:sp>
      <p:sp>
        <p:nvSpPr>
          <p:cNvPr id="52" name="CustomShape 4">
            <a:extLst>
              <a:ext uri="{FF2B5EF4-FFF2-40B4-BE49-F238E27FC236}">
                <a16:creationId xmlns:a16="http://schemas.microsoft.com/office/drawing/2014/main" id="{CE8F4E2E-03C4-40A5-8866-48A90503C7FE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 dirty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UAV 与 UGV </a:t>
            </a:r>
            <a:r>
              <a:rPr sz="1500" b="0" dirty="0" err="1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自身坐标、目标交接与位姿锚定</a:t>
            </a:r>
            <a:endParaRPr sz="1500" b="0" dirty="0">
              <a:solidFill>
                <a:srgbClr val="9CB4C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CustomShape 5">
            <a:extLst>
              <a:ext uri="{FF2B5EF4-FFF2-40B4-BE49-F238E27FC236}">
                <a16:creationId xmlns:a16="http://schemas.microsoft.com/office/drawing/2014/main" id="{BE658CFF-8C92-4A37-A53B-E1E556E24C03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4" name="CustomShape 6">
            <a:extLst>
              <a:ext uri="{FF2B5EF4-FFF2-40B4-BE49-F238E27FC236}">
                <a16:creationId xmlns:a16="http://schemas.microsoft.com/office/drawing/2014/main" id="{E63244F2-023B-44CF-8487-5B6D41745718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sp>
        <p:nvSpPr>
          <p:cNvPr id="55" name="CustomShape 7">
            <a:extLst>
              <a:ext uri="{FF2B5EF4-FFF2-40B4-BE49-F238E27FC236}">
                <a16:creationId xmlns:a16="http://schemas.microsoft.com/office/drawing/2014/main" id="{6C361072-C817-4537-9040-DE14B59A5CB7}"/>
              </a:ext>
            </a:extLst>
          </p:cNvPr>
          <p:cNvSpPr>
            <a:spLocks noGrp="1"/>
          </p:cNvSpPr>
          <p:nvPr/>
        </p:nvSpPr>
        <p:spPr>
          <a:xfrm>
            <a:off x="475560" y="1115640"/>
            <a:ext cx="3336840" cy="516564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" name="CustomShape 8">
            <a:extLst>
              <a:ext uri="{FF2B5EF4-FFF2-40B4-BE49-F238E27FC236}">
                <a16:creationId xmlns:a16="http://schemas.microsoft.com/office/drawing/2014/main" id="{BED6612E-CF4B-4AFE-A5B1-9FF7EF6DD222}"/>
              </a:ext>
            </a:extLst>
          </p:cNvPr>
          <p:cNvSpPr>
            <a:spLocks noGrp="1"/>
          </p:cNvSpPr>
          <p:nvPr/>
        </p:nvSpPr>
        <p:spPr>
          <a:xfrm>
            <a:off x="768240" y="1371600"/>
            <a:ext cx="1553760" cy="39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1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任务目标</a:t>
            </a:r>
          </a:p>
        </p:txBody>
      </p:sp>
      <p:sp>
        <p:nvSpPr>
          <p:cNvPr id="57" name="CustomShape 9">
            <a:extLst>
              <a:ext uri="{FF2B5EF4-FFF2-40B4-BE49-F238E27FC236}">
                <a16:creationId xmlns:a16="http://schemas.microsoft.com/office/drawing/2014/main" id="{77A466E7-8C10-4B4A-8F3D-70F1D6C664A7}"/>
              </a:ext>
            </a:extLst>
          </p:cNvPr>
          <p:cNvSpPr>
            <a:spLocks noGrp="1"/>
          </p:cNvSpPr>
          <p:nvPr/>
        </p:nvSpPr>
        <p:spPr>
          <a:xfrm>
            <a:off x="768240" y="1865520"/>
            <a:ext cx="2760840" cy="234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>
            <a:spAutoFit/>
          </a:bodyPr>
          <a:lstStyle/>
          <a:p>
            <a:r>
              <a:rPr sz="1600" b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● 空中快速覆盖、绕障飞行与三维建图</a:t>
            </a:r>
          </a:p>
          <a:p>
            <a:r>
              <a:rPr sz="1600" b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● 远场识别后输出 uav0/map_local 目标坐标</a:t>
            </a: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sz="1600" b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● 地面安全导航、近场精定位与抓取</a:t>
            </a: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endParaRPr sz="1600" b="0">
              <a:solidFill>
                <a:srgbClr val="25D5D0"/>
              </a:solidFill>
              <a:latin typeface="Noto Sans CJK SC"/>
              <a:ea typeface="Noto Sans CJK SC"/>
              <a:cs typeface="Noto Sans CJK SC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endParaRPr sz="1600" b="0">
              <a:solidFill>
                <a:srgbClr val="25D5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408C1C7D-4A74-46EB-90A7-E53390D7A31F}"/>
              </a:ext>
            </a:extLst>
          </p:cNvPr>
          <p:cNvSpPr>
            <a:spLocks noGrp="1"/>
          </p:cNvSpPr>
          <p:nvPr/>
        </p:nvSpPr>
        <p:spPr>
          <a:xfrm>
            <a:off x="768240" y="4489560"/>
            <a:ext cx="191952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9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一键协同编排</a:t>
            </a:r>
          </a:p>
        </p:txBody>
      </p:sp>
      <p:sp>
        <p:nvSpPr>
          <p:cNvPr id="59" name="CustomShape 11">
            <a:extLst>
              <a:ext uri="{FF2B5EF4-FFF2-40B4-BE49-F238E27FC236}">
                <a16:creationId xmlns:a16="http://schemas.microsoft.com/office/drawing/2014/main" id="{75B44892-11EF-4913-A294-499EDCD4770E}"/>
              </a:ext>
            </a:extLst>
          </p:cNvPr>
          <p:cNvSpPr>
            <a:spLocks noGrp="1"/>
          </p:cNvSpPr>
          <p:nvPr/>
        </p:nvSpPr>
        <p:spPr>
          <a:xfrm>
            <a:off x="768240" y="4830840"/>
            <a:ext cx="2724120" cy="1109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Gazebo / PX4 / ROS Navigation / MoveIt</a:t>
            </a:r>
          </a:p>
          <a:p>
            <a:pPr>
              <a:lnSpc>
                <a:spcPct val="100000"/>
              </a:lnSpc>
              <a:buNone/>
            </a:pPr>
            <a:r>
              <a:rPr sz="1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按依赖顺序启动并共享 TF 与任务消息</a:t>
            </a:r>
          </a:p>
        </p:txBody>
      </p:sp>
      <p:sp>
        <p:nvSpPr>
          <p:cNvPr id="60" name="CustomShape 12">
            <a:extLst>
              <a:ext uri="{FF2B5EF4-FFF2-40B4-BE49-F238E27FC236}">
                <a16:creationId xmlns:a16="http://schemas.microsoft.com/office/drawing/2014/main" id="{6003F240-46A1-45AE-9CA6-604113184179}"/>
              </a:ext>
            </a:extLst>
          </p:cNvPr>
          <p:cNvSpPr>
            <a:spLocks noGrp="1"/>
          </p:cNvSpPr>
          <p:nvPr/>
        </p:nvSpPr>
        <p:spPr>
          <a:xfrm>
            <a:off x="4160520" y="1170360"/>
            <a:ext cx="7149960" cy="74916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25D5D0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1" name="CustomShape 13">
            <a:extLst>
              <a:ext uri="{FF2B5EF4-FFF2-40B4-BE49-F238E27FC236}">
                <a16:creationId xmlns:a16="http://schemas.microsoft.com/office/drawing/2014/main" id="{3C37CED5-1C9C-48CF-8206-CEA2E4CC83BB}"/>
              </a:ext>
            </a:extLst>
          </p:cNvPr>
          <p:cNvSpPr>
            <a:spLocks noGrp="1"/>
          </p:cNvSpPr>
          <p:nvPr/>
        </p:nvSpPr>
        <p:spPr>
          <a:xfrm>
            <a:off x="4251960" y="1199520"/>
            <a:ext cx="696708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 飞行与建图</a:t>
            </a:r>
          </a:p>
        </p:txBody>
      </p:sp>
      <p:sp>
        <p:nvSpPr>
          <p:cNvPr id="62" name="CustomShape 14">
            <a:extLst>
              <a:ext uri="{FF2B5EF4-FFF2-40B4-BE49-F238E27FC236}">
                <a16:creationId xmlns:a16="http://schemas.microsoft.com/office/drawing/2014/main" id="{8FA1CB17-EBBC-441A-BF14-8B7240C72D6B}"/>
              </a:ext>
            </a:extLst>
          </p:cNvPr>
          <p:cNvSpPr>
            <a:spLocks noGrp="1"/>
          </p:cNvSpPr>
          <p:nvPr/>
        </p:nvSpPr>
        <p:spPr>
          <a:xfrm>
            <a:off x="4251960" y="1548360"/>
            <a:ext cx="6967080" cy="30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sz="16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EGO → PX4（可选 A* 前端）；LiDAR → 点云地图</a:t>
            </a:r>
          </a:p>
        </p:txBody>
      </p:sp>
      <p:sp>
        <p:nvSpPr>
          <p:cNvPr id="63" name="Line 15">
            <a:extLst>
              <a:ext uri="{FF2B5EF4-FFF2-40B4-BE49-F238E27FC236}">
                <a16:creationId xmlns:a16="http://schemas.microsoft.com/office/drawing/2014/main" id="{BC9A60AB-BA9D-4E05-AF40-D76F55FD8985}"/>
              </a:ext>
            </a:extLst>
          </p:cNvPr>
          <p:cNvSpPr>
            <a:spLocks noGrp="1"/>
          </p:cNvSpPr>
          <p:nvPr/>
        </p:nvSpPr>
        <p:spPr>
          <a:xfrm>
            <a:off x="7735680" y="1920240"/>
            <a:ext cx="0" cy="200880"/>
          </a:xfrm>
          <a:prstGeom prst="line">
            <a:avLst/>
          </a:prstGeom>
          <a:ln w="2808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4" name="CustomShape 16">
            <a:extLst>
              <a:ext uri="{FF2B5EF4-FFF2-40B4-BE49-F238E27FC236}">
                <a16:creationId xmlns:a16="http://schemas.microsoft.com/office/drawing/2014/main" id="{BF6DDADF-BB43-4838-8BB6-880846F477AB}"/>
              </a:ext>
            </a:extLst>
          </p:cNvPr>
          <p:cNvSpPr>
            <a:spLocks noGrp="1"/>
          </p:cNvSpPr>
          <p:nvPr/>
        </p:nvSpPr>
        <p:spPr>
          <a:xfrm>
            <a:off x="4160520" y="2157840"/>
            <a:ext cx="7149960" cy="74916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5" name="CustomShape 17">
            <a:extLst>
              <a:ext uri="{FF2B5EF4-FFF2-40B4-BE49-F238E27FC236}">
                <a16:creationId xmlns:a16="http://schemas.microsoft.com/office/drawing/2014/main" id="{3826F640-D2F8-44CF-9BCB-D6E9C1C44286}"/>
              </a:ext>
            </a:extLst>
          </p:cNvPr>
          <p:cNvSpPr>
            <a:spLocks noGrp="1"/>
          </p:cNvSpPr>
          <p:nvPr/>
        </p:nvSpPr>
        <p:spPr>
          <a:xfrm>
            <a:off x="4251960" y="2187000"/>
            <a:ext cx="696708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 远场地雷定位</a:t>
            </a:r>
          </a:p>
        </p:txBody>
      </p:sp>
      <p:sp>
        <p:nvSpPr>
          <p:cNvPr id="66" name="CustomShape 18">
            <a:extLst>
              <a:ext uri="{FF2B5EF4-FFF2-40B4-BE49-F238E27FC236}">
                <a16:creationId xmlns:a16="http://schemas.microsoft.com/office/drawing/2014/main" id="{A28EB2B7-E18E-432C-B6AA-1E87E62FDBFD}"/>
              </a:ext>
            </a:extLst>
          </p:cNvPr>
          <p:cNvSpPr>
            <a:spLocks noGrp="1"/>
          </p:cNvSpPr>
          <p:nvPr/>
        </p:nvSpPr>
        <p:spPr>
          <a:xfrm>
            <a:off x="4251960" y="2535840"/>
            <a:ext cx="6967080" cy="30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sz="16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YOLO11s-seg + RGB-D → uav0/map_local 坐标</a:t>
            </a:r>
          </a:p>
        </p:txBody>
      </p:sp>
      <p:sp>
        <p:nvSpPr>
          <p:cNvPr id="67" name="Line 19">
            <a:extLst>
              <a:ext uri="{FF2B5EF4-FFF2-40B4-BE49-F238E27FC236}">
                <a16:creationId xmlns:a16="http://schemas.microsoft.com/office/drawing/2014/main" id="{48EC92B4-F41A-45AE-AEA2-E442AA9493B0}"/>
              </a:ext>
            </a:extLst>
          </p:cNvPr>
          <p:cNvSpPr>
            <a:spLocks noGrp="1"/>
          </p:cNvSpPr>
          <p:nvPr/>
        </p:nvSpPr>
        <p:spPr>
          <a:xfrm>
            <a:off x="7735680" y="2907720"/>
            <a:ext cx="0" cy="201240"/>
          </a:xfrm>
          <a:prstGeom prst="line">
            <a:avLst/>
          </a:prstGeom>
          <a:ln w="2808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8" name="CustomShape 20">
            <a:extLst>
              <a:ext uri="{FF2B5EF4-FFF2-40B4-BE49-F238E27FC236}">
                <a16:creationId xmlns:a16="http://schemas.microsoft.com/office/drawing/2014/main" id="{05B48379-294F-4A8B-A214-464DF33A1260}"/>
              </a:ext>
            </a:extLst>
          </p:cNvPr>
          <p:cNvSpPr>
            <a:spLocks noGrp="1"/>
          </p:cNvSpPr>
          <p:nvPr/>
        </p:nvSpPr>
        <p:spPr>
          <a:xfrm>
            <a:off x="4160520" y="3145680"/>
            <a:ext cx="7149960" cy="74916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9" name="CustomShape 21">
            <a:extLst>
              <a:ext uri="{FF2B5EF4-FFF2-40B4-BE49-F238E27FC236}">
                <a16:creationId xmlns:a16="http://schemas.microsoft.com/office/drawing/2014/main" id="{6A2B4981-1FFC-401B-BCCB-07968F6299F1}"/>
              </a:ext>
            </a:extLst>
          </p:cNvPr>
          <p:cNvSpPr>
            <a:spLocks noGrp="1"/>
          </p:cNvSpPr>
          <p:nvPr/>
        </p:nvSpPr>
        <p:spPr>
          <a:xfrm>
            <a:off x="4251960" y="3174480"/>
            <a:ext cx="696708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空地目标交接</a:t>
            </a:r>
          </a:p>
        </p:txBody>
      </p:sp>
      <p:sp>
        <p:nvSpPr>
          <p:cNvPr id="70" name="CustomShape 22">
            <a:extLst>
              <a:ext uri="{FF2B5EF4-FFF2-40B4-BE49-F238E27FC236}">
                <a16:creationId xmlns:a16="http://schemas.microsoft.com/office/drawing/2014/main" id="{01E8E70E-5E6C-4C13-9399-F8CB98A79625}"/>
              </a:ext>
            </a:extLst>
          </p:cNvPr>
          <p:cNvSpPr>
            <a:spLocks noGrp="1"/>
          </p:cNvSpPr>
          <p:nvPr/>
        </p:nvSpPr>
        <p:spPr>
          <a:xfrm>
            <a:off x="4251960" y="3523680"/>
            <a:ext cx="6967080" cy="30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95000"/>
              </a:lnSpc>
              <a:buNone/>
            </a:pPr>
            <a:r>
              <a:rPr sz="16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多帧融合、稳定 ID、frame_id = uav0/map_local</a:t>
            </a:r>
          </a:p>
        </p:txBody>
      </p:sp>
      <p:sp>
        <p:nvSpPr>
          <p:cNvPr id="71" name="Line 23">
            <a:extLst>
              <a:ext uri="{FF2B5EF4-FFF2-40B4-BE49-F238E27FC236}">
                <a16:creationId xmlns:a16="http://schemas.microsoft.com/office/drawing/2014/main" id="{DECA41BD-249A-48C3-9F0B-59A9EEE5AFF4}"/>
              </a:ext>
            </a:extLst>
          </p:cNvPr>
          <p:cNvSpPr>
            <a:spLocks noGrp="1"/>
          </p:cNvSpPr>
          <p:nvPr/>
        </p:nvSpPr>
        <p:spPr>
          <a:xfrm>
            <a:off x="7735680" y="3895200"/>
            <a:ext cx="0" cy="201240"/>
          </a:xfrm>
          <a:prstGeom prst="line">
            <a:avLst/>
          </a:prstGeom>
          <a:ln w="2808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2" name="CustomShape 24">
            <a:extLst>
              <a:ext uri="{FF2B5EF4-FFF2-40B4-BE49-F238E27FC236}">
                <a16:creationId xmlns:a16="http://schemas.microsoft.com/office/drawing/2014/main" id="{8880FA5C-5609-4D15-92CC-7054C2A5F405}"/>
              </a:ext>
            </a:extLst>
          </p:cNvPr>
          <p:cNvSpPr>
            <a:spLocks noGrp="1"/>
          </p:cNvSpPr>
          <p:nvPr/>
        </p:nvSpPr>
        <p:spPr>
          <a:xfrm>
            <a:off x="4160520" y="4133160"/>
            <a:ext cx="7149960" cy="74916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3" name="CustomShape 25">
            <a:extLst>
              <a:ext uri="{FF2B5EF4-FFF2-40B4-BE49-F238E27FC236}">
                <a16:creationId xmlns:a16="http://schemas.microsoft.com/office/drawing/2014/main" id="{52519A9F-B100-497C-BE0F-E0F3A12E982E}"/>
              </a:ext>
            </a:extLst>
          </p:cNvPr>
          <p:cNvSpPr>
            <a:spLocks noGrp="1"/>
          </p:cNvSpPr>
          <p:nvPr/>
        </p:nvSpPr>
        <p:spPr>
          <a:xfrm>
            <a:off x="4251960" y="4162320"/>
            <a:ext cx="696708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4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UGV Egocentric 导航</a:t>
            </a:r>
          </a:p>
        </p:txBody>
      </p:sp>
      <p:sp>
        <p:nvSpPr>
          <p:cNvPr id="74" name="CustomShape 26">
            <a:extLst>
              <a:ext uri="{FF2B5EF4-FFF2-40B4-BE49-F238E27FC236}">
                <a16:creationId xmlns:a16="http://schemas.microsoft.com/office/drawing/2014/main" id="{4E63135C-2DCC-4D21-8335-52EDC91C9FEF}"/>
              </a:ext>
            </a:extLst>
          </p:cNvPr>
          <p:cNvSpPr>
            <a:spLocks noGrp="1"/>
          </p:cNvSpPr>
          <p:nvPr/>
        </p:nvSpPr>
        <p:spPr>
          <a:xfrm>
            <a:off x="4251960" y="4511160"/>
            <a:ext cx="6967080" cy="30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20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t>DLIO → terrain/elevation → CMU planner</a:t>
            </a:r>
          </a:p>
        </p:txBody>
      </p:sp>
      <p:sp>
        <p:nvSpPr>
          <p:cNvPr id="75" name="Line 27">
            <a:extLst>
              <a:ext uri="{FF2B5EF4-FFF2-40B4-BE49-F238E27FC236}">
                <a16:creationId xmlns:a16="http://schemas.microsoft.com/office/drawing/2014/main" id="{B0467126-BD47-4487-8F4A-1839693DE332}"/>
              </a:ext>
            </a:extLst>
          </p:cNvPr>
          <p:cNvSpPr>
            <a:spLocks noGrp="1"/>
          </p:cNvSpPr>
          <p:nvPr/>
        </p:nvSpPr>
        <p:spPr>
          <a:xfrm>
            <a:off x="7735680" y="4882680"/>
            <a:ext cx="0" cy="201240"/>
          </a:xfrm>
          <a:prstGeom prst="line">
            <a:avLst/>
          </a:prstGeom>
          <a:ln w="28080"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6" name="CustomShape 28">
            <a:extLst>
              <a:ext uri="{FF2B5EF4-FFF2-40B4-BE49-F238E27FC236}">
                <a16:creationId xmlns:a16="http://schemas.microsoft.com/office/drawing/2014/main" id="{9BE579D3-78A4-4629-8CED-2D34F4821ABE}"/>
              </a:ext>
            </a:extLst>
          </p:cNvPr>
          <p:cNvSpPr>
            <a:spLocks noGrp="1"/>
          </p:cNvSpPr>
          <p:nvPr/>
        </p:nvSpPr>
        <p:spPr>
          <a:xfrm>
            <a:off x="4160520" y="5120640"/>
            <a:ext cx="7149960" cy="74916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55D99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7" name="CustomShape 29">
            <a:extLst>
              <a:ext uri="{FF2B5EF4-FFF2-40B4-BE49-F238E27FC236}">
                <a16:creationId xmlns:a16="http://schemas.microsoft.com/office/drawing/2014/main" id="{5C6711D6-F4F4-48B5-A526-83A303C8C2D9}"/>
              </a:ext>
            </a:extLst>
          </p:cNvPr>
          <p:cNvSpPr>
            <a:spLocks noGrp="1"/>
          </p:cNvSpPr>
          <p:nvPr/>
        </p:nvSpPr>
        <p:spPr>
          <a:xfrm>
            <a:off x="4251960" y="5149800"/>
            <a:ext cx="696708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4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UR5 / MTC 抓取闭环</a:t>
            </a:r>
          </a:p>
        </p:txBody>
      </p:sp>
      <p:sp>
        <p:nvSpPr>
          <p:cNvPr id="78" name="CustomShape 30">
            <a:extLst>
              <a:ext uri="{FF2B5EF4-FFF2-40B4-BE49-F238E27FC236}">
                <a16:creationId xmlns:a16="http://schemas.microsoft.com/office/drawing/2014/main" id="{6719EAAB-40D0-42FD-ACA3-EB2AFA03AEC6}"/>
              </a:ext>
            </a:extLst>
          </p:cNvPr>
          <p:cNvSpPr>
            <a:spLocks noGrp="1"/>
          </p:cNvSpPr>
          <p:nvPr/>
        </p:nvSpPr>
        <p:spPr>
          <a:xfrm>
            <a:off x="4251960" y="5498640"/>
            <a:ext cx="6967080" cy="30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20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t>grasp_tcp + /get_grasps + MoveIt MTC</a:t>
            </a:r>
          </a:p>
        </p:txBody>
      </p:sp>
      <p:sp>
        <p:nvSpPr>
          <p:cNvPr id="79" name="CustomShape 31">
            <a:extLst>
              <a:ext uri="{FF2B5EF4-FFF2-40B4-BE49-F238E27FC236}">
                <a16:creationId xmlns:a16="http://schemas.microsoft.com/office/drawing/2014/main" id="{8A568FC2-3A1B-4D1B-84F3-2F614A6E48C3}"/>
              </a:ext>
            </a:extLst>
          </p:cNvPr>
          <p:cNvSpPr>
            <a:spLocks noGrp="1"/>
          </p:cNvSpPr>
          <p:nvPr/>
        </p:nvSpPr>
        <p:spPr>
          <a:xfrm>
            <a:off x="4160520" y="5916240"/>
            <a:ext cx="7150320" cy="59400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0" name="CustomShape 32">
            <a:extLst>
              <a:ext uri="{FF2B5EF4-FFF2-40B4-BE49-F238E27FC236}">
                <a16:creationId xmlns:a16="http://schemas.microsoft.com/office/drawing/2014/main" id="{35D4B9B3-1E73-444A-B1E3-4FA8DC28AB5B}"/>
              </a:ext>
            </a:extLst>
          </p:cNvPr>
          <p:cNvSpPr>
            <a:spLocks noGrp="1"/>
          </p:cNvSpPr>
          <p:nvPr/>
        </p:nvSpPr>
        <p:spPr>
          <a:xfrm>
            <a:off x="4316040" y="5941440"/>
            <a:ext cx="683928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UGV 权威根系 odom｜PointCloud2/PCD｜terrain｜mine map</a:t>
            </a:r>
          </a:p>
        </p:txBody>
      </p:sp>
      <p:sp>
        <p:nvSpPr>
          <p:cNvPr id="81" name="CustomShape 33">
            <a:extLst>
              <a:ext uri="{FF2B5EF4-FFF2-40B4-BE49-F238E27FC236}">
                <a16:creationId xmlns:a16="http://schemas.microsoft.com/office/drawing/2014/main" id="{C413CC18-A244-464C-A414-BF1442C42051}"/>
              </a:ext>
            </a:extLst>
          </p:cNvPr>
          <p:cNvSpPr>
            <a:spLocks noGrp="1"/>
          </p:cNvSpPr>
          <p:nvPr/>
        </p:nvSpPr>
        <p:spPr>
          <a:xfrm>
            <a:off x="4316040" y="6197400"/>
            <a:ext cx="683928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 目标在 uav0/map_local｜固定锚定 TF → UGV odom</a:t>
            </a:r>
          </a:p>
        </p:txBody>
      </p:sp>
    </p:spTree>
    <p:extLst>
      <p:ext uri="{BB962C8B-B14F-4D97-AF65-F5344CB8AC3E}">
        <p14:creationId xmlns:p14="http://schemas.microsoft.com/office/powerpoint/2010/main" val="126750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DA0114ED-340D-4E54-BB66-5748762311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3" name="CustomShape 2">
            <a:extLst>
              <a:ext uri="{FF2B5EF4-FFF2-40B4-BE49-F238E27FC236}">
                <a16:creationId xmlns:a16="http://schemas.microsoft.com/office/drawing/2014/main" id="{B3E495C7-112A-4226-AC9C-D49E24C1B5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719406C5-D5D7-4D07-B333-7707431BEBF7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5" name="CustomShape 4">
            <a:extLst>
              <a:ext uri="{FF2B5EF4-FFF2-40B4-BE49-F238E27FC236}">
                <a16:creationId xmlns:a16="http://schemas.microsoft.com/office/drawing/2014/main" id="{40902775-17AF-4F23-8033-FB98610F4B2E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 EGO 局部规划与可选全局 A* 前端</a:t>
            </a:r>
          </a:p>
        </p:txBody>
      </p:sp>
      <p:sp>
        <p:nvSpPr>
          <p:cNvPr id="86" name="CustomShape 5">
            <a:extLst>
              <a:ext uri="{FF2B5EF4-FFF2-40B4-BE49-F238E27FC236}">
                <a16:creationId xmlns:a16="http://schemas.microsoft.com/office/drawing/2014/main" id="{77BD6FCD-2737-44B0-BEF0-4E5CCF4C0033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集成默认由 EGO 接收人工目标；低空独立实验可启用 A* 绕大体障碍</a:t>
            </a:r>
          </a:p>
        </p:txBody>
      </p:sp>
      <p:sp>
        <p:nvSpPr>
          <p:cNvPr id="87" name="CustomShape 6">
            <a:extLst>
              <a:ext uri="{FF2B5EF4-FFF2-40B4-BE49-F238E27FC236}">
                <a16:creationId xmlns:a16="http://schemas.microsoft.com/office/drawing/2014/main" id="{06DA2367-290B-4D41-BFCC-48DB4A744536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8" name="CustomShape 7">
            <a:extLst>
              <a:ext uri="{FF2B5EF4-FFF2-40B4-BE49-F238E27FC236}">
                <a16:creationId xmlns:a16="http://schemas.microsoft.com/office/drawing/2014/main" id="{5AAF54F0-A0F7-4790-9E46-89DDB281B5ED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pic>
        <p:nvPicPr>
          <p:cNvPr id="113" name="Picture 106"/>
          <p:cNvPicPr>
            <a:picLocks noChangeAspect="1"/>
          </p:cNvPicPr>
          <p:nvPr/>
        </p:nvPicPr>
        <p:blipFill>
          <a:blip r:embed="rId3"/>
          <a:srcRect t="753" b="753"/>
          <a:stretch/>
        </p:blipFill>
        <p:spPr>
          <a:xfrm>
            <a:off x="432000" y="898200"/>
            <a:ext cx="11301120" cy="471744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90" name="CustomShape 8">
            <a:extLst>
              <a:ext uri="{FF2B5EF4-FFF2-40B4-BE49-F238E27FC236}">
                <a16:creationId xmlns:a16="http://schemas.microsoft.com/office/drawing/2014/main" id="{49B878C1-A9B7-405D-A2BE-13FCF47137B2}"/>
              </a:ext>
            </a:extLst>
          </p:cNvPr>
          <p:cNvSpPr>
            <a:spLocks noGrp="1"/>
          </p:cNvSpPr>
          <p:nvPr/>
        </p:nvSpPr>
        <p:spPr>
          <a:xfrm>
            <a:off x="623160" y="5780520"/>
            <a:ext cx="10752480" cy="84060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1" name="CustomShape 9">
            <a:extLst>
              <a:ext uri="{FF2B5EF4-FFF2-40B4-BE49-F238E27FC236}">
                <a16:creationId xmlns:a16="http://schemas.microsoft.com/office/drawing/2014/main" id="{92734922-E921-40D6-A0AD-0DBDFB632844}"/>
              </a:ext>
            </a:extLst>
          </p:cNvPr>
          <p:cNvSpPr>
            <a:spLocks noGrp="1"/>
          </p:cNvSpPr>
          <p:nvPr/>
        </p:nvSpPr>
        <p:spPr>
          <a:xfrm>
            <a:off x="868680" y="5468040"/>
            <a:ext cx="1663560" cy="383400"/>
          </a:xfrm>
          <a:prstGeom prst="roundRect">
            <a:avLst>
              <a:gd name="adj" fmla="val 16667"/>
            </a:avLst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2" name="CustomShape 10">
            <a:extLst>
              <a:ext uri="{FF2B5EF4-FFF2-40B4-BE49-F238E27FC236}">
                <a16:creationId xmlns:a16="http://schemas.microsoft.com/office/drawing/2014/main" id="{D1E7AE2D-CE80-41C9-ABFE-64BE8D2614EC}"/>
              </a:ext>
            </a:extLst>
          </p:cNvPr>
          <p:cNvSpPr>
            <a:spLocks noGrp="1"/>
          </p:cNvSpPr>
          <p:nvPr/>
        </p:nvSpPr>
        <p:spPr>
          <a:xfrm>
            <a:off x="868680" y="5536440"/>
            <a:ext cx="1663560" cy="24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LiDAR 障碍栅格</a:t>
            </a:r>
          </a:p>
        </p:txBody>
      </p:sp>
      <p:sp>
        <p:nvSpPr>
          <p:cNvPr id="93" name="Line 11">
            <a:extLst>
              <a:ext uri="{FF2B5EF4-FFF2-40B4-BE49-F238E27FC236}">
                <a16:creationId xmlns:a16="http://schemas.microsoft.com/office/drawing/2014/main" id="{55DDD190-084C-48FC-BCE5-972D0631421E}"/>
              </a:ext>
            </a:extLst>
          </p:cNvPr>
          <p:cNvSpPr>
            <a:spLocks noGrp="1"/>
          </p:cNvSpPr>
          <p:nvPr/>
        </p:nvSpPr>
        <p:spPr>
          <a:xfrm>
            <a:off x="2532600" y="5659920"/>
            <a:ext cx="192240" cy="0"/>
          </a:xfrm>
          <a:prstGeom prst="line">
            <a:avLst/>
          </a:prstGeom>
          <a:ln w="2304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4" name="CustomShape 12">
            <a:extLst>
              <a:ext uri="{FF2B5EF4-FFF2-40B4-BE49-F238E27FC236}">
                <a16:creationId xmlns:a16="http://schemas.microsoft.com/office/drawing/2014/main" id="{4963D0CF-0A73-4565-9B67-13916A0E069D}"/>
              </a:ext>
            </a:extLst>
          </p:cNvPr>
          <p:cNvSpPr>
            <a:spLocks noGrp="1"/>
          </p:cNvSpPr>
          <p:nvPr/>
        </p:nvSpPr>
        <p:spPr>
          <a:xfrm>
            <a:off x="2816280" y="5468040"/>
            <a:ext cx="1416600" cy="383400"/>
          </a:xfrm>
          <a:prstGeom prst="roundRect">
            <a:avLst>
              <a:gd name="adj" fmla="val 16667"/>
            </a:avLst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5" name="CustomShape 13">
            <a:extLst>
              <a:ext uri="{FF2B5EF4-FFF2-40B4-BE49-F238E27FC236}">
                <a16:creationId xmlns:a16="http://schemas.microsoft.com/office/drawing/2014/main" id="{6065E9DF-6955-49E8-A3F4-0469F36E7C6B}"/>
              </a:ext>
            </a:extLst>
          </p:cNvPr>
          <p:cNvSpPr>
            <a:spLocks noGrp="1"/>
          </p:cNvSpPr>
          <p:nvPr/>
        </p:nvSpPr>
        <p:spPr>
          <a:xfrm>
            <a:off x="2816280" y="5536440"/>
            <a:ext cx="1416600" cy="24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可选全局 A*</a:t>
            </a:r>
          </a:p>
        </p:txBody>
      </p:sp>
      <p:sp>
        <p:nvSpPr>
          <p:cNvPr id="96" name="Line 14">
            <a:extLst>
              <a:ext uri="{FF2B5EF4-FFF2-40B4-BE49-F238E27FC236}">
                <a16:creationId xmlns:a16="http://schemas.microsoft.com/office/drawing/2014/main" id="{C6D5A5B9-C6BF-4702-8995-11238F024F4D}"/>
              </a:ext>
            </a:extLst>
          </p:cNvPr>
          <p:cNvSpPr>
            <a:spLocks noGrp="1"/>
          </p:cNvSpPr>
          <p:nvPr/>
        </p:nvSpPr>
        <p:spPr>
          <a:xfrm>
            <a:off x="4233600" y="5659920"/>
            <a:ext cx="201240" cy="0"/>
          </a:xfrm>
          <a:prstGeom prst="line">
            <a:avLst/>
          </a:prstGeom>
          <a:ln w="2304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7" name="CustomShape 15">
            <a:extLst>
              <a:ext uri="{FF2B5EF4-FFF2-40B4-BE49-F238E27FC236}">
                <a16:creationId xmlns:a16="http://schemas.microsoft.com/office/drawing/2014/main" id="{DABF99D9-7E1E-4D1B-8497-043C59F895C6}"/>
              </a:ext>
            </a:extLst>
          </p:cNvPr>
          <p:cNvSpPr>
            <a:spLocks noGrp="1"/>
          </p:cNvSpPr>
          <p:nvPr/>
        </p:nvSpPr>
        <p:spPr>
          <a:xfrm>
            <a:off x="4526280" y="5468040"/>
            <a:ext cx="1736640" cy="38340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8" name="CustomShape 16">
            <a:extLst>
              <a:ext uri="{FF2B5EF4-FFF2-40B4-BE49-F238E27FC236}">
                <a16:creationId xmlns:a16="http://schemas.microsoft.com/office/drawing/2014/main" id="{C3BA1CB2-DD0D-44EC-9EF1-DE5CA8409C5A}"/>
              </a:ext>
            </a:extLst>
          </p:cNvPr>
          <p:cNvSpPr>
            <a:spLocks noGrp="1"/>
          </p:cNvSpPr>
          <p:nvPr/>
        </p:nvSpPr>
        <p:spPr>
          <a:xfrm>
            <a:off x="4526280" y="5536440"/>
            <a:ext cx="1736640" cy="24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EGO 局部轨迹</a:t>
            </a:r>
          </a:p>
        </p:txBody>
      </p:sp>
      <p:sp>
        <p:nvSpPr>
          <p:cNvPr id="99" name="Line 17">
            <a:extLst>
              <a:ext uri="{FF2B5EF4-FFF2-40B4-BE49-F238E27FC236}">
                <a16:creationId xmlns:a16="http://schemas.microsoft.com/office/drawing/2014/main" id="{0CA1E9C9-6B2F-474B-9DC8-E1F389CE1BE8}"/>
              </a:ext>
            </a:extLst>
          </p:cNvPr>
          <p:cNvSpPr>
            <a:spLocks noGrp="1"/>
          </p:cNvSpPr>
          <p:nvPr/>
        </p:nvSpPr>
        <p:spPr>
          <a:xfrm>
            <a:off x="6263640" y="5659920"/>
            <a:ext cx="210240" cy="0"/>
          </a:xfrm>
          <a:prstGeom prst="line">
            <a:avLst/>
          </a:prstGeom>
          <a:ln w="2304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0" name="CustomShape 18">
            <a:extLst>
              <a:ext uri="{FF2B5EF4-FFF2-40B4-BE49-F238E27FC236}">
                <a16:creationId xmlns:a16="http://schemas.microsoft.com/office/drawing/2014/main" id="{D3B4B46A-05DE-4D1D-A6DB-A9C4D3B1997B}"/>
              </a:ext>
            </a:extLst>
          </p:cNvPr>
          <p:cNvSpPr>
            <a:spLocks noGrp="1"/>
          </p:cNvSpPr>
          <p:nvPr/>
        </p:nvSpPr>
        <p:spPr>
          <a:xfrm>
            <a:off x="6565320" y="5468040"/>
            <a:ext cx="1919520" cy="383400"/>
          </a:xfrm>
          <a:prstGeom prst="roundRect">
            <a:avLst>
              <a:gd name="adj" fmla="val 16667"/>
            </a:avLst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1" name="CustomShape 19">
            <a:extLst>
              <a:ext uri="{FF2B5EF4-FFF2-40B4-BE49-F238E27FC236}">
                <a16:creationId xmlns:a16="http://schemas.microsoft.com/office/drawing/2014/main" id="{EAF4C95C-CEAF-4979-9454-A9A3AAF886F8}"/>
              </a:ext>
            </a:extLst>
          </p:cNvPr>
          <p:cNvSpPr>
            <a:spLocks noGrp="1"/>
          </p:cNvSpPr>
          <p:nvPr/>
        </p:nvSpPr>
        <p:spPr>
          <a:xfrm>
            <a:off x="6565320" y="5536440"/>
            <a:ext cx="1919520" cy="24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/planning/pos_cmd</a:t>
            </a:r>
          </a:p>
        </p:txBody>
      </p:sp>
      <p:sp>
        <p:nvSpPr>
          <p:cNvPr id="102" name="Line 20">
            <a:extLst>
              <a:ext uri="{FF2B5EF4-FFF2-40B4-BE49-F238E27FC236}">
                <a16:creationId xmlns:a16="http://schemas.microsoft.com/office/drawing/2014/main" id="{834036CA-927F-4E0E-9767-DDC53947BD70}"/>
              </a:ext>
            </a:extLst>
          </p:cNvPr>
          <p:cNvSpPr>
            <a:spLocks noGrp="1"/>
          </p:cNvSpPr>
          <p:nvPr/>
        </p:nvSpPr>
        <p:spPr>
          <a:xfrm>
            <a:off x="8485560" y="5659920"/>
            <a:ext cx="237600" cy="0"/>
          </a:xfrm>
          <a:prstGeom prst="line">
            <a:avLst/>
          </a:prstGeom>
          <a:ln w="2304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3" name="CustomShape 21">
            <a:extLst>
              <a:ext uri="{FF2B5EF4-FFF2-40B4-BE49-F238E27FC236}">
                <a16:creationId xmlns:a16="http://schemas.microsoft.com/office/drawing/2014/main" id="{340EE01B-DC63-4444-9882-43122DB314B1}"/>
              </a:ext>
            </a:extLst>
          </p:cNvPr>
          <p:cNvSpPr>
            <a:spLocks noGrp="1"/>
          </p:cNvSpPr>
          <p:nvPr/>
        </p:nvSpPr>
        <p:spPr>
          <a:xfrm>
            <a:off x="8814960" y="5468040"/>
            <a:ext cx="1846440" cy="383400"/>
          </a:xfrm>
          <a:prstGeom prst="roundRect">
            <a:avLst>
              <a:gd name="adj" fmla="val 16667"/>
            </a:avLst>
          </a:prstGeom>
          <a:solidFill>
            <a:srgbClr val="55D99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4" name="CustomShape 22">
            <a:extLst>
              <a:ext uri="{FF2B5EF4-FFF2-40B4-BE49-F238E27FC236}">
                <a16:creationId xmlns:a16="http://schemas.microsoft.com/office/drawing/2014/main" id="{0E38DD45-F3E4-4075-8C1A-C356E72C4811}"/>
              </a:ext>
            </a:extLst>
          </p:cNvPr>
          <p:cNvSpPr>
            <a:spLocks noGrp="1"/>
          </p:cNvSpPr>
          <p:nvPr/>
        </p:nvSpPr>
        <p:spPr>
          <a:xfrm>
            <a:off x="8814960" y="5536440"/>
            <a:ext cx="1846440" cy="24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PX4 OFFBOARD</a:t>
            </a:r>
          </a:p>
        </p:txBody>
      </p:sp>
    </p:spTree>
    <p:extLst>
      <p:ext uri="{BB962C8B-B14F-4D97-AF65-F5344CB8AC3E}">
        <p14:creationId xmlns:p14="http://schemas.microsoft.com/office/powerpoint/2010/main" val="211178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>
            <a:extLst>
              <a:ext uri="{FF2B5EF4-FFF2-40B4-BE49-F238E27FC236}">
                <a16:creationId xmlns:a16="http://schemas.microsoft.com/office/drawing/2014/main" id="{120169F6-27CD-46A0-A3D3-20F72D4FBC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6" name="CustomShape 2">
            <a:extLst>
              <a:ext uri="{FF2B5EF4-FFF2-40B4-BE49-F238E27FC236}">
                <a16:creationId xmlns:a16="http://schemas.microsoft.com/office/drawing/2014/main" id="{0424DC4A-9AAE-4908-900B-45F3339748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7" name="CustomShape 3">
            <a:extLst>
              <a:ext uri="{FF2B5EF4-FFF2-40B4-BE49-F238E27FC236}">
                <a16:creationId xmlns:a16="http://schemas.microsoft.com/office/drawing/2014/main" id="{B9980ADE-541D-4C97-8DBA-FD70C44477B9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08" name="CustomShape 4">
            <a:extLst>
              <a:ext uri="{FF2B5EF4-FFF2-40B4-BE49-F238E27FC236}">
                <a16:creationId xmlns:a16="http://schemas.microsoft.com/office/drawing/2014/main" id="{A4FD0A2E-8FEE-4C54-A310-AE1960FF1FFB}"/>
              </a:ext>
            </a:extLst>
          </p:cNvPr>
          <p:cNvSpPr>
            <a:spLocks noGrp="1"/>
          </p:cNvSpPr>
          <p:nvPr/>
        </p:nvSpPr>
        <p:spPr>
          <a:xfrm>
            <a:off x="960120" y="148112"/>
            <a:ext cx="10697760" cy="4896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PLAN A:</a:t>
            </a:r>
            <a:r>
              <a:rPr sz="27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真实场景下 UAV </a:t>
            </a:r>
            <a:r>
              <a:rPr sz="2700" b="1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自主定位、建图与公共坐标对齐</a:t>
            </a:r>
            <a:endParaRPr sz="2700" b="1" dirty="0">
              <a:solidFill>
                <a:srgbClr val="ECF7F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CustomShape 5">
            <a:extLst>
              <a:ext uri="{FF2B5EF4-FFF2-40B4-BE49-F238E27FC236}">
                <a16:creationId xmlns:a16="http://schemas.microsoft.com/office/drawing/2014/main" id="{012AAB7D-3A2B-4CE2-8DEA-10CF577CA602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FAST-LIO2 提供局部位姿；RTK/INS 或地图配准计算 map_enu → lio_odom</a:t>
            </a:r>
          </a:p>
        </p:txBody>
      </p:sp>
      <p:sp>
        <p:nvSpPr>
          <p:cNvPr id="110" name="CustomShape 6">
            <a:extLst>
              <a:ext uri="{FF2B5EF4-FFF2-40B4-BE49-F238E27FC236}">
                <a16:creationId xmlns:a16="http://schemas.microsoft.com/office/drawing/2014/main" id="{BC7E1F0E-D839-4A0D-9359-0E1502A1C735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1" name="CustomShape 7">
            <a:extLst>
              <a:ext uri="{FF2B5EF4-FFF2-40B4-BE49-F238E27FC236}">
                <a16:creationId xmlns:a16="http://schemas.microsoft.com/office/drawing/2014/main" id="{A127B1CE-2667-434D-B364-3503518EF6C4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sp>
        <p:nvSpPr>
          <p:cNvPr id="112" name="CustomShape 8">
            <a:extLst>
              <a:ext uri="{FF2B5EF4-FFF2-40B4-BE49-F238E27FC236}">
                <a16:creationId xmlns:a16="http://schemas.microsoft.com/office/drawing/2014/main" id="{C058D69F-F371-4CE8-995F-E063BBFD5B91}"/>
              </a:ext>
            </a:extLst>
          </p:cNvPr>
          <p:cNvSpPr>
            <a:spLocks noGrp="1"/>
          </p:cNvSpPr>
          <p:nvPr/>
        </p:nvSpPr>
        <p:spPr>
          <a:xfrm>
            <a:off x="438840" y="1042560"/>
            <a:ext cx="7900200" cy="132552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3" name="CustomShape 9">
            <a:extLst>
              <a:ext uri="{FF2B5EF4-FFF2-40B4-BE49-F238E27FC236}">
                <a16:creationId xmlns:a16="http://schemas.microsoft.com/office/drawing/2014/main" id="{F8CAB929-423D-4CB3-A317-42E1F7C9DFCC}"/>
              </a:ext>
            </a:extLst>
          </p:cNvPr>
          <p:cNvSpPr>
            <a:spLocks noGrp="1"/>
          </p:cNvSpPr>
          <p:nvPr/>
        </p:nvSpPr>
        <p:spPr>
          <a:xfrm>
            <a:off x="621720" y="11613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4" name="CustomShape 10">
            <a:extLst>
              <a:ext uri="{FF2B5EF4-FFF2-40B4-BE49-F238E27FC236}">
                <a16:creationId xmlns:a16="http://schemas.microsoft.com/office/drawing/2014/main" id="{91A5C866-EAF2-4BFC-92FE-65976DC7C6B9}"/>
              </a:ext>
            </a:extLst>
          </p:cNvPr>
          <p:cNvSpPr>
            <a:spLocks noGrp="1"/>
          </p:cNvSpPr>
          <p:nvPr/>
        </p:nvSpPr>
        <p:spPr>
          <a:xfrm>
            <a:off x="621720" y="1185480"/>
            <a:ext cx="117000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局部定位链</a:t>
            </a:r>
          </a:p>
        </p:txBody>
      </p:sp>
      <p:sp>
        <p:nvSpPr>
          <p:cNvPr id="115" name="Line 11">
            <a:extLst>
              <a:ext uri="{FF2B5EF4-FFF2-40B4-BE49-F238E27FC236}">
                <a16:creationId xmlns:a16="http://schemas.microsoft.com/office/drawing/2014/main" id="{BB1B0EE5-486B-45CF-9C24-59C7E37D7551}"/>
              </a:ext>
            </a:extLst>
          </p:cNvPr>
          <p:cNvSpPr>
            <a:spLocks noGrp="1"/>
          </p:cNvSpPr>
          <p:nvPr/>
        </p:nvSpPr>
        <p:spPr>
          <a:xfrm>
            <a:off x="1700640" y="1883520"/>
            <a:ext cx="146160" cy="0"/>
          </a:xfrm>
          <a:prstGeom prst="line">
            <a:avLst/>
          </a:prstGeom>
          <a:ln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6" name="Line 12">
            <a:extLst>
              <a:ext uri="{FF2B5EF4-FFF2-40B4-BE49-F238E27FC236}">
                <a16:creationId xmlns:a16="http://schemas.microsoft.com/office/drawing/2014/main" id="{DC5C8620-A72E-4245-9BE0-C2C663A3BE88}"/>
              </a:ext>
            </a:extLst>
          </p:cNvPr>
          <p:cNvSpPr>
            <a:spLocks noGrp="1"/>
          </p:cNvSpPr>
          <p:nvPr/>
        </p:nvSpPr>
        <p:spPr>
          <a:xfrm>
            <a:off x="3227760" y="1883520"/>
            <a:ext cx="146160" cy="0"/>
          </a:xfrm>
          <a:prstGeom prst="line">
            <a:avLst/>
          </a:prstGeom>
          <a:ln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7" name="Line 13">
            <a:extLst>
              <a:ext uri="{FF2B5EF4-FFF2-40B4-BE49-F238E27FC236}">
                <a16:creationId xmlns:a16="http://schemas.microsoft.com/office/drawing/2014/main" id="{3214FD30-66A3-4A6D-8E36-1C40E6CB0C58}"/>
              </a:ext>
            </a:extLst>
          </p:cNvPr>
          <p:cNvSpPr>
            <a:spLocks noGrp="1"/>
          </p:cNvSpPr>
          <p:nvPr/>
        </p:nvSpPr>
        <p:spPr>
          <a:xfrm>
            <a:off x="4599360" y="1883520"/>
            <a:ext cx="146160" cy="0"/>
          </a:xfrm>
          <a:prstGeom prst="line">
            <a:avLst/>
          </a:prstGeom>
          <a:ln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8" name="Line 14">
            <a:extLst>
              <a:ext uri="{FF2B5EF4-FFF2-40B4-BE49-F238E27FC236}">
                <a16:creationId xmlns:a16="http://schemas.microsoft.com/office/drawing/2014/main" id="{F4530018-6B38-4133-B25E-31EFAA5C7F3A}"/>
              </a:ext>
            </a:extLst>
          </p:cNvPr>
          <p:cNvSpPr>
            <a:spLocks noGrp="1"/>
          </p:cNvSpPr>
          <p:nvPr/>
        </p:nvSpPr>
        <p:spPr>
          <a:xfrm>
            <a:off x="6336720" y="1883520"/>
            <a:ext cx="146160" cy="0"/>
          </a:xfrm>
          <a:prstGeom prst="line">
            <a:avLst/>
          </a:prstGeom>
          <a:ln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9" name="CustomShape 15">
            <a:extLst>
              <a:ext uri="{FF2B5EF4-FFF2-40B4-BE49-F238E27FC236}">
                <a16:creationId xmlns:a16="http://schemas.microsoft.com/office/drawing/2014/main" id="{ACDEA261-5D03-4460-A2EC-2509B37F0493}"/>
              </a:ext>
            </a:extLst>
          </p:cNvPr>
          <p:cNvSpPr>
            <a:spLocks noGrp="1"/>
          </p:cNvSpPr>
          <p:nvPr/>
        </p:nvSpPr>
        <p:spPr>
          <a:xfrm>
            <a:off x="621720" y="1572840"/>
            <a:ext cx="1078560" cy="6213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0" name="CustomShape 16">
            <a:extLst>
              <a:ext uri="{FF2B5EF4-FFF2-40B4-BE49-F238E27FC236}">
                <a16:creationId xmlns:a16="http://schemas.microsoft.com/office/drawing/2014/main" id="{6BDF5D4D-F853-4C43-AD05-DE9891128A1F}"/>
              </a:ext>
            </a:extLst>
          </p:cNvPr>
          <p:cNvSpPr>
            <a:spLocks noGrp="1"/>
          </p:cNvSpPr>
          <p:nvPr/>
        </p:nvSpPr>
        <p:spPr>
          <a:xfrm>
            <a:off x="621720" y="1572840"/>
            <a:ext cx="45360" cy="6213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1" name="CustomShape 17">
            <a:extLst>
              <a:ext uri="{FF2B5EF4-FFF2-40B4-BE49-F238E27FC236}">
                <a16:creationId xmlns:a16="http://schemas.microsoft.com/office/drawing/2014/main" id="{A9D1D3D2-9F72-485F-A455-F219139315FB}"/>
              </a:ext>
            </a:extLst>
          </p:cNvPr>
          <p:cNvSpPr>
            <a:spLocks noGrp="1"/>
          </p:cNvSpPr>
          <p:nvPr/>
        </p:nvSpPr>
        <p:spPr>
          <a:xfrm>
            <a:off x="694800" y="1640880"/>
            <a:ext cx="950760" cy="48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3D LiDAR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+ IMU</a:t>
            </a:r>
          </a:p>
        </p:txBody>
      </p:sp>
      <p:sp>
        <p:nvSpPr>
          <p:cNvPr id="122" name="CustomShape 18">
            <a:extLst>
              <a:ext uri="{FF2B5EF4-FFF2-40B4-BE49-F238E27FC236}">
                <a16:creationId xmlns:a16="http://schemas.microsoft.com/office/drawing/2014/main" id="{23E0E97A-AB75-4262-9005-19E98DE73DEC}"/>
              </a:ext>
            </a:extLst>
          </p:cNvPr>
          <p:cNvSpPr>
            <a:spLocks noGrp="1"/>
          </p:cNvSpPr>
          <p:nvPr/>
        </p:nvSpPr>
        <p:spPr>
          <a:xfrm>
            <a:off x="1901880" y="1572840"/>
            <a:ext cx="1325520" cy="6213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9">
            <a:extLst>
              <a:ext uri="{FF2B5EF4-FFF2-40B4-BE49-F238E27FC236}">
                <a16:creationId xmlns:a16="http://schemas.microsoft.com/office/drawing/2014/main" id="{533DB796-A6A6-4253-B6B3-392AFFE0C01F}"/>
              </a:ext>
            </a:extLst>
          </p:cNvPr>
          <p:cNvSpPr>
            <a:spLocks noGrp="1"/>
          </p:cNvSpPr>
          <p:nvPr/>
        </p:nvSpPr>
        <p:spPr>
          <a:xfrm>
            <a:off x="1901880" y="1572840"/>
            <a:ext cx="45360" cy="6213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4" name="CustomShape 20">
            <a:extLst>
              <a:ext uri="{FF2B5EF4-FFF2-40B4-BE49-F238E27FC236}">
                <a16:creationId xmlns:a16="http://schemas.microsoft.com/office/drawing/2014/main" id="{020BBC47-7433-45A9-BC80-D154CE7D427A}"/>
              </a:ext>
            </a:extLst>
          </p:cNvPr>
          <p:cNvSpPr>
            <a:spLocks noGrp="1"/>
          </p:cNvSpPr>
          <p:nvPr/>
        </p:nvSpPr>
        <p:spPr>
          <a:xfrm>
            <a:off x="1974960" y="1640880"/>
            <a:ext cx="1197360" cy="48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时间同步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与外参标定</a:t>
            </a:r>
          </a:p>
        </p:txBody>
      </p:sp>
      <p:sp>
        <p:nvSpPr>
          <p:cNvPr id="125" name="CustomShape 21">
            <a:extLst>
              <a:ext uri="{FF2B5EF4-FFF2-40B4-BE49-F238E27FC236}">
                <a16:creationId xmlns:a16="http://schemas.microsoft.com/office/drawing/2014/main" id="{5072DE8A-8C68-4AE1-B060-24F2C1515EA6}"/>
              </a:ext>
            </a:extLst>
          </p:cNvPr>
          <p:cNvSpPr>
            <a:spLocks noGrp="1"/>
          </p:cNvSpPr>
          <p:nvPr/>
        </p:nvSpPr>
        <p:spPr>
          <a:xfrm>
            <a:off x="3429000" y="1572840"/>
            <a:ext cx="1170000" cy="6213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6" name="CustomShape 22">
            <a:extLst>
              <a:ext uri="{FF2B5EF4-FFF2-40B4-BE49-F238E27FC236}">
                <a16:creationId xmlns:a16="http://schemas.microsoft.com/office/drawing/2014/main" id="{A5984185-C536-4A33-A9AF-16877CC010F3}"/>
              </a:ext>
            </a:extLst>
          </p:cNvPr>
          <p:cNvSpPr>
            <a:spLocks noGrp="1"/>
          </p:cNvSpPr>
          <p:nvPr/>
        </p:nvSpPr>
        <p:spPr>
          <a:xfrm>
            <a:off x="3429000" y="1572840"/>
            <a:ext cx="45360" cy="6213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7" name="CustomShape 23">
            <a:extLst>
              <a:ext uri="{FF2B5EF4-FFF2-40B4-BE49-F238E27FC236}">
                <a16:creationId xmlns:a16="http://schemas.microsoft.com/office/drawing/2014/main" id="{B8533E13-C59E-42FE-B6DF-C70D0948B670}"/>
              </a:ext>
            </a:extLst>
          </p:cNvPr>
          <p:cNvSpPr>
            <a:spLocks noGrp="1"/>
          </p:cNvSpPr>
          <p:nvPr/>
        </p:nvSpPr>
        <p:spPr>
          <a:xfrm>
            <a:off x="3502080" y="1762560"/>
            <a:ext cx="10422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FAST-LIO2</a:t>
            </a:r>
          </a:p>
        </p:txBody>
      </p:sp>
      <p:sp>
        <p:nvSpPr>
          <p:cNvPr id="128" name="CustomShape 24">
            <a:extLst>
              <a:ext uri="{FF2B5EF4-FFF2-40B4-BE49-F238E27FC236}">
                <a16:creationId xmlns:a16="http://schemas.microsoft.com/office/drawing/2014/main" id="{D0A2249B-F0A4-4C27-8CDC-BEFAE9239A67}"/>
              </a:ext>
            </a:extLst>
          </p:cNvPr>
          <p:cNvSpPr>
            <a:spLocks noGrp="1"/>
          </p:cNvSpPr>
          <p:nvPr/>
        </p:nvSpPr>
        <p:spPr>
          <a:xfrm>
            <a:off x="4800600" y="1572840"/>
            <a:ext cx="1535760" cy="6213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9" name="CustomShape 25">
            <a:extLst>
              <a:ext uri="{FF2B5EF4-FFF2-40B4-BE49-F238E27FC236}">
                <a16:creationId xmlns:a16="http://schemas.microsoft.com/office/drawing/2014/main" id="{46B49CF0-3EF8-436B-8452-FA8E9C5C7A40}"/>
              </a:ext>
            </a:extLst>
          </p:cNvPr>
          <p:cNvSpPr>
            <a:spLocks noGrp="1"/>
          </p:cNvSpPr>
          <p:nvPr/>
        </p:nvSpPr>
        <p:spPr>
          <a:xfrm>
            <a:off x="4800600" y="1572840"/>
            <a:ext cx="45360" cy="6213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0" name="CustomShape 26">
            <a:extLst>
              <a:ext uri="{FF2B5EF4-FFF2-40B4-BE49-F238E27FC236}">
                <a16:creationId xmlns:a16="http://schemas.microsoft.com/office/drawing/2014/main" id="{E5C5F151-6070-44E5-8605-DEC25FA33785}"/>
              </a:ext>
            </a:extLst>
          </p:cNvPr>
          <p:cNvSpPr>
            <a:spLocks noGrp="1"/>
          </p:cNvSpPr>
          <p:nvPr/>
        </p:nvSpPr>
        <p:spPr>
          <a:xfrm>
            <a:off x="4873680" y="1640880"/>
            <a:ext cx="1407960" cy="48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lio_odom →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uav_base_link</a:t>
            </a:r>
          </a:p>
        </p:txBody>
      </p:sp>
      <p:sp>
        <p:nvSpPr>
          <p:cNvPr id="131" name="CustomShape 27">
            <a:extLst>
              <a:ext uri="{FF2B5EF4-FFF2-40B4-BE49-F238E27FC236}">
                <a16:creationId xmlns:a16="http://schemas.microsoft.com/office/drawing/2014/main" id="{A4870FFD-798D-4D68-80E0-0A6A3AF6C1B3}"/>
              </a:ext>
            </a:extLst>
          </p:cNvPr>
          <p:cNvSpPr>
            <a:spLocks noGrp="1"/>
          </p:cNvSpPr>
          <p:nvPr/>
        </p:nvSpPr>
        <p:spPr>
          <a:xfrm>
            <a:off x="6537960" y="1572840"/>
            <a:ext cx="1554120" cy="6213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2" name="CustomShape 28">
            <a:extLst>
              <a:ext uri="{FF2B5EF4-FFF2-40B4-BE49-F238E27FC236}">
                <a16:creationId xmlns:a16="http://schemas.microsoft.com/office/drawing/2014/main" id="{6D051A8A-A4B5-4E3B-B016-5967331E4C5A}"/>
              </a:ext>
            </a:extLst>
          </p:cNvPr>
          <p:cNvSpPr>
            <a:spLocks noGrp="1"/>
          </p:cNvSpPr>
          <p:nvPr/>
        </p:nvSpPr>
        <p:spPr>
          <a:xfrm>
            <a:off x="6537960" y="1572840"/>
            <a:ext cx="45360" cy="6213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3" name="CustomShape 29">
            <a:extLst>
              <a:ext uri="{FF2B5EF4-FFF2-40B4-BE49-F238E27FC236}">
                <a16:creationId xmlns:a16="http://schemas.microsoft.com/office/drawing/2014/main" id="{470D38C3-55B4-43C3-BC3A-B42EF09AD3EF}"/>
              </a:ext>
            </a:extLst>
          </p:cNvPr>
          <p:cNvSpPr>
            <a:spLocks noGrp="1"/>
          </p:cNvSpPr>
          <p:nvPr/>
        </p:nvSpPr>
        <p:spPr>
          <a:xfrm>
            <a:off x="6611040" y="1640880"/>
            <a:ext cx="1425960" cy="48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高频局部位姿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+ 注册点云</a:t>
            </a:r>
          </a:p>
        </p:txBody>
      </p:sp>
      <p:sp>
        <p:nvSpPr>
          <p:cNvPr id="134" name="CustomShape 30">
            <a:extLst>
              <a:ext uri="{FF2B5EF4-FFF2-40B4-BE49-F238E27FC236}">
                <a16:creationId xmlns:a16="http://schemas.microsoft.com/office/drawing/2014/main" id="{2415DFD6-8C25-41C8-9A57-A9BC0CB79092}"/>
              </a:ext>
            </a:extLst>
          </p:cNvPr>
          <p:cNvSpPr>
            <a:spLocks noGrp="1"/>
          </p:cNvSpPr>
          <p:nvPr/>
        </p:nvSpPr>
        <p:spPr>
          <a:xfrm>
            <a:off x="438840" y="2523600"/>
            <a:ext cx="7900200" cy="130716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5" name="CustomShape 31">
            <a:extLst>
              <a:ext uri="{FF2B5EF4-FFF2-40B4-BE49-F238E27FC236}">
                <a16:creationId xmlns:a16="http://schemas.microsoft.com/office/drawing/2014/main" id="{C8E4607E-FBB6-45A2-9A52-6BE067FC13E8}"/>
              </a:ext>
            </a:extLst>
          </p:cNvPr>
          <p:cNvSpPr>
            <a:spLocks noGrp="1"/>
          </p:cNvSpPr>
          <p:nvPr/>
        </p:nvSpPr>
        <p:spPr>
          <a:xfrm>
            <a:off x="621720" y="26427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6" name="CustomShape 32">
            <a:extLst>
              <a:ext uri="{FF2B5EF4-FFF2-40B4-BE49-F238E27FC236}">
                <a16:creationId xmlns:a16="http://schemas.microsoft.com/office/drawing/2014/main" id="{E840E671-1DEE-4D5F-B90B-77325991A491}"/>
              </a:ext>
            </a:extLst>
          </p:cNvPr>
          <p:cNvSpPr>
            <a:spLocks noGrp="1"/>
          </p:cNvSpPr>
          <p:nvPr/>
        </p:nvSpPr>
        <p:spPr>
          <a:xfrm>
            <a:off x="621720" y="2666880"/>
            <a:ext cx="117000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全局定位链</a:t>
            </a:r>
          </a:p>
        </p:txBody>
      </p:sp>
      <p:sp>
        <p:nvSpPr>
          <p:cNvPr id="137" name="Line 33">
            <a:extLst>
              <a:ext uri="{FF2B5EF4-FFF2-40B4-BE49-F238E27FC236}">
                <a16:creationId xmlns:a16="http://schemas.microsoft.com/office/drawing/2014/main" id="{DDCA3A23-0597-4BEB-A21B-1827B756F6DE}"/>
              </a:ext>
            </a:extLst>
          </p:cNvPr>
          <p:cNvSpPr>
            <a:spLocks noGrp="1"/>
          </p:cNvSpPr>
          <p:nvPr/>
        </p:nvSpPr>
        <p:spPr>
          <a:xfrm>
            <a:off x="4526280" y="3246120"/>
            <a:ext cx="356400" cy="0"/>
          </a:xfrm>
          <a:prstGeom prst="line">
            <a:avLst/>
          </a:prstGeom>
          <a:ln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8" name="CustomShape 34">
            <a:extLst>
              <a:ext uri="{FF2B5EF4-FFF2-40B4-BE49-F238E27FC236}">
                <a16:creationId xmlns:a16="http://schemas.microsoft.com/office/drawing/2014/main" id="{C4942DEA-4B58-4BFD-A29A-173753FA1C3F}"/>
              </a:ext>
            </a:extLst>
          </p:cNvPr>
          <p:cNvSpPr>
            <a:spLocks noGrp="1"/>
          </p:cNvSpPr>
          <p:nvPr/>
        </p:nvSpPr>
        <p:spPr>
          <a:xfrm>
            <a:off x="621720" y="2999160"/>
            <a:ext cx="3904200" cy="65808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9" name="CustomShape 35">
            <a:extLst>
              <a:ext uri="{FF2B5EF4-FFF2-40B4-BE49-F238E27FC236}">
                <a16:creationId xmlns:a16="http://schemas.microsoft.com/office/drawing/2014/main" id="{53534401-5EC5-48E8-9D2D-6883B73978BF}"/>
              </a:ext>
            </a:extLst>
          </p:cNvPr>
          <p:cNvSpPr>
            <a:spLocks noGrp="1"/>
          </p:cNvSpPr>
          <p:nvPr/>
        </p:nvSpPr>
        <p:spPr>
          <a:xfrm>
            <a:off x="621720" y="2999160"/>
            <a:ext cx="45360" cy="65808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40" name="CustomShape 36">
            <a:extLst>
              <a:ext uri="{FF2B5EF4-FFF2-40B4-BE49-F238E27FC236}">
                <a16:creationId xmlns:a16="http://schemas.microsoft.com/office/drawing/2014/main" id="{9A70C22B-219D-4FCC-9BAA-B249B9ADA6A8}"/>
              </a:ext>
            </a:extLst>
          </p:cNvPr>
          <p:cNvSpPr>
            <a:spLocks noGrp="1"/>
          </p:cNvSpPr>
          <p:nvPr/>
        </p:nvSpPr>
        <p:spPr>
          <a:xfrm>
            <a:off x="694800" y="2964600"/>
            <a:ext cx="3776040" cy="72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RTK-GNSS 位置 + 双天线 GNSS 航向 / GNSS-INS 航向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或：已知控制点 / 地图配准</a:t>
            </a:r>
          </a:p>
        </p:txBody>
      </p:sp>
      <p:sp>
        <p:nvSpPr>
          <p:cNvPr id="141" name="CustomShape 37">
            <a:extLst>
              <a:ext uri="{FF2B5EF4-FFF2-40B4-BE49-F238E27FC236}">
                <a16:creationId xmlns:a16="http://schemas.microsoft.com/office/drawing/2014/main" id="{895C0CBC-A5C6-4739-9A1F-F9640BF3B2A4}"/>
              </a:ext>
            </a:extLst>
          </p:cNvPr>
          <p:cNvSpPr>
            <a:spLocks noGrp="1"/>
          </p:cNvSpPr>
          <p:nvPr/>
        </p:nvSpPr>
        <p:spPr>
          <a:xfrm>
            <a:off x="4883040" y="2999160"/>
            <a:ext cx="3200040" cy="65808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42" name="CustomShape 38">
            <a:extLst>
              <a:ext uri="{FF2B5EF4-FFF2-40B4-BE49-F238E27FC236}">
                <a16:creationId xmlns:a16="http://schemas.microsoft.com/office/drawing/2014/main" id="{55D97915-5ED6-43E8-A83D-000E90A06C59}"/>
              </a:ext>
            </a:extLst>
          </p:cNvPr>
          <p:cNvSpPr>
            <a:spLocks noGrp="1"/>
          </p:cNvSpPr>
          <p:nvPr/>
        </p:nvSpPr>
        <p:spPr>
          <a:xfrm>
            <a:off x="4883040" y="2999160"/>
            <a:ext cx="45360" cy="658080"/>
          </a:xfrm>
          <a:prstGeom prst="rect">
            <a:avLst/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43" name="CustomShape 39">
            <a:extLst>
              <a:ext uri="{FF2B5EF4-FFF2-40B4-BE49-F238E27FC236}">
                <a16:creationId xmlns:a16="http://schemas.microsoft.com/office/drawing/2014/main" id="{952F7BF3-BA7F-4337-A6A2-0F68704D4518}"/>
              </a:ext>
            </a:extLst>
          </p:cNvPr>
          <p:cNvSpPr>
            <a:spLocks noGrp="1"/>
          </p:cNvSpPr>
          <p:nvPr/>
        </p:nvSpPr>
        <p:spPr>
          <a:xfrm>
            <a:off x="4956120" y="3085200"/>
            <a:ext cx="3071880" cy="48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获得绝对观测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map_enu → uav_base_link</a:t>
            </a:r>
          </a:p>
        </p:txBody>
      </p:sp>
      <p:sp>
        <p:nvSpPr>
          <p:cNvPr id="144" name="CustomShape 40">
            <a:extLst>
              <a:ext uri="{FF2B5EF4-FFF2-40B4-BE49-F238E27FC236}">
                <a16:creationId xmlns:a16="http://schemas.microsoft.com/office/drawing/2014/main" id="{365F5B11-D3B3-4C8C-939C-4C5EB992B869}"/>
              </a:ext>
            </a:extLst>
          </p:cNvPr>
          <p:cNvSpPr>
            <a:spLocks noGrp="1"/>
          </p:cNvSpPr>
          <p:nvPr/>
        </p:nvSpPr>
        <p:spPr>
          <a:xfrm>
            <a:off x="438840" y="3996000"/>
            <a:ext cx="7900200" cy="8226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45" name="CustomShape 41">
            <a:extLst>
              <a:ext uri="{FF2B5EF4-FFF2-40B4-BE49-F238E27FC236}">
                <a16:creationId xmlns:a16="http://schemas.microsoft.com/office/drawing/2014/main" id="{DF26AE7B-E2F9-40BA-8737-363660DCB772}"/>
              </a:ext>
            </a:extLst>
          </p:cNvPr>
          <p:cNvSpPr>
            <a:spLocks noGrp="1"/>
          </p:cNvSpPr>
          <p:nvPr/>
        </p:nvSpPr>
        <p:spPr>
          <a:xfrm>
            <a:off x="640080" y="4057200"/>
            <a:ext cx="1416960" cy="3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4F8CFF"/>
                </a:solidFill>
                <a:latin typeface="Noto Sans CJK SC"/>
                <a:ea typeface="Noto Sans CJK SC"/>
                <a:cs typeface="Noto Sans CJK SC"/>
              </a:rPr>
              <a:t>公共对齐计算</a:t>
            </a:r>
          </a:p>
        </p:txBody>
      </p:sp>
      <p:sp>
        <p:nvSpPr>
          <p:cNvPr id="146" name="CustomShape 42">
            <a:extLst>
              <a:ext uri="{FF2B5EF4-FFF2-40B4-BE49-F238E27FC236}">
                <a16:creationId xmlns:a16="http://schemas.microsoft.com/office/drawing/2014/main" id="{76D19528-E32C-4F4D-B20A-46913A63003B}"/>
              </a:ext>
            </a:extLst>
          </p:cNvPr>
          <p:cNvSpPr>
            <a:spLocks noGrp="1"/>
          </p:cNvSpPr>
          <p:nvPr/>
        </p:nvSpPr>
        <p:spPr>
          <a:xfrm>
            <a:off x="1719000" y="4007160"/>
            <a:ext cx="4224240" cy="416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8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T_map_lio = T_map_uav · inverse(T_lio_uav)</a:t>
            </a:r>
          </a:p>
        </p:txBody>
      </p:sp>
      <p:sp>
        <p:nvSpPr>
          <p:cNvPr id="147" name="CustomShape 43">
            <a:extLst>
              <a:ext uri="{FF2B5EF4-FFF2-40B4-BE49-F238E27FC236}">
                <a16:creationId xmlns:a16="http://schemas.microsoft.com/office/drawing/2014/main" id="{355F4ECF-DEA9-4D5D-8E52-6CF22AA3EC1A}"/>
              </a:ext>
            </a:extLst>
          </p:cNvPr>
          <p:cNvSpPr>
            <a:spLocks noGrp="1"/>
          </p:cNvSpPr>
          <p:nvPr/>
        </p:nvSpPr>
        <p:spPr>
          <a:xfrm>
            <a:off x="6053400" y="3885840"/>
            <a:ext cx="1938240" cy="659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25D5D0"/>
                </a:solidFill>
                <a:latin typeface="Noto Sans Mono CJK SC"/>
                <a:ea typeface="Noto Sans Mono CJK SC"/>
                <a:cs typeface="Noto Sans Mono CJK SC"/>
              </a:rPr>
              <a:t>发布 ROS TF</a:t>
            </a:r>
          </a:p>
          <a:p>
            <a:pPr algn="ctr">
              <a:lnSpc>
                <a:spcPct val="82000"/>
              </a:lnSpc>
              <a:buNone/>
            </a:pPr>
            <a:r>
              <a:rPr sz="1600" b="1">
                <a:solidFill>
                  <a:srgbClr val="25D5D0"/>
                </a:solidFill>
                <a:latin typeface="Noto Sans Mono CJK SC"/>
                <a:ea typeface="Noto Sans Mono CJK SC"/>
                <a:cs typeface="Noto Sans Mono CJK SC"/>
              </a:rPr>
              <a:t>map_enu → lio_odom</a:t>
            </a:r>
          </a:p>
        </p:txBody>
      </p:sp>
      <p:sp>
        <p:nvSpPr>
          <p:cNvPr id="148" name="CustomShape 44">
            <a:extLst>
              <a:ext uri="{FF2B5EF4-FFF2-40B4-BE49-F238E27FC236}">
                <a16:creationId xmlns:a16="http://schemas.microsoft.com/office/drawing/2014/main" id="{C255381A-7EA8-449A-8D33-B5425D872FF5}"/>
              </a:ext>
            </a:extLst>
          </p:cNvPr>
          <p:cNvSpPr>
            <a:spLocks noGrp="1"/>
          </p:cNvSpPr>
          <p:nvPr/>
        </p:nvSpPr>
        <p:spPr>
          <a:xfrm>
            <a:off x="1508760" y="4400640"/>
            <a:ext cx="644616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9CB4C1"/>
                </a:solidFill>
                <a:latin typeface="Noto Sans Mono CJK SC"/>
                <a:ea typeface="Noto Sans Mono CJK SC"/>
                <a:cs typeface="Noto Sans Mono CJK SC"/>
              </a:rPr>
              <a:t>UAV 公共位姿：T_map_uav = T_map_lio · T_lio_uav</a:t>
            </a:r>
          </a:p>
        </p:txBody>
      </p:sp>
      <p:sp>
        <p:nvSpPr>
          <p:cNvPr id="149" name="CustomShape 45">
            <a:extLst>
              <a:ext uri="{FF2B5EF4-FFF2-40B4-BE49-F238E27FC236}">
                <a16:creationId xmlns:a16="http://schemas.microsoft.com/office/drawing/2014/main" id="{5E8B90D8-E025-42AC-A5CA-E12D4F8896E1}"/>
              </a:ext>
            </a:extLst>
          </p:cNvPr>
          <p:cNvSpPr>
            <a:spLocks noGrp="1"/>
          </p:cNvSpPr>
          <p:nvPr/>
        </p:nvSpPr>
        <p:spPr>
          <a:xfrm>
            <a:off x="8522280" y="1042560"/>
            <a:ext cx="3218400" cy="377604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50" name="CustomShape 46">
            <a:extLst>
              <a:ext uri="{FF2B5EF4-FFF2-40B4-BE49-F238E27FC236}">
                <a16:creationId xmlns:a16="http://schemas.microsoft.com/office/drawing/2014/main" id="{C0A6ADD4-3D16-41F0-A313-4C57B36D1633}"/>
              </a:ext>
            </a:extLst>
          </p:cNvPr>
          <p:cNvSpPr>
            <a:spLocks noGrp="1"/>
          </p:cNvSpPr>
          <p:nvPr/>
        </p:nvSpPr>
        <p:spPr>
          <a:xfrm>
            <a:off x="8778240" y="1207440"/>
            <a:ext cx="2706120" cy="347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4F8CFF"/>
                </a:solidFill>
                <a:latin typeface="Noto Sans CJK SC"/>
                <a:ea typeface="Noto Sans CJK SC"/>
                <a:cs typeface="Noto Sans CJK SC"/>
              </a:rPr>
              <a:t>最终 TF 树</a:t>
            </a:r>
          </a:p>
        </p:txBody>
      </p:sp>
      <p:sp>
        <p:nvSpPr>
          <p:cNvPr id="151" name="CustomShape 47">
            <a:extLst>
              <a:ext uri="{FF2B5EF4-FFF2-40B4-BE49-F238E27FC236}">
                <a16:creationId xmlns:a16="http://schemas.microsoft.com/office/drawing/2014/main" id="{F83715A9-8385-418F-99F4-3D041E87F436}"/>
              </a:ext>
            </a:extLst>
          </p:cNvPr>
          <p:cNvSpPr>
            <a:spLocks noGrp="1"/>
          </p:cNvSpPr>
          <p:nvPr/>
        </p:nvSpPr>
        <p:spPr>
          <a:xfrm>
            <a:off x="8924400" y="1708200"/>
            <a:ext cx="2377080" cy="119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map_enu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↓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lio_odom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↓</a:t>
            </a:r>
          </a:p>
          <a:p>
            <a:pPr algn="ctr">
              <a:lnSpc>
                <a:spcPct val="82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uav_base_link</a:t>
            </a:r>
          </a:p>
        </p:txBody>
      </p:sp>
      <p:sp>
        <p:nvSpPr>
          <p:cNvPr id="152" name="CustomShape 48">
            <a:extLst>
              <a:ext uri="{FF2B5EF4-FFF2-40B4-BE49-F238E27FC236}">
                <a16:creationId xmlns:a16="http://schemas.microsoft.com/office/drawing/2014/main" id="{F369FF10-7BE8-44E4-80B9-62F25DFBDEBA}"/>
              </a:ext>
            </a:extLst>
          </p:cNvPr>
          <p:cNvSpPr>
            <a:spLocks noGrp="1"/>
          </p:cNvSpPr>
          <p:nvPr/>
        </p:nvSpPr>
        <p:spPr>
          <a:xfrm>
            <a:off x="8641080" y="3017520"/>
            <a:ext cx="2944080" cy="73116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53" name="CustomShape 49">
            <a:extLst>
              <a:ext uri="{FF2B5EF4-FFF2-40B4-BE49-F238E27FC236}">
                <a16:creationId xmlns:a16="http://schemas.microsoft.com/office/drawing/2014/main" id="{AAD1D12F-3392-44F4-8D98-638E1C14DE02}"/>
              </a:ext>
            </a:extLst>
          </p:cNvPr>
          <p:cNvSpPr>
            <a:spLocks noGrp="1"/>
          </p:cNvSpPr>
          <p:nvPr/>
        </p:nvSpPr>
        <p:spPr>
          <a:xfrm>
            <a:off x="8668440" y="3141000"/>
            <a:ext cx="2889000" cy="466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DejaVu Sans Condensed"/>
                <a:ea typeface="DejaVu Sans Condensed"/>
                <a:cs typeface="DejaVu Sans Condensed"/>
              </a:rPr>
              <a:t>lidar_link · imu_link</a:t>
            </a:r>
          </a:p>
          <a:p>
            <a:pPr algn="ctr">
              <a:lnSpc>
                <a:spcPct val="84000"/>
              </a:lnSpc>
              <a:buNone/>
            </a:pPr>
            <a:r>
              <a:rPr sz="1600" b="0">
                <a:solidFill>
                  <a:srgbClr val="ECF7FA"/>
                </a:solidFill>
                <a:latin typeface="DejaVu Sans Condensed"/>
                <a:ea typeface="DejaVu Sans Condensed"/>
                <a:cs typeface="DejaVu Sans Condensed"/>
              </a:rPr>
              <a:t>mine_camera_optical_frame</a:t>
            </a:r>
          </a:p>
        </p:txBody>
      </p:sp>
      <p:sp>
        <p:nvSpPr>
          <p:cNvPr id="154" name="CustomShape 50">
            <a:extLst>
              <a:ext uri="{FF2B5EF4-FFF2-40B4-BE49-F238E27FC236}">
                <a16:creationId xmlns:a16="http://schemas.microsoft.com/office/drawing/2014/main" id="{8F68F068-CBD3-4357-B0A8-EB366E9482DD}"/>
              </a:ext>
            </a:extLst>
          </p:cNvPr>
          <p:cNvSpPr>
            <a:spLocks noGrp="1"/>
          </p:cNvSpPr>
          <p:nvPr/>
        </p:nvSpPr>
        <p:spPr>
          <a:xfrm>
            <a:off x="8778240" y="3913560"/>
            <a:ext cx="2669760" cy="63972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55" name="CustomShape 51">
            <a:extLst>
              <a:ext uri="{FF2B5EF4-FFF2-40B4-BE49-F238E27FC236}">
                <a16:creationId xmlns:a16="http://schemas.microsoft.com/office/drawing/2014/main" id="{EB577569-B1B6-408B-B65F-107B79C53C89}"/>
              </a:ext>
            </a:extLst>
          </p:cNvPr>
          <p:cNvSpPr>
            <a:spLocks noGrp="1"/>
          </p:cNvSpPr>
          <p:nvPr/>
        </p:nvSpPr>
        <p:spPr>
          <a:xfrm>
            <a:off x="8888040" y="3880440"/>
            <a:ext cx="2450160" cy="68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25D5D0"/>
                </a:solidFill>
                <a:latin typeface="Noto Sans Mono CJK SC"/>
                <a:ea typeface="Noto Sans Mono CJK SC"/>
                <a:cs typeface="Noto Sans Mono CJK SC"/>
              </a:rPr>
              <a:t>T_map_uav</a:t>
            </a:r>
          </a:p>
          <a:p>
            <a:pPr algn="ctr">
              <a:lnSpc>
                <a:spcPct val="88000"/>
              </a:lnSpc>
              <a:buNone/>
            </a:pPr>
            <a:r>
              <a:rPr sz="1600" b="1">
                <a:solidFill>
                  <a:srgbClr val="25D5D0"/>
                </a:solidFill>
                <a:latin typeface="Noto Sans Mono CJK SC"/>
                <a:ea typeface="Noto Sans Mono CJK SC"/>
                <a:cs typeface="Noto Sans Mono CJK SC"/>
              </a:rPr>
              <a:t>= T_map_lio · T_lio_uav</a:t>
            </a:r>
          </a:p>
        </p:txBody>
      </p:sp>
      <p:sp>
        <p:nvSpPr>
          <p:cNvPr id="156" name="CustomShape 52">
            <a:extLst>
              <a:ext uri="{FF2B5EF4-FFF2-40B4-BE49-F238E27FC236}">
                <a16:creationId xmlns:a16="http://schemas.microsoft.com/office/drawing/2014/main" id="{CA0C5A56-6BEE-47AB-A3EA-9E52EF6BEAC4}"/>
              </a:ext>
            </a:extLst>
          </p:cNvPr>
          <p:cNvSpPr>
            <a:spLocks noGrp="1"/>
          </p:cNvSpPr>
          <p:nvPr/>
        </p:nvSpPr>
        <p:spPr>
          <a:xfrm>
            <a:off x="438840" y="5001840"/>
            <a:ext cx="11301480" cy="132552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57" name="CustomShape 53">
            <a:extLst>
              <a:ext uri="{FF2B5EF4-FFF2-40B4-BE49-F238E27FC236}">
                <a16:creationId xmlns:a16="http://schemas.microsoft.com/office/drawing/2014/main" id="{EAF466FE-F7F4-4C8F-94FB-101C2F6230D4}"/>
              </a:ext>
            </a:extLst>
          </p:cNvPr>
          <p:cNvSpPr>
            <a:spLocks noGrp="1"/>
          </p:cNvSpPr>
          <p:nvPr/>
        </p:nvSpPr>
        <p:spPr>
          <a:xfrm>
            <a:off x="658440" y="5166360"/>
            <a:ext cx="1188360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28B99D"/>
                </a:solidFill>
                <a:latin typeface="Noto Sans CJK SC"/>
                <a:ea typeface="Noto Sans CJK SC"/>
                <a:cs typeface="Noto Sans CJK SC"/>
              </a:rPr>
              <a:t>FAST-LIO2</a:t>
            </a:r>
          </a:p>
        </p:txBody>
      </p:sp>
      <p:sp>
        <p:nvSpPr>
          <p:cNvPr id="158" name="CustomShape 54">
            <a:extLst>
              <a:ext uri="{FF2B5EF4-FFF2-40B4-BE49-F238E27FC236}">
                <a16:creationId xmlns:a16="http://schemas.microsoft.com/office/drawing/2014/main" id="{21E16A03-D765-487C-87BA-1E87FFB3866F}"/>
              </a:ext>
            </a:extLst>
          </p:cNvPr>
          <p:cNvSpPr>
            <a:spLocks noGrp="1"/>
          </p:cNvSpPr>
          <p:nvPr/>
        </p:nvSpPr>
        <p:spPr>
          <a:xfrm>
            <a:off x="658440" y="5449680"/>
            <a:ext cx="3245760" cy="55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回答“UAV 相对 SLAM 起点移动了多少”</a:t>
            </a:r>
          </a:p>
        </p:txBody>
      </p:sp>
      <p:sp>
        <p:nvSpPr>
          <p:cNvPr id="159" name="CustomShape 55">
            <a:extLst>
              <a:ext uri="{FF2B5EF4-FFF2-40B4-BE49-F238E27FC236}">
                <a16:creationId xmlns:a16="http://schemas.microsoft.com/office/drawing/2014/main" id="{06756FF3-2FAC-4D53-9B1F-C2DF68CEE0A8}"/>
              </a:ext>
            </a:extLst>
          </p:cNvPr>
          <p:cNvSpPr>
            <a:spLocks noGrp="1"/>
          </p:cNvSpPr>
          <p:nvPr/>
        </p:nvSpPr>
        <p:spPr>
          <a:xfrm>
            <a:off x="4087440" y="5166360"/>
            <a:ext cx="1188360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全局对齐</a:t>
            </a:r>
          </a:p>
        </p:txBody>
      </p:sp>
      <p:sp>
        <p:nvSpPr>
          <p:cNvPr id="160" name="CustomShape 56">
            <a:extLst>
              <a:ext uri="{FF2B5EF4-FFF2-40B4-BE49-F238E27FC236}">
                <a16:creationId xmlns:a16="http://schemas.microsoft.com/office/drawing/2014/main" id="{113939CA-4F87-4035-A5AD-D3C867F06049}"/>
              </a:ext>
            </a:extLst>
          </p:cNvPr>
          <p:cNvSpPr>
            <a:spLocks noGrp="1"/>
          </p:cNvSpPr>
          <p:nvPr/>
        </p:nvSpPr>
        <p:spPr>
          <a:xfrm>
            <a:off x="4087440" y="5449680"/>
            <a:ext cx="3730320" cy="55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RTK/INS 或控制点确定局部 SLAM 地图在公共 ENU 中的位置和方向</a:t>
            </a:r>
          </a:p>
        </p:txBody>
      </p:sp>
      <p:sp>
        <p:nvSpPr>
          <p:cNvPr id="161" name="CustomShape 57">
            <a:extLst>
              <a:ext uri="{FF2B5EF4-FFF2-40B4-BE49-F238E27FC236}">
                <a16:creationId xmlns:a16="http://schemas.microsoft.com/office/drawing/2014/main" id="{B9DFCB75-18F9-44C5-B42A-3FA7EE6DFEC7}"/>
              </a:ext>
            </a:extLst>
          </p:cNvPr>
          <p:cNvSpPr>
            <a:spLocks noGrp="1"/>
          </p:cNvSpPr>
          <p:nvPr/>
        </p:nvSpPr>
        <p:spPr>
          <a:xfrm>
            <a:off x="8028360" y="5166360"/>
            <a:ext cx="868320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4F8CFF"/>
                </a:solidFill>
                <a:latin typeface="Noto Sans CJK SC"/>
                <a:ea typeface="Noto Sans CJK SC"/>
                <a:cs typeface="Noto Sans CJK SC"/>
              </a:rPr>
              <a:t>datum</a:t>
            </a:r>
          </a:p>
        </p:txBody>
      </p:sp>
      <p:sp>
        <p:nvSpPr>
          <p:cNvPr id="162" name="CustomShape 58">
            <a:extLst>
              <a:ext uri="{FF2B5EF4-FFF2-40B4-BE49-F238E27FC236}">
                <a16:creationId xmlns:a16="http://schemas.microsoft.com/office/drawing/2014/main" id="{F243EAFF-BC0F-4A00-9F05-CFCF29B6424C}"/>
              </a:ext>
            </a:extLst>
          </p:cNvPr>
          <p:cNvSpPr>
            <a:spLocks noGrp="1"/>
          </p:cNvSpPr>
          <p:nvPr/>
        </p:nvSpPr>
        <p:spPr>
          <a:xfrm>
            <a:off x="8028360" y="5449680"/>
            <a:ext cx="3401280" cy="53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只定义 map_enu 原点 / ENU 方向</a:t>
            </a:r>
          </a:p>
          <a:p>
            <a:pPr>
              <a:lnSpc>
                <a:spcPct val="88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不提供 UAV 当前位姿</a:t>
            </a:r>
          </a:p>
        </p:txBody>
      </p:sp>
      <p:sp>
        <p:nvSpPr>
          <p:cNvPr id="163" name="CustomShape 59">
            <a:extLst>
              <a:ext uri="{FF2B5EF4-FFF2-40B4-BE49-F238E27FC236}">
                <a16:creationId xmlns:a16="http://schemas.microsoft.com/office/drawing/2014/main" id="{01473ED8-CCE6-4C53-B173-FE1E1D8FDDB8}"/>
              </a:ext>
            </a:extLst>
          </p:cNvPr>
          <p:cNvSpPr>
            <a:spLocks noGrp="1"/>
          </p:cNvSpPr>
          <p:nvPr/>
        </p:nvSpPr>
        <p:spPr>
          <a:xfrm>
            <a:off x="658440" y="5966640"/>
            <a:ext cx="10844280" cy="29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FAST-LIO2 提供高频局部位姿，RTK/INS 或地图配准负责把局部 SLAM 地图对齐到公共 map_enu。</a:t>
            </a:r>
          </a:p>
        </p:txBody>
      </p:sp>
    </p:spTree>
    <p:extLst>
      <p:ext uri="{BB962C8B-B14F-4D97-AF65-F5344CB8AC3E}">
        <p14:creationId xmlns:p14="http://schemas.microsoft.com/office/powerpoint/2010/main" val="187101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0F47E683-CBBA-440D-B599-FF24330BDC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65" name="CustomShape 2">
            <a:extLst>
              <a:ext uri="{FF2B5EF4-FFF2-40B4-BE49-F238E27FC236}">
                <a16:creationId xmlns:a16="http://schemas.microsoft.com/office/drawing/2014/main" id="{C38BFC20-039D-4B61-AA5C-9AF3F1FDAB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66" name="CustomShape 3">
            <a:extLst>
              <a:ext uri="{FF2B5EF4-FFF2-40B4-BE49-F238E27FC236}">
                <a16:creationId xmlns:a16="http://schemas.microsoft.com/office/drawing/2014/main" id="{D462FC03-B0FC-4312-8D4B-A2E5741D77FC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67" name="CustomShape 4">
            <a:extLst>
              <a:ext uri="{FF2B5EF4-FFF2-40B4-BE49-F238E27FC236}">
                <a16:creationId xmlns:a16="http://schemas.microsoft.com/office/drawing/2014/main" id="{A48BBC9B-5F50-41C3-9C88-A9F4F77ECFD6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 点云、高程图与 UGV 自身坐标共享</a:t>
            </a:r>
          </a:p>
        </p:txBody>
      </p:sp>
      <p:sp>
        <p:nvSpPr>
          <p:cNvPr id="168" name="CustomShape 5">
            <a:extLst>
              <a:ext uri="{FF2B5EF4-FFF2-40B4-BE49-F238E27FC236}">
                <a16:creationId xmlns:a16="http://schemas.microsoft.com/office/drawing/2014/main" id="{971E09A5-ECCA-4832-ADE9-FA55767CCD97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点云按时间转换到 UGV 的 odom，再生成在线与离线地图产品</a:t>
            </a:r>
          </a:p>
        </p:txBody>
      </p:sp>
      <p:sp>
        <p:nvSpPr>
          <p:cNvPr id="169" name="CustomShape 6">
            <a:extLst>
              <a:ext uri="{FF2B5EF4-FFF2-40B4-BE49-F238E27FC236}">
                <a16:creationId xmlns:a16="http://schemas.microsoft.com/office/drawing/2014/main" id="{7CA041CD-F99B-4B53-923C-59F064AE43F3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0" name="CustomShape 7">
            <a:extLst>
              <a:ext uri="{FF2B5EF4-FFF2-40B4-BE49-F238E27FC236}">
                <a16:creationId xmlns:a16="http://schemas.microsoft.com/office/drawing/2014/main" id="{5AC5E051-E32A-45CE-848C-3A6EE5637D05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pic>
        <p:nvPicPr>
          <p:cNvPr id="215" name="Picture 8"/>
          <p:cNvPicPr>
            <a:picLocks noChangeAspect="1"/>
          </p:cNvPicPr>
          <p:nvPr/>
        </p:nvPicPr>
        <p:blipFill>
          <a:blip r:embed="rId3"/>
          <a:srcRect l="10055" r="10055"/>
          <a:stretch/>
        </p:blipFill>
        <p:spPr>
          <a:xfrm>
            <a:off x="438840" y="2249280"/>
            <a:ext cx="5486040" cy="314532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172" name="CustomShape 8">
            <a:extLst>
              <a:ext uri="{FF2B5EF4-FFF2-40B4-BE49-F238E27FC236}">
                <a16:creationId xmlns:a16="http://schemas.microsoft.com/office/drawing/2014/main" id="{9F7E26FA-C13E-48F3-9BE6-DD49F281DA8B}"/>
              </a:ext>
            </a:extLst>
          </p:cNvPr>
          <p:cNvSpPr>
            <a:spLocks noGrp="1"/>
          </p:cNvSpPr>
          <p:nvPr/>
        </p:nvSpPr>
        <p:spPr>
          <a:xfrm>
            <a:off x="438840" y="1042560"/>
            <a:ext cx="11301480" cy="104220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3" name="Line 9">
            <a:extLst>
              <a:ext uri="{FF2B5EF4-FFF2-40B4-BE49-F238E27FC236}">
                <a16:creationId xmlns:a16="http://schemas.microsoft.com/office/drawing/2014/main" id="{D2D98985-9C25-47B3-9754-26232CD20DCD}"/>
              </a:ext>
            </a:extLst>
          </p:cNvPr>
          <p:cNvSpPr>
            <a:spLocks noGrp="1"/>
          </p:cNvSpPr>
          <p:nvPr/>
        </p:nvSpPr>
        <p:spPr>
          <a:xfrm>
            <a:off x="2907720" y="1663920"/>
            <a:ext cx="210240" cy="0"/>
          </a:xfrm>
          <a:prstGeom prst="line">
            <a:avLst/>
          </a:prstGeom>
          <a:ln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4" name="Line 10">
            <a:extLst>
              <a:ext uri="{FF2B5EF4-FFF2-40B4-BE49-F238E27FC236}">
                <a16:creationId xmlns:a16="http://schemas.microsoft.com/office/drawing/2014/main" id="{03AFEE95-D4F4-4232-8C6D-AF03EAEAC25D}"/>
              </a:ext>
            </a:extLst>
          </p:cNvPr>
          <p:cNvSpPr>
            <a:spLocks noGrp="1"/>
          </p:cNvSpPr>
          <p:nvPr/>
        </p:nvSpPr>
        <p:spPr>
          <a:xfrm>
            <a:off x="5541120" y="1663920"/>
            <a:ext cx="210240" cy="0"/>
          </a:xfrm>
          <a:prstGeom prst="line">
            <a:avLst/>
          </a:prstGeom>
          <a:ln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5" name="Line 11">
            <a:extLst>
              <a:ext uri="{FF2B5EF4-FFF2-40B4-BE49-F238E27FC236}">
                <a16:creationId xmlns:a16="http://schemas.microsoft.com/office/drawing/2014/main" id="{20116930-25E6-4631-8678-5CD97671201A}"/>
              </a:ext>
            </a:extLst>
          </p:cNvPr>
          <p:cNvSpPr>
            <a:spLocks noGrp="1"/>
          </p:cNvSpPr>
          <p:nvPr/>
        </p:nvSpPr>
        <p:spPr>
          <a:xfrm>
            <a:off x="8083080" y="1663920"/>
            <a:ext cx="210240" cy="0"/>
          </a:xfrm>
          <a:prstGeom prst="line">
            <a:avLst/>
          </a:prstGeom>
          <a:ln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6" name="Line 12">
            <a:extLst>
              <a:ext uri="{FF2B5EF4-FFF2-40B4-BE49-F238E27FC236}">
                <a16:creationId xmlns:a16="http://schemas.microsoft.com/office/drawing/2014/main" id="{314AC4D4-C741-491C-9E17-3F162D8493D1}"/>
              </a:ext>
            </a:extLst>
          </p:cNvPr>
          <p:cNvSpPr>
            <a:spLocks noGrp="1"/>
          </p:cNvSpPr>
          <p:nvPr/>
        </p:nvSpPr>
        <p:spPr>
          <a:xfrm>
            <a:off x="9857160" y="1663920"/>
            <a:ext cx="210240" cy="0"/>
          </a:xfrm>
          <a:prstGeom prst="line">
            <a:avLst/>
          </a:prstGeom>
          <a:ln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7" name="CustomShape 13">
            <a:extLst>
              <a:ext uri="{FF2B5EF4-FFF2-40B4-BE49-F238E27FC236}">
                <a16:creationId xmlns:a16="http://schemas.microsoft.com/office/drawing/2014/main" id="{BC6C41C5-87B9-40D9-AF38-77D5B5852A2B}"/>
              </a:ext>
            </a:extLst>
          </p:cNvPr>
          <p:cNvSpPr>
            <a:spLocks noGrp="1"/>
          </p:cNvSpPr>
          <p:nvPr/>
        </p:nvSpPr>
        <p:spPr>
          <a:xfrm>
            <a:off x="640080" y="1380600"/>
            <a:ext cx="2267280" cy="5666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8" name="CustomShape 14">
            <a:extLst>
              <a:ext uri="{FF2B5EF4-FFF2-40B4-BE49-F238E27FC236}">
                <a16:creationId xmlns:a16="http://schemas.microsoft.com/office/drawing/2014/main" id="{4BD34624-5FBB-4F94-BD26-EFAF66241D30}"/>
              </a:ext>
            </a:extLst>
          </p:cNvPr>
          <p:cNvSpPr>
            <a:spLocks noGrp="1"/>
          </p:cNvSpPr>
          <p:nvPr/>
        </p:nvSpPr>
        <p:spPr>
          <a:xfrm>
            <a:off x="640080" y="1380600"/>
            <a:ext cx="45360" cy="56664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79" name="CustomShape 15">
            <a:extLst>
              <a:ext uri="{FF2B5EF4-FFF2-40B4-BE49-F238E27FC236}">
                <a16:creationId xmlns:a16="http://schemas.microsoft.com/office/drawing/2014/main" id="{4835BF4C-96C6-4AB1-9736-14C7B4585EFF}"/>
              </a:ext>
            </a:extLst>
          </p:cNvPr>
          <p:cNvSpPr>
            <a:spLocks noGrp="1"/>
          </p:cNvSpPr>
          <p:nvPr/>
        </p:nvSpPr>
        <p:spPr>
          <a:xfrm>
            <a:off x="713160" y="1420920"/>
            <a:ext cx="2139480" cy="48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UAV LiDAR 原始点云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frame_id = uav0/velodyne_link</a:t>
            </a:r>
          </a:p>
        </p:txBody>
      </p:sp>
      <p:sp>
        <p:nvSpPr>
          <p:cNvPr id="180" name="CustomShape 16">
            <a:extLst>
              <a:ext uri="{FF2B5EF4-FFF2-40B4-BE49-F238E27FC236}">
                <a16:creationId xmlns:a16="http://schemas.microsoft.com/office/drawing/2014/main" id="{998BBCDB-D375-4584-926D-55D7AA460C9B}"/>
              </a:ext>
            </a:extLst>
          </p:cNvPr>
          <p:cNvSpPr>
            <a:spLocks noGrp="1"/>
          </p:cNvSpPr>
          <p:nvPr/>
        </p:nvSpPr>
        <p:spPr>
          <a:xfrm>
            <a:off x="3182040" y="1380600"/>
            <a:ext cx="2358720" cy="5666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81" name="CustomShape 17">
            <a:extLst>
              <a:ext uri="{FF2B5EF4-FFF2-40B4-BE49-F238E27FC236}">
                <a16:creationId xmlns:a16="http://schemas.microsoft.com/office/drawing/2014/main" id="{9C6D52E8-E6EE-44D1-A9B6-93A73B3A49A0}"/>
              </a:ext>
            </a:extLst>
          </p:cNvPr>
          <p:cNvSpPr>
            <a:spLocks noGrp="1"/>
          </p:cNvSpPr>
          <p:nvPr/>
        </p:nvSpPr>
        <p:spPr>
          <a:xfrm>
            <a:off x="3182040" y="1380600"/>
            <a:ext cx="45360" cy="566640"/>
          </a:xfrm>
          <a:prstGeom prst="rect">
            <a:avLst/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82" name="CustomShape 18">
            <a:extLst>
              <a:ext uri="{FF2B5EF4-FFF2-40B4-BE49-F238E27FC236}">
                <a16:creationId xmlns:a16="http://schemas.microsoft.com/office/drawing/2014/main" id="{F6847345-40B9-4AB3-8D83-36448C7292C3}"/>
              </a:ext>
            </a:extLst>
          </p:cNvPr>
          <p:cNvSpPr>
            <a:spLocks noGrp="1"/>
          </p:cNvSpPr>
          <p:nvPr/>
        </p:nvSpPr>
        <p:spPr>
          <a:xfrm>
            <a:off x="3255120" y="1310040"/>
            <a:ext cx="2230920" cy="70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按点云时间查询 TF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TF：odom → uav0/map_local → UAV</a:t>
            </a:r>
          </a:p>
        </p:txBody>
      </p:sp>
      <p:sp>
        <p:nvSpPr>
          <p:cNvPr id="183" name="CustomShape 19">
            <a:extLst>
              <a:ext uri="{FF2B5EF4-FFF2-40B4-BE49-F238E27FC236}">
                <a16:creationId xmlns:a16="http://schemas.microsoft.com/office/drawing/2014/main" id="{6A7C9885-5DD8-463B-B859-BD9FF1E1D6DB}"/>
              </a:ext>
            </a:extLst>
          </p:cNvPr>
          <p:cNvSpPr>
            <a:spLocks noGrp="1"/>
          </p:cNvSpPr>
          <p:nvPr/>
        </p:nvSpPr>
        <p:spPr>
          <a:xfrm>
            <a:off x="5815440" y="1380600"/>
            <a:ext cx="2267280" cy="5666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84" name="CustomShape 20">
            <a:extLst>
              <a:ext uri="{FF2B5EF4-FFF2-40B4-BE49-F238E27FC236}">
                <a16:creationId xmlns:a16="http://schemas.microsoft.com/office/drawing/2014/main" id="{260B2FA5-9FD8-429C-9587-85F313FEC371}"/>
              </a:ext>
            </a:extLst>
          </p:cNvPr>
          <p:cNvSpPr>
            <a:spLocks noGrp="1"/>
          </p:cNvSpPr>
          <p:nvPr/>
        </p:nvSpPr>
        <p:spPr>
          <a:xfrm>
            <a:off x="5815440" y="1380600"/>
            <a:ext cx="45360" cy="566640"/>
          </a:xfrm>
          <a:prstGeom prst="rect">
            <a:avLst/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85" name="CustomShape 21">
            <a:extLst>
              <a:ext uri="{FF2B5EF4-FFF2-40B4-BE49-F238E27FC236}">
                <a16:creationId xmlns:a16="http://schemas.microsoft.com/office/drawing/2014/main" id="{F029F79B-0C54-498A-9757-C1EF15630295}"/>
              </a:ext>
            </a:extLst>
          </p:cNvPr>
          <p:cNvSpPr>
            <a:spLocks noGrp="1"/>
          </p:cNvSpPr>
          <p:nvPr/>
        </p:nvSpPr>
        <p:spPr>
          <a:xfrm>
            <a:off x="5888880" y="1420920"/>
            <a:ext cx="2139480" cy="48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共享注册点云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frame_id = odom</a:t>
            </a:r>
          </a:p>
        </p:txBody>
      </p:sp>
      <p:sp>
        <p:nvSpPr>
          <p:cNvPr id="186" name="CustomShape 22">
            <a:extLst>
              <a:ext uri="{FF2B5EF4-FFF2-40B4-BE49-F238E27FC236}">
                <a16:creationId xmlns:a16="http://schemas.microsoft.com/office/drawing/2014/main" id="{6BC4A532-71DC-4376-8DBB-3E3AB15C63CC}"/>
              </a:ext>
            </a:extLst>
          </p:cNvPr>
          <p:cNvSpPr>
            <a:spLocks noGrp="1"/>
          </p:cNvSpPr>
          <p:nvPr/>
        </p:nvSpPr>
        <p:spPr>
          <a:xfrm>
            <a:off x="8357760" y="1380600"/>
            <a:ext cx="1499400" cy="5666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5D5D0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87" name="CustomShape 23">
            <a:extLst>
              <a:ext uri="{FF2B5EF4-FFF2-40B4-BE49-F238E27FC236}">
                <a16:creationId xmlns:a16="http://schemas.microsoft.com/office/drawing/2014/main" id="{ECB56C13-66EC-4370-8AAC-CDA8C17C47E8}"/>
              </a:ext>
            </a:extLst>
          </p:cNvPr>
          <p:cNvSpPr>
            <a:spLocks noGrp="1"/>
          </p:cNvSpPr>
          <p:nvPr/>
        </p:nvSpPr>
        <p:spPr>
          <a:xfrm>
            <a:off x="8357760" y="1380600"/>
            <a:ext cx="45360" cy="56664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88" name="CustomShape 24">
            <a:extLst>
              <a:ext uri="{FF2B5EF4-FFF2-40B4-BE49-F238E27FC236}">
                <a16:creationId xmlns:a16="http://schemas.microsoft.com/office/drawing/2014/main" id="{A0F9543F-0EAC-4FFB-BE9C-434423FD99D7}"/>
              </a:ext>
            </a:extLst>
          </p:cNvPr>
          <p:cNvSpPr>
            <a:spLocks noGrp="1"/>
          </p:cNvSpPr>
          <p:nvPr/>
        </p:nvSpPr>
        <p:spPr>
          <a:xfrm>
            <a:off x="8430840" y="1542600"/>
            <a:ext cx="137124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体素化累积</a:t>
            </a:r>
          </a:p>
        </p:txBody>
      </p:sp>
      <p:sp>
        <p:nvSpPr>
          <p:cNvPr id="189" name="CustomShape 25">
            <a:extLst>
              <a:ext uri="{FF2B5EF4-FFF2-40B4-BE49-F238E27FC236}">
                <a16:creationId xmlns:a16="http://schemas.microsoft.com/office/drawing/2014/main" id="{A2B75774-FA9F-4663-8B5B-18FD88F14F55}"/>
              </a:ext>
            </a:extLst>
          </p:cNvPr>
          <p:cNvSpPr>
            <a:spLocks noGrp="1"/>
          </p:cNvSpPr>
          <p:nvPr/>
        </p:nvSpPr>
        <p:spPr>
          <a:xfrm>
            <a:off x="10131480" y="1380600"/>
            <a:ext cx="1371240" cy="5666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90" name="CustomShape 26">
            <a:extLst>
              <a:ext uri="{FF2B5EF4-FFF2-40B4-BE49-F238E27FC236}">
                <a16:creationId xmlns:a16="http://schemas.microsoft.com/office/drawing/2014/main" id="{0AD2AB05-3467-4B24-BCA5-120536C5C4ED}"/>
              </a:ext>
            </a:extLst>
          </p:cNvPr>
          <p:cNvSpPr>
            <a:spLocks noGrp="1"/>
          </p:cNvSpPr>
          <p:nvPr/>
        </p:nvSpPr>
        <p:spPr>
          <a:xfrm>
            <a:off x="10131480" y="1380600"/>
            <a:ext cx="45360" cy="56664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91" name="CustomShape 27">
            <a:extLst>
              <a:ext uri="{FF2B5EF4-FFF2-40B4-BE49-F238E27FC236}">
                <a16:creationId xmlns:a16="http://schemas.microsoft.com/office/drawing/2014/main" id="{AECCA82A-318F-49B3-AE57-CED4FB8CAB4B}"/>
              </a:ext>
            </a:extLst>
          </p:cNvPr>
          <p:cNvSpPr>
            <a:spLocks noGrp="1"/>
          </p:cNvSpPr>
          <p:nvPr/>
        </p:nvSpPr>
        <p:spPr>
          <a:xfrm>
            <a:off x="10204560" y="1542600"/>
            <a:ext cx="12430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三种地图产品</a:t>
            </a:r>
          </a:p>
        </p:txBody>
      </p:sp>
      <p:sp>
        <p:nvSpPr>
          <p:cNvPr id="192" name="CustomShape 28">
            <a:extLst>
              <a:ext uri="{FF2B5EF4-FFF2-40B4-BE49-F238E27FC236}">
                <a16:creationId xmlns:a16="http://schemas.microsoft.com/office/drawing/2014/main" id="{509E93E1-BE10-45AF-880C-2DA784F51D99}"/>
              </a:ext>
            </a:extLst>
          </p:cNvPr>
          <p:cNvSpPr>
            <a:spLocks noGrp="1"/>
          </p:cNvSpPr>
          <p:nvPr/>
        </p:nvSpPr>
        <p:spPr>
          <a:xfrm>
            <a:off x="438840" y="2249280"/>
            <a:ext cx="5486040" cy="36540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93" name="CustomShape 29">
            <a:extLst>
              <a:ext uri="{FF2B5EF4-FFF2-40B4-BE49-F238E27FC236}">
                <a16:creationId xmlns:a16="http://schemas.microsoft.com/office/drawing/2014/main" id="{5D05F478-2243-41B9-94DE-D4F1419BFCDE}"/>
              </a:ext>
            </a:extLst>
          </p:cNvPr>
          <p:cNvSpPr>
            <a:spLocks noGrp="1"/>
          </p:cNvSpPr>
          <p:nvPr/>
        </p:nvSpPr>
        <p:spPr>
          <a:xfrm>
            <a:off x="621720" y="2256840"/>
            <a:ext cx="51019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7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真实累积点云与 terrain map</a:t>
            </a:r>
          </a:p>
        </p:txBody>
      </p:sp>
      <p:sp>
        <p:nvSpPr>
          <p:cNvPr id="194" name="CustomShape 30">
            <a:extLst>
              <a:ext uri="{FF2B5EF4-FFF2-40B4-BE49-F238E27FC236}">
                <a16:creationId xmlns:a16="http://schemas.microsoft.com/office/drawing/2014/main" id="{11E7DA4B-7239-41D4-A2DA-02A1B139BEB4}"/>
              </a:ext>
            </a:extLst>
          </p:cNvPr>
          <p:cNvSpPr>
            <a:spLocks noGrp="1"/>
          </p:cNvSpPr>
          <p:nvPr/>
        </p:nvSpPr>
        <p:spPr>
          <a:xfrm>
            <a:off x="567000" y="4590360"/>
            <a:ext cx="5230080" cy="658080"/>
          </a:xfrm>
          <a:prstGeom prst="roundRect">
            <a:avLst>
              <a:gd name="adj" fmla="val 16667"/>
            </a:avLst>
          </a:prstGeom>
          <a:solidFill>
            <a:srgbClr val="06131F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95" name="CustomShape 31">
            <a:extLst>
              <a:ext uri="{FF2B5EF4-FFF2-40B4-BE49-F238E27FC236}">
                <a16:creationId xmlns:a16="http://schemas.microsoft.com/office/drawing/2014/main" id="{544C515F-7443-481C-A069-B4A6B4A489A7}"/>
              </a:ext>
            </a:extLst>
          </p:cNvPr>
          <p:cNvSpPr>
            <a:spLocks noGrp="1"/>
          </p:cNvSpPr>
          <p:nvPr/>
        </p:nvSpPr>
        <p:spPr>
          <a:xfrm>
            <a:off x="713160" y="4560480"/>
            <a:ext cx="4919040" cy="717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体素化：将三维空间划分为固定立方体；同一体素内重复观测求均值或保留代表点，</a:t>
            </a:r>
          </a:p>
          <a:p>
            <a:pPr>
              <a:lnSpc>
                <a:spcPct val="88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降低点数、抑制重复扫描并稳定长期累积地图。</a:t>
            </a:r>
          </a:p>
        </p:txBody>
      </p:sp>
      <p:sp>
        <p:nvSpPr>
          <p:cNvPr id="196" name="CustomShape 32">
            <a:extLst>
              <a:ext uri="{FF2B5EF4-FFF2-40B4-BE49-F238E27FC236}">
                <a16:creationId xmlns:a16="http://schemas.microsoft.com/office/drawing/2014/main" id="{5C8EB122-A23C-45EA-8F7C-659440A3BDB6}"/>
              </a:ext>
            </a:extLst>
          </p:cNvPr>
          <p:cNvSpPr>
            <a:spLocks noGrp="1"/>
          </p:cNvSpPr>
          <p:nvPr/>
        </p:nvSpPr>
        <p:spPr>
          <a:xfrm>
            <a:off x="6108120" y="2249280"/>
            <a:ext cx="5632200" cy="11700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97" name="CustomShape 33">
            <a:extLst>
              <a:ext uri="{FF2B5EF4-FFF2-40B4-BE49-F238E27FC236}">
                <a16:creationId xmlns:a16="http://schemas.microsoft.com/office/drawing/2014/main" id="{A6453F4D-4AE7-46CC-A915-5B654ACCAD60}"/>
              </a:ext>
            </a:extLst>
          </p:cNvPr>
          <p:cNvSpPr>
            <a:spLocks noGrp="1"/>
          </p:cNvSpPr>
          <p:nvPr/>
        </p:nvSpPr>
        <p:spPr>
          <a:xfrm>
            <a:off x="6291000" y="2553840"/>
            <a:ext cx="1416960" cy="56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8B99D"/>
                </a:solidFill>
                <a:latin typeface="Noto Sans CJK SC"/>
                <a:ea typeface="Noto Sans CJK SC"/>
                <a:cs typeface="Noto Sans CJK SC"/>
              </a:rPr>
              <a:t>① 在线三维地图</a:t>
            </a:r>
          </a:p>
        </p:txBody>
      </p:sp>
      <p:sp>
        <p:nvSpPr>
          <p:cNvPr id="198" name="CustomShape 34">
            <a:extLst>
              <a:ext uri="{FF2B5EF4-FFF2-40B4-BE49-F238E27FC236}">
                <a16:creationId xmlns:a16="http://schemas.microsoft.com/office/drawing/2014/main" id="{619F2417-7D68-4708-9A35-8C1605ED0121}"/>
              </a:ext>
            </a:extLst>
          </p:cNvPr>
          <p:cNvSpPr>
            <a:spLocks noGrp="1"/>
          </p:cNvSpPr>
          <p:nvPr/>
        </p:nvSpPr>
        <p:spPr>
          <a:xfrm>
            <a:off x="7818120" y="2251800"/>
            <a:ext cx="3702960" cy="1165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/uav0/mapping/points_accumulated</a:t>
            </a:r>
          </a:p>
          <a:p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sensor_msgs/PointCloud2</a:t>
            </a:r>
          </a:p>
          <a:p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frame_id = odom</a:t>
            </a:r>
          </a:p>
          <a:p>
            <a:pPr>
              <a:lnSpc>
                <a:spcPct val="86000"/>
              </a:lnSpc>
              <a:buNone/>
            </a:pPr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在线：PointCloud2 → terrain/elevation map → UGV costmap</a:t>
            </a:r>
          </a:p>
        </p:txBody>
      </p:sp>
      <p:sp>
        <p:nvSpPr>
          <p:cNvPr id="199" name="CustomShape 35">
            <a:extLst>
              <a:ext uri="{FF2B5EF4-FFF2-40B4-BE49-F238E27FC236}">
                <a16:creationId xmlns:a16="http://schemas.microsoft.com/office/drawing/2014/main" id="{346F7CAE-0D44-41E9-95AA-1AA92342AFEC}"/>
              </a:ext>
            </a:extLst>
          </p:cNvPr>
          <p:cNvSpPr>
            <a:spLocks noGrp="1"/>
          </p:cNvSpPr>
          <p:nvPr/>
        </p:nvSpPr>
        <p:spPr>
          <a:xfrm>
            <a:off x="6108120" y="3493080"/>
            <a:ext cx="5632200" cy="111528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00" name="CustomShape 36">
            <a:extLst>
              <a:ext uri="{FF2B5EF4-FFF2-40B4-BE49-F238E27FC236}">
                <a16:creationId xmlns:a16="http://schemas.microsoft.com/office/drawing/2014/main" id="{A5CC03F1-20E8-487B-A55A-25DC47597B10}"/>
              </a:ext>
            </a:extLst>
          </p:cNvPr>
          <p:cNvSpPr>
            <a:spLocks noGrp="1"/>
          </p:cNvSpPr>
          <p:nvPr/>
        </p:nvSpPr>
        <p:spPr>
          <a:xfrm>
            <a:off x="6291000" y="3891960"/>
            <a:ext cx="1416960" cy="31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4F8CFF"/>
                </a:solidFill>
                <a:latin typeface="Noto Sans CJK SC"/>
                <a:ea typeface="Noto Sans CJK SC"/>
                <a:cs typeface="Noto Sans CJK SC"/>
              </a:rPr>
              <a:t>② 离线地图</a:t>
            </a:r>
          </a:p>
        </p:txBody>
      </p:sp>
      <p:sp>
        <p:nvSpPr>
          <p:cNvPr id="201" name="CustomShape 37">
            <a:extLst>
              <a:ext uri="{FF2B5EF4-FFF2-40B4-BE49-F238E27FC236}">
                <a16:creationId xmlns:a16="http://schemas.microsoft.com/office/drawing/2014/main" id="{5630D103-8A11-4547-9560-6FD1F19BACB5}"/>
              </a:ext>
            </a:extLst>
          </p:cNvPr>
          <p:cNvSpPr>
            <a:spLocks noGrp="1"/>
          </p:cNvSpPr>
          <p:nvPr/>
        </p:nvSpPr>
        <p:spPr>
          <a:xfrm>
            <a:off x="7818120" y="3450600"/>
            <a:ext cx="3702960" cy="119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uav_points_map_latest.pcd + 时间戳 PCD</a:t>
            </a:r>
          </a:p>
          <a:p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默认自身坐标模式：frame_id = odom · 30 s 周期保存</a:t>
            </a:r>
          </a:p>
          <a:p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latest 覆盖 · 时间戳快照新增</a:t>
            </a:r>
          </a:p>
          <a:p>
            <a:pPr>
              <a:lnSpc>
                <a:spcPct val="86000"/>
              </a:lnSpc>
              <a:buNone/>
            </a:pPr>
            <a:r>
              <a:rPr sz="13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离线：保存 / 复现 / 重新加载</a:t>
            </a:r>
          </a:p>
        </p:txBody>
      </p:sp>
      <p:sp>
        <p:nvSpPr>
          <p:cNvPr id="202" name="CustomShape 38">
            <a:extLst>
              <a:ext uri="{FF2B5EF4-FFF2-40B4-BE49-F238E27FC236}">
                <a16:creationId xmlns:a16="http://schemas.microsoft.com/office/drawing/2014/main" id="{08E1DCC5-9944-4764-B2DB-5E61EA9460FB}"/>
              </a:ext>
            </a:extLst>
          </p:cNvPr>
          <p:cNvSpPr>
            <a:spLocks noGrp="1"/>
          </p:cNvSpPr>
          <p:nvPr/>
        </p:nvSpPr>
        <p:spPr>
          <a:xfrm>
            <a:off x="6108120" y="4663440"/>
            <a:ext cx="5632200" cy="73116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03" name="CustomShape 39">
            <a:extLst>
              <a:ext uri="{FF2B5EF4-FFF2-40B4-BE49-F238E27FC236}">
                <a16:creationId xmlns:a16="http://schemas.microsoft.com/office/drawing/2014/main" id="{C77BB652-B8EB-4AE5-B013-F9E2B23D8DE2}"/>
              </a:ext>
            </a:extLst>
          </p:cNvPr>
          <p:cNvSpPr>
            <a:spLocks noGrp="1"/>
          </p:cNvSpPr>
          <p:nvPr/>
        </p:nvSpPr>
        <p:spPr>
          <a:xfrm>
            <a:off x="6291000" y="4749480"/>
            <a:ext cx="1416960" cy="55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③ UGV 导航产品</a:t>
            </a:r>
          </a:p>
        </p:txBody>
      </p:sp>
      <p:sp>
        <p:nvSpPr>
          <p:cNvPr id="204" name="CustomShape 40">
            <a:extLst>
              <a:ext uri="{FF2B5EF4-FFF2-40B4-BE49-F238E27FC236}">
                <a16:creationId xmlns:a16="http://schemas.microsoft.com/office/drawing/2014/main" id="{3CD276C4-6CAA-4A7E-B2EE-ADA7A65FEDB6}"/>
              </a:ext>
            </a:extLst>
          </p:cNvPr>
          <p:cNvSpPr>
            <a:spLocks noGrp="1"/>
          </p:cNvSpPr>
          <p:nvPr/>
        </p:nvSpPr>
        <p:spPr>
          <a:xfrm>
            <a:off x="7818120" y="4672440"/>
            <a:ext cx="3702960" cy="71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/terrain_map 或 elevation map · frame_id = odom</a:t>
            </a:r>
          </a:p>
          <a:p>
            <a:pPr>
              <a:lnSpc>
                <a:spcPct val="86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→ UGV costmap</a:t>
            </a:r>
          </a:p>
        </p:txBody>
      </p:sp>
      <p:sp>
        <p:nvSpPr>
          <p:cNvPr id="205" name="CustomShape 41">
            <a:extLst>
              <a:ext uri="{FF2B5EF4-FFF2-40B4-BE49-F238E27FC236}">
                <a16:creationId xmlns:a16="http://schemas.microsoft.com/office/drawing/2014/main" id="{DC061705-D188-402C-AFF7-B5334FA46837}"/>
              </a:ext>
            </a:extLst>
          </p:cNvPr>
          <p:cNvSpPr>
            <a:spLocks noGrp="1"/>
          </p:cNvSpPr>
          <p:nvPr/>
        </p:nvSpPr>
        <p:spPr>
          <a:xfrm>
            <a:off x="438840" y="5559480"/>
            <a:ext cx="11301480" cy="74952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06" name="CustomShape 42">
            <a:extLst>
              <a:ext uri="{FF2B5EF4-FFF2-40B4-BE49-F238E27FC236}">
                <a16:creationId xmlns:a16="http://schemas.microsoft.com/office/drawing/2014/main" id="{E57AD11D-AFD5-4D6F-8958-E4C7B6D2EC17}"/>
              </a:ext>
            </a:extLst>
          </p:cNvPr>
          <p:cNvSpPr>
            <a:spLocks noGrp="1"/>
          </p:cNvSpPr>
          <p:nvPr/>
        </p:nvSpPr>
        <p:spPr>
          <a:xfrm>
            <a:off x="658440" y="5751000"/>
            <a:ext cx="10862640" cy="293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点云、UGV 位姿和地形代价统一在 odom 中，避免引入不存在的全局 map TF。</a:t>
            </a:r>
          </a:p>
        </p:txBody>
      </p:sp>
    </p:spTree>
    <p:extLst>
      <p:ext uri="{BB962C8B-B14F-4D97-AF65-F5344CB8AC3E}">
        <p14:creationId xmlns:p14="http://schemas.microsoft.com/office/powerpoint/2010/main" val="474277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CustomShape 1">
            <a:extLst>
              <a:ext uri="{FF2B5EF4-FFF2-40B4-BE49-F238E27FC236}">
                <a16:creationId xmlns:a16="http://schemas.microsoft.com/office/drawing/2014/main" id="{AD304D41-093E-45CD-93D7-ECA5B05A12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81" name="CustomShape 2">
            <a:extLst>
              <a:ext uri="{FF2B5EF4-FFF2-40B4-BE49-F238E27FC236}">
                <a16:creationId xmlns:a16="http://schemas.microsoft.com/office/drawing/2014/main" id="{F3F8CCF5-4D77-4A34-B41C-6430827013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82" name="CustomShape 3">
            <a:extLst>
              <a:ext uri="{FF2B5EF4-FFF2-40B4-BE49-F238E27FC236}">
                <a16:creationId xmlns:a16="http://schemas.microsoft.com/office/drawing/2014/main" id="{2396E084-09D1-4A24-8985-D80554D0FF5D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500" b="1" dirty="0">
              <a:solidFill>
                <a:srgbClr val="25D5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3" name="CustomShape 4">
            <a:extLst>
              <a:ext uri="{FF2B5EF4-FFF2-40B4-BE49-F238E27FC236}">
                <a16:creationId xmlns:a16="http://schemas.microsoft.com/office/drawing/2014/main" id="{EF044DBE-58E7-4FD9-8B95-38FE9A953C03}"/>
              </a:ext>
            </a:extLst>
          </p:cNvPr>
          <p:cNvSpPr>
            <a:spLocks noGrp="1"/>
          </p:cNvSpPr>
          <p:nvPr/>
        </p:nvSpPr>
        <p:spPr>
          <a:xfrm>
            <a:off x="960120" y="178890"/>
            <a:ext cx="10697760" cy="428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23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PLAN B:</a:t>
            </a:r>
            <a:r>
              <a:rPr dirty="0"/>
              <a:t> </a:t>
            </a:r>
            <a:r>
              <a:rPr dirty="0" err="1"/>
              <a:t>Egocentric：显式承认空中地图误差，保护局部高程一致性</a:t>
            </a:r>
            <a:endParaRPr dirty="0"/>
          </a:p>
        </p:txBody>
      </p:sp>
      <p:sp>
        <p:nvSpPr>
          <p:cNvPr id="384" name="CustomShape 5">
            <a:extLst>
              <a:ext uri="{FF2B5EF4-FFF2-40B4-BE49-F238E27FC236}">
                <a16:creationId xmlns:a16="http://schemas.microsoft.com/office/drawing/2014/main" id="{B249CB74-783C-4E26-A1D6-3AB6078CF355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300" b="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t>UAV 位姿与 LiDAR 测量误差不可避免；空中地图是带不确定性的先验，而不是绝对真值</a:t>
            </a:r>
          </a:p>
        </p:txBody>
      </p:sp>
      <p:sp>
        <p:nvSpPr>
          <p:cNvPr id="385" name="CustomShape 6">
            <a:extLst>
              <a:ext uri="{FF2B5EF4-FFF2-40B4-BE49-F238E27FC236}">
                <a16:creationId xmlns:a16="http://schemas.microsoft.com/office/drawing/2014/main" id="{C6F7CB14-833E-4DE9-8FF8-ACB69E9605A7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86" name="CustomShape 7">
            <a:extLst>
              <a:ext uri="{FF2B5EF4-FFF2-40B4-BE49-F238E27FC236}">
                <a16:creationId xmlns:a16="http://schemas.microsoft.com/office/drawing/2014/main" id="{70956B27-8D55-43D8-B285-BE5E079A5D43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pic>
        <p:nvPicPr>
          <p:cNvPr id="478" name="Picture 41"/>
          <p:cNvPicPr>
            <a:picLocks noChangeAspect="1"/>
          </p:cNvPicPr>
          <p:nvPr/>
        </p:nvPicPr>
        <p:blipFill>
          <a:blip r:embed="rId3"/>
          <a:srcRect l="1009" r="1009"/>
          <a:stretch/>
        </p:blipFill>
        <p:spPr>
          <a:xfrm>
            <a:off x="8778240" y="1042560"/>
            <a:ext cx="2962440" cy="245016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388" name="CustomShape 8">
            <a:extLst>
              <a:ext uri="{FF2B5EF4-FFF2-40B4-BE49-F238E27FC236}">
                <a16:creationId xmlns:a16="http://schemas.microsoft.com/office/drawing/2014/main" id="{071033DB-4210-4951-8754-1C4D070E6F5B}"/>
              </a:ext>
            </a:extLst>
          </p:cNvPr>
          <p:cNvSpPr>
            <a:spLocks noGrp="1"/>
          </p:cNvSpPr>
          <p:nvPr/>
        </p:nvSpPr>
        <p:spPr>
          <a:xfrm>
            <a:off x="8778240" y="3136320"/>
            <a:ext cx="2962440" cy="35640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89" name="CustomShape 9">
            <a:extLst>
              <a:ext uri="{FF2B5EF4-FFF2-40B4-BE49-F238E27FC236}">
                <a16:creationId xmlns:a16="http://schemas.microsoft.com/office/drawing/2014/main" id="{A571D3BC-AF79-4F59-90E8-D7D5770F1407}"/>
              </a:ext>
            </a:extLst>
          </p:cNvPr>
          <p:cNvSpPr>
            <a:spLocks noGrp="1"/>
          </p:cNvSpPr>
          <p:nvPr/>
        </p:nvSpPr>
        <p:spPr>
          <a:xfrm>
            <a:off x="8888040" y="3011760"/>
            <a:ext cx="2742840" cy="55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UGV 在 odom 中的任务运行图</a:t>
            </a:r>
          </a:p>
        </p:txBody>
      </p:sp>
      <p:sp>
        <p:nvSpPr>
          <p:cNvPr id="390" name="CustomShape 10">
            <a:extLst>
              <a:ext uri="{FF2B5EF4-FFF2-40B4-BE49-F238E27FC236}">
                <a16:creationId xmlns:a16="http://schemas.microsoft.com/office/drawing/2014/main" id="{F4627DC6-270A-4F20-9A37-8AFAA4AC235C}"/>
              </a:ext>
            </a:extLst>
          </p:cNvPr>
          <p:cNvSpPr>
            <a:spLocks noGrp="1"/>
          </p:cNvSpPr>
          <p:nvPr/>
        </p:nvSpPr>
        <p:spPr>
          <a:xfrm>
            <a:off x="438840" y="1042560"/>
            <a:ext cx="8083080" cy="127980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91" name="CustomShape 11">
            <a:extLst>
              <a:ext uri="{FF2B5EF4-FFF2-40B4-BE49-F238E27FC236}">
                <a16:creationId xmlns:a16="http://schemas.microsoft.com/office/drawing/2014/main" id="{908D421C-8E6F-4E6E-9525-D832550972E5}"/>
              </a:ext>
            </a:extLst>
          </p:cNvPr>
          <p:cNvSpPr>
            <a:spLocks noGrp="1"/>
          </p:cNvSpPr>
          <p:nvPr/>
        </p:nvSpPr>
        <p:spPr>
          <a:xfrm>
            <a:off x="621720" y="116136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92" name="CustomShape 12">
            <a:extLst>
              <a:ext uri="{FF2B5EF4-FFF2-40B4-BE49-F238E27FC236}">
                <a16:creationId xmlns:a16="http://schemas.microsoft.com/office/drawing/2014/main" id="{04912FFD-A714-42EE-B71F-3D96A9698E86}"/>
              </a:ext>
            </a:extLst>
          </p:cNvPr>
          <p:cNvSpPr>
            <a:spLocks noGrp="1"/>
          </p:cNvSpPr>
          <p:nvPr/>
        </p:nvSpPr>
        <p:spPr>
          <a:xfrm>
            <a:off x="621720" y="1185480"/>
            <a:ext cx="141696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局部连续定位</a:t>
            </a:r>
          </a:p>
        </p:txBody>
      </p:sp>
      <p:sp>
        <p:nvSpPr>
          <p:cNvPr id="393" name="CustomShape 13">
            <a:extLst>
              <a:ext uri="{FF2B5EF4-FFF2-40B4-BE49-F238E27FC236}">
                <a16:creationId xmlns:a16="http://schemas.microsoft.com/office/drawing/2014/main" id="{A43586E1-99F2-4F6A-8FDF-949E381C013B}"/>
              </a:ext>
            </a:extLst>
          </p:cNvPr>
          <p:cNvSpPr>
            <a:spLocks noGrp="1"/>
          </p:cNvSpPr>
          <p:nvPr/>
        </p:nvSpPr>
        <p:spPr>
          <a:xfrm>
            <a:off x="658440" y="1554480"/>
            <a:ext cx="1919880" cy="3927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94" name="CustomShape 14">
            <a:extLst>
              <a:ext uri="{FF2B5EF4-FFF2-40B4-BE49-F238E27FC236}">
                <a16:creationId xmlns:a16="http://schemas.microsoft.com/office/drawing/2014/main" id="{445B12C3-9EB8-477C-AE23-2E2EC2E18C6A}"/>
              </a:ext>
            </a:extLst>
          </p:cNvPr>
          <p:cNvSpPr>
            <a:spLocks noGrp="1"/>
          </p:cNvSpPr>
          <p:nvPr/>
        </p:nvSpPr>
        <p:spPr>
          <a:xfrm>
            <a:off x="658440" y="1554480"/>
            <a:ext cx="45360" cy="3927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95" name="CustomShape 15">
            <a:extLst>
              <a:ext uri="{FF2B5EF4-FFF2-40B4-BE49-F238E27FC236}">
                <a16:creationId xmlns:a16="http://schemas.microsoft.com/office/drawing/2014/main" id="{C4FA0538-C5FB-404D-AB59-1E1500249356}"/>
              </a:ext>
            </a:extLst>
          </p:cNvPr>
          <p:cNvSpPr>
            <a:spLocks noGrp="1"/>
          </p:cNvSpPr>
          <p:nvPr/>
        </p:nvSpPr>
        <p:spPr>
          <a:xfrm>
            <a:off x="731520" y="1629720"/>
            <a:ext cx="179172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VLP-16 点云</a:t>
            </a:r>
          </a:p>
        </p:txBody>
      </p:sp>
      <p:sp>
        <p:nvSpPr>
          <p:cNvPr id="396" name="CustomShape 16">
            <a:extLst>
              <a:ext uri="{FF2B5EF4-FFF2-40B4-BE49-F238E27FC236}">
                <a16:creationId xmlns:a16="http://schemas.microsoft.com/office/drawing/2014/main" id="{B8638AC7-F904-4B5E-AAF2-941F76D587DC}"/>
              </a:ext>
            </a:extLst>
          </p:cNvPr>
          <p:cNvSpPr>
            <a:spLocks noGrp="1"/>
          </p:cNvSpPr>
          <p:nvPr/>
        </p:nvSpPr>
        <p:spPr>
          <a:xfrm>
            <a:off x="658440" y="1929240"/>
            <a:ext cx="1919880" cy="3927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97" name="CustomShape 17">
            <a:extLst>
              <a:ext uri="{FF2B5EF4-FFF2-40B4-BE49-F238E27FC236}">
                <a16:creationId xmlns:a16="http://schemas.microsoft.com/office/drawing/2014/main" id="{D7BFB94F-6A6F-48C6-A6BE-7F105912F683}"/>
              </a:ext>
            </a:extLst>
          </p:cNvPr>
          <p:cNvSpPr>
            <a:spLocks noGrp="1"/>
          </p:cNvSpPr>
          <p:nvPr/>
        </p:nvSpPr>
        <p:spPr>
          <a:xfrm>
            <a:off x="658440" y="1929240"/>
            <a:ext cx="45360" cy="3927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98" name="CustomShape 18">
            <a:extLst>
              <a:ext uri="{FF2B5EF4-FFF2-40B4-BE49-F238E27FC236}">
                <a16:creationId xmlns:a16="http://schemas.microsoft.com/office/drawing/2014/main" id="{1F7FC3F0-5D06-4F46-9C22-FC619D2ACE6B}"/>
              </a:ext>
            </a:extLst>
          </p:cNvPr>
          <p:cNvSpPr>
            <a:spLocks noGrp="1"/>
          </p:cNvSpPr>
          <p:nvPr/>
        </p:nvSpPr>
        <p:spPr>
          <a:xfrm>
            <a:off x="731520" y="2004480"/>
            <a:ext cx="179172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IMU 角速度 / 姿态</a:t>
            </a:r>
          </a:p>
        </p:txBody>
      </p:sp>
      <p:sp>
        <p:nvSpPr>
          <p:cNvPr id="399" name="Line 19">
            <a:extLst>
              <a:ext uri="{FF2B5EF4-FFF2-40B4-BE49-F238E27FC236}">
                <a16:creationId xmlns:a16="http://schemas.microsoft.com/office/drawing/2014/main" id="{36CC2D68-7171-4F47-9FC8-3AD47D86421C}"/>
              </a:ext>
            </a:extLst>
          </p:cNvPr>
          <p:cNvSpPr>
            <a:spLocks noGrp="1"/>
          </p:cNvSpPr>
          <p:nvPr/>
        </p:nvSpPr>
        <p:spPr>
          <a:xfrm>
            <a:off x="2578320" y="1755360"/>
            <a:ext cx="274320" cy="14652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0" name="Line 20">
            <a:extLst>
              <a:ext uri="{FF2B5EF4-FFF2-40B4-BE49-F238E27FC236}">
                <a16:creationId xmlns:a16="http://schemas.microsoft.com/office/drawing/2014/main" id="{43B05FB7-3BFE-480B-BD1E-281F784E8ECD}"/>
              </a:ext>
            </a:extLst>
          </p:cNvPr>
          <p:cNvSpPr>
            <a:spLocks noGrp="1"/>
          </p:cNvSpPr>
          <p:nvPr/>
        </p:nvSpPr>
        <p:spPr>
          <a:xfrm flipV="1">
            <a:off x="2578320" y="1901880"/>
            <a:ext cx="274320" cy="21924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1" name="CustomShape 21">
            <a:extLst>
              <a:ext uri="{FF2B5EF4-FFF2-40B4-BE49-F238E27FC236}">
                <a16:creationId xmlns:a16="http://schemas.microsoft.com/office/drawing/2014/main" id="{C67B4FC6-2CB5-4D9E-BC7A-A60367EF3351}"/>
              </a:ext>
            </a:extLst>
          </p:cNvPr>
          <p:cNvSpPr>
            <a:spLocks noGrp="1"/>
          </p:cNvSpPr>
          <p:nvPr/>
        </p:nvSpPr>
        <p:spPr>
          <a:xfrm>
            <a:off x="2853000" y="1572840"/>
            <a:ext cx="1508400" cy="65808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2" name="CustomShape 22">
            <a:extLst>
              <a:ext uri="{FF2B5EF4-FFF2-40B4-BE49-F238E27FC236}">
                <a16:creationId xmlns:a16="http://schemas.microsoft.com/office/drawing/2014/main" id="{FD454EEF-B1BA-41CC-A72C-E7FCA06AA518}"/>
              </a:ext>
            </a:extLst>
          </p:cNvPr>
          <p:cNvSpPr>
            <a:spLocks noGrp="1"/>
          </p:cNvSpPr>
          <p:nvPr/>
        </p:nvSpPr>
        <p:spPr>
          <a:xfrm>
            <a:off x="2853000" y="1572840"/>
            <a:ext cx="45360" cy="65808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3" name="CustomShape 23">
            <a:extLst>
              <a:ext uri="{FF2B5EF4-FFF2-40B4-BE49-F238E27FC236}">
                <a16:creationId xmlns:a16="http://schemas.microsoft.com/office/drawing/2014/main" id="{536D448C-CADC-4539-B704-6F47E08C47C9}"/>
              </a:ext>
            </a:extLst>
          </p:cNvPr>
          <p:cNvSpPr>
            <a:spLocks noGrp="1"/>
          </p:cNvSpPr>
          <p:nvPr/>
        </p:nvSpPr>
        <p:spPr>
          <a:xfrm>
            <a:off x="2926080" y="1773360"/>
            <a:ext cx="1380240" cy="257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DLIO</a:t>
            </a:r>
          </a:p>
        </p:txBody>
      </p:sp>
      <p:sp>
        <p:nvSpPr>
          <p:cNvPr id="404" name="Line 24">
            <a:extLst>
              <a:ext uri="{FF2B5EF4-FFF2-40B4-BE49-F238E27FC236}">
                <a16:creationId xmlns:a16="http://schemas.microsoft.com/office/drawing/2014/main" id="{81290D92-0E68-445B-9871-63010309D3BB}"/>
              </a:ext>
            </a:extLst>
          </p:cNvPr>
          <p:cNvSpPr>
            <a:spLocks noGrp="1"/>
          </p:cNvSpPr>
          <p:nvPr/>
        </p:nvSpPr>
        <p:spPr>
          <a:xfrm>
            <a:off x="4361400" y="1901880"/>
            <a:ext cx="347760" cy="0"/>
          </a:xfrm>
          <a:prstGeom prst="line">
            <a:avLst/>
          </a:prstGeom>
          <a:ln w="2304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5" name="CustomShape 25">
            <a:extLst>
              <a:ext uri="{FF2B5EF4-FFF2-40B4-BE49-F238E27FC236}">
                <a16:creationId xmlns:a16="http://schemas.microsoft.com/office/drawing/2014/main" id="{AB966B37-C652-425A-B17B-4E1F7DFD9E05}"/>
              </a:ext>
            </a:extLst>
          </p:cNvPr>
          <p:cNvSpPr>
            <a:spLocks noGrp="1"/>
          </p:cNvSpPr>
          <p:nvPr/>
        </p:nvSpPr>
        <p:spPr>
          <a:xfrm>
            <a:off x="4709160" y="1572840"/>
            <a:ext cx="3474360" cy="65808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6" name="CustomShape 26">
            <a:extLst>
              <a:ext uri="{FF2B5EF4-FFF2-40B4-BE49-F238E27FC236}">
                <a16:creationId xmlns:a16="http://schemas.microsoft.com/office/drawing/2014/main" id="{899028FB-7E58-4FFF-AED3-1EBD2901AF3C}"/>
              </a:ext>
            </a:extLst>
          </p:cNvPr>
          <p:cNvSpPr>
            <a:spLocks noGrp="1"/>
          </p:cNvSpPr>
          <p:nvPr/>
        </p:nvSpPr>
        <p:spPr>
          <a:xfrm>
            <a:off x="4709160" y="1572840"/>
            <a:ext cx="45360" cy="65808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7" name="CustomShape 27">
            <a:extLst>
              <a:ext uri="{FF2B5EF4-FFF2-40B4-BE49-F238E27FC236}">
                <a16:creationId xmlns:a16="http://schemas.microsoft.com/office/drawing/2014/main" id="{F7E87952-7083-4510-A127-3E4FA9389BF9}"/>
              </a:ext>
            </a:extLst>
          </p:cNvPr>
          <p:cNvSpPr>
            <a:spLocks noGrp="1"/>
          </p:cNvSpPr>
          <p:nvPr/>
        </p:nvSpPr>
        <p:spPr>
          <a:xfrm>
            <a:off x="4782240" y="1780560"/>
            <a:ext cx="33462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odom → base_link</a:t>
            </a:r>
          </a:p>
        </p:txBody>
      </p:sp>
      <p:sp>
        <p:nvSpPr>
          <p:cNvPr id="408" name="CustomShape 28">
            <a:extLst>
              <a:ext uri="{FF2B5EF4-FFF2-40B4-BE49-F238E27FC236}">
                <a16:creationId xmlns:a16="http://schemas.microsoft.com/office/drawing/2014/main" id="{17FE290D-08B3-46AE-B772-397D56748A08}"/>
              </a:ext>
            </a:extLst>
          </p:cNvPr>
          <p:cNvSpPr>
            <a:spLocks noGrp="1"/>
          </p:cNvSpPr>
          <p:nvPr/>
        </p:nvSpPr>
        <p:spPr>
          <a:xfrm>
            <a:off x="438840" y="2450520"/>
            <a:ext cx="8083080" cy="215748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9" name="CustomShape 29">
            <a:extLst>
              <a:ext uri="{FF2B5EF4-FFF2-40B4-BE49-F238E27FC236}">
                <a16:creationId xmlns:a16="http://schemas.microsoft.com/office/drawing/2014/main" id="{8C996118-7BF0-4627-B840-91F7D162A54A}"/>
              </a:ext>
            </a:extLst>
          </p:cNvPr>
          <p:cNvSpPr>
            <a:spLocks noGrp="1"/>
          </p:cNvSpPr>
          <p:nvPr/>
        </p:nvSpPr>
        <p:spPr>
          <a:xfrm>
            <a:off x="621720" y="256932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0" name="CustomShape 30">
            <a:extLst>
              <a:ext uri="{FF2B5EF4-FFF2-40B4-BE49-F238E27FC236}">
                <a16:creationId xmlns:a16="http://schemas.microsoft.com/office/drawing/2014/main" id="{F33E47AA-19CF-4028-8BFE-65F605E0F9E0}"/>
              </a:ext>
            </a:extLst>
          </p:cNvPr>
          <p:cNvSpPr>
            <a:spLocks noGrp="1"/>
          </p:cNvSpPr>
          <p:nvPr/>
        </p:nvSpPr>
        <p:spPr>
          <a:xfrm>
            <a:off x="621720" y="2593440"/>
            <a:ext cx="141696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空地一次性锚定</a:t>
            </a:r>
          </a:p>
        </p:txBody>
      </p:sp>
      <p:sp>
        <p:nvSpPr>
          <p:cNvPr id="411" name="CustomShape 31">
            <a:extLst>
              <a:ext uri="{FF2B5EF4-FFF2-40B4-BE49-F238E27FC236}">
                <a16:creationId xmlns:a16="http://schemas.microsoft.com/office/drawing/2014/main" id="{7C91D428-E199-44B4-8BD0-F7E78795156B}"/>
              </a:ext>
            </a:extLst>
          </p:cNvPr>
          <p:cNvSpPr>
            <a:spLocks noGrp="1"/>
          </p:cNvSpPr>
          <p:nvPr/>
        </p:nvSpPr>
        <p:spPr>
          <a:xfrm>
            <a:off x="658440" y="3017520"/>
            <a:ext cx="1188360" cy="6213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2" name="CustomShape 32">
            <a:extLst>
              <a:ext uri="{FF2B5EF4-FFF2-40B4-BE49-F238E27FC236}">
                <a16:creationId xmlns:a16="http://schemas.microsoft.com/office/drawing/2014/main" id="{B341B4DA-6735-40C6-8CF7-9619166D5603}"/>
              </a:ext>
            </a:extLst>
          </p:cNvPr>
          <p:cNvSpPr>
            <a:spLocks noGrp="1"/>
          </p:cNvSpPr>
          <p:nvPr/>
        </p:nvSpPr>
        <p:spPr>
          <a:xfrm>
            <a:off x="658440" y="3017520"/>
            <a:ext cx="45360" cy="621360"/>
          </a:xfrm>
          <a:prstGeom prst="rect">
            <a:avLst/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3" name="CustomShape 33">
            <a:extLst>
              <a:ext uri="{FF2B5EF4-FFF2-40B4-BE49-F238E27FC236}">
                <a16:creationId xmlns:a16="http://schemas.microsoft.com/office/drawing/2014/main" id="{44BF6474-EFE2-48D7-BD17-9CB281770251}"/>
              </a:ext>
            </a:extLst>
          </p:cNvPr>
          <p:cNvSpPr>
            <a:spLocks noGrp="1"/>
          </p:cNvSpPr>
          <p:nvPr/>
        </p:nvSpPr>
        <p:spPr>
          <a:xfrm>
            <a:off x="731520" y="3207240"/>
            <a:ext cx="10602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启动时位姿快照</a:t>
            </a:r>
          </a:p>
        </p:txBody>
      </p:sp>
      <p:sp>
        <p:nvSpPr>
          <p:cNvPr id="414" name="Line 34">
            <a:extLst>
              <a:ext uri="{FF2B5EF4-FFF2-40B4-BE49-F238E27FC236}">
                <a16:creationId xmlns:a16="http://schemas.microsoft.com/office/drawing/2014/main" id="{F6A23969-4AD1-4349-B1A4-00FA63195DC0}"/>
              </a:ext>
            </a:extLst>
          </p:cNvPr>
          <p:cNvSpPr>
            <a:spLocks noGrp="1"/>
          </p:cNvSpPr>
          <p:nvPr/>
        </p:nvSpPr>
        <p:spPr>
          <a:xfrm>
            <a:off x="1846800" y="3328200"/>
            <a:ext cx="311040" cy="0"/>
          </a:xfrm>
          <a:prstGeom prst="line">
            <a:avLst/>
          </a:prstGeom>
          <a:ln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5" name="CustomShape 35">
            <a:extLst>
              <a:ext uri="{FF2B5EF4-FFF2-40B4-BE49-F238E27FC236}">
                <a16:creationId xmlns:a16="http://schemas.microsoft.com/office/drawing/2014/main" id="{5FCBFA4D-8C44-444C-90B7-06A8BB4B1D0E}"/>
              </a:ext>
            </a:extLst>
          </p:cNvPr>
          <p:cNvSpPr>
            <a:spLocks noGrp="1"/>
          </p:cNvSpPr>
          <p:nvPr/>
        </p:nvSpPr>
        <p:spPr>
          <a:xfrm>
            <a:off x="2157840" y="2980800"/>
            <a:ext cx="1965600" cy="6944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6" name="CustomShape 36">
            <a:extLst>
              <a:ext uri="{FF2B5EF4-FFF2-40B4-BE49-F238E27FC236}">
                <a16:creationId xmlns:a16="http://schemas.microsoft.com/office/drawing/2014/main" id="{3EAC7E39-D064-4A32-8FC5-7F7553A498ED}"/>
              </a:ext>
            </a:extLst>
          </p:cNvPr>
          <p:cNvSpPr>
            <a:spLocks noGrp="1"/>
          </p:cNvSpPr>
          <p:nvPr/>
        </p:nvSpPr>
        <p:spPr>
          <a:xfrm>
            <a:off x="2157840" y="2980800"/>
            <a:ext cx="45360" cy="694440"/>
          </a:xfrm>
          <a:prstGeom prst="rect">
            <a:avLst/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7" name="CustomShape 37">
            <a:extLst>
              <a:ext uri="{FF2B5EF4-FFF2-40B4-BE49-F238E27FC236}">
                <a16:creationId xmlns:a16="http://schemas.microsoft.com/office/drawing/2014/main" id="{638DB886-A28A-48C6-98EC-3B41179DAEFA}"/>
              </a:ext>
            </a:extLst>
          </p:cNvPr>
          <p:cNvSpPr>
            <a:spLocks noGrp="1"/>
          </p:cNvSpPr>
          <p:nvPr/>
        </p:nvSpPr>
        <p:spPr>
          <a:xfrm>
            <a:off x="2231280" y="3095280"/>
            <a:ext cx="1837440" cy="465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airground_anchor_latch</a:t>
            </a:r>
          </a:p>
        </p:txBody>
      </p:sp>
      <p:sp>
        <p:nvSpPr>
          <p:cNvPr id="418" name="Line 38">
            <a:extLst>
              <a:ext uri="{FF2B5EF4-FFF2-40B4-BE49-F238E27FC236}">
                <a16:creationId xmlns:a16="http://schemas.microsoft.com/office/drawing/2014/main" id="{762334D4-1CD8-4B20-B46D-DF12E6798291}"/>
              </a:ext>
            </a:extLst>
          </p:cNvPr>
          <p:cNvSpPr>
            <a:spLocks noGrp="1"/>
          </p:cNvSpPr>
          <p:nvPr/>
        </p:nvSpPr>
        <p:spPr>
          <a:xfrm>
            <a:off x="4123800" y="3328200"/>
            <a:ext cx="365760" cy="0"/>
          </a:xfrm>
          <a:prstGeom prst="line">
            <a:avLst/>
          </a:prstGeom>
          <a:ln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9" name="CustomShape 39">
            <a:extLst>
              <a:ext uri="{FF2B5EF4-FFF2-40B4-BE49-F238E27FC236}">
                <a16:creationId xmlns:a16="http://schemas.microsoft.com/office/drawing/2014/main" id="{E6602DFD-D518-4A8A-B775-2291C91EABF1}"/>
              </a:ext>
            </a:extLst>
          </p:cNvPr>
          <p:cNvSpPr>
            <a:spLocks noGrp="1"/>
          </p:cNvSpPr>
          <p:nvPr/>
        </p:nvSpPr>
        <p:spPr>
          <a:xfrm>
            <a:off x="4489560" y="2980800"/>
            <a:ext cx="1462680" cy="6944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20" name="CustomShape 40">
            <a:extLst>
              <a:ext uri="{FF2B5EF4-FFF2-40B4-BE49-F238E27FC236}">
                <a16:creationId xmlns:a16="http://schemas.microsoft.com/office/drawing/2014/main" id="{1370FCFE-B676-43CD-B633-ACDF846302DB}"/>
              </a:ext>
            </a:extLst>
          </p:cNvPr>
          <p:cNvSpPr>
            <a:spLocks noGrp="1"/>
          </p:cNvSpPr>
          <p:nvPr/>
        </p:nvSpPr>
        <p:spPr>
          <a:xfrm>
            <a:off x="4489560" y="2980800"/>
            <a:ext cx="45360" cy="694440"/>
          </a:xfrm>
          <a:prstGeom prst="rect">
            <a:avLst/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21" name="CustomShape 41">
            <a:extLst>
              <a:ext uri="{FF2B5EF4-FFF2-40B4-BE49-F238E27FC236}">
                <a16:creationId xmlns:a16="http://schemas.microsoft.com/office/drawing/2014/main" id="{5B128731-5C4E-4463-95E7-9B6A37051F61}"/>
              </a:ext>
            </a:extLst>
          </p:cNvPr>
          <p:cNvSpPr>
            <a:spLocks noGrp="1"/>
          </p:cNvSpPr>
          <p:nvPr/>
        </p:nvSpPr>
        <p:spPr>
          <a:xfrm>
            <a:off x="4563000" y="3199680"/>
            <a:ext cx="1334520" cy="257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固定 TF 锚定</a:t>
            </a:r>
          </a:p>
        </p:txBody>
      </p:sp>
      <p:sp>
        <p:nvSpPr>
          <p:cNvPr id="422" name="Line 42">
            <a:extLst>
              <a:ext uri="{FF2B5EF4-FFF2-40B4-BE49-F238E27FC236}">
                <a16:creationId xmlns:a16="http://schemas.microsoft.com/office/drawing/2014/main" id="{9E00AEEE-42F2-4401-B10E-3248E19AE5D8}"/>
              </a:ext>
            </a:extLst>
          </p:cNvPr>
          <p:cNvSpPr>
            <a:spLocks noGrp="1"/>
          </p:cNvSpPr>
          <p:nvPr/>
        </p:nvSpPr>
        <p:spPr>
          <a:xfrm>
            <a:off x="5952600" y="3328200"/>
            <a:ext cx="320040" cy="0"/>
          </a:xfrm>
          <a:prstGeom prst="line">
            <a:avLst/>
          </a:prstGeom>
          <a:ln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23" name="CustomShape 43">
            <a:extLst>
              <a:ext uri="{FF2B5EF4-FFF2-40B4-BE49-F238E27FC236}">
                <a16:creationId xmlns:a16="http://schemas.microsoft.com/office/drawing/2014/main" id="{15F49D4E-3DAA-4DC3-9F27-3F226C50E1BD}"/>
              </a:ext>
            </a:extLst>
          </p:cNvPr>
          <p:cNvSpPr>
            <a:spLocks noGrp="1"/>
          </p:cNvSpPr>
          <p:nvPr/>
        </p:nvSpPr>
        <p:spPr>
          <a:xfrm>
            <a:off x="6272640" y="2980800"/>
            <a:ext cx="1901520" cy="69444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24" name="CustomShape 44">
            <a:extLst>
              <a:ext uri="{FF2B5EF4-FFF2-40B4-BE49-F238E27FC236}">
                <a16:creationId xmlns:a16="http://schemas.microsoft.com/office/drawing/2014/main" id="{361916AA-7F7D-4E4D-B8CE-1F23806000E6}"/>
              </a:ext>
            </a:extLst>
          </p:cNvPr>
          <p:cNvSpPr>
            <a:spLocks noGrp="1"/>
          </p:cNvSpPr>
          <p:nvPr/>
        </p:nvSpPr>
        <p:spPr>
          <a:xfrm>
            <a:off x="6272640" y="2980800"/>
            <a:ext cx="45360" cy="694440"/>
          </a:xfrm>
          <a:prstGeom prst="rect">
            <a:avLst/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25" name="CustomShape 45">
            <a:extLst>
              <a:ext uri="{FF2B5EF4-FFF2-40B4-BE49-F238E27FC236}">
                <a16:creationId xmlns:a16="http://schemas.microsoft.com/office/drawing/2014/main" id="{A4D881D0-9C08-4F5E-9896-442012DA115B}"/>
              </a:ext>
            </a:extLst>
          </p:cNvPr>
          <p:cNvSpPr>
            <a:spLocks noGrp="1"/>
          </p:cNvSpPr>
          <p:nvPr/>
        </p:nvSpPr>
        <p:spPr>
          <a:xfrm>
            <a:off x="6346080" y="3206880"/>
            <a:ext cx="177372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odom → uav0/map_local</a:t>
            </a:r>
          </a:p>
        </p:txBody>
      </p:sp>
      <p:sp>
        <p:nvSpPr>
          <p:cNvPr id="426" name="CustomShape 46">
            <a:extLst>
              <a:ext uri="{FF2B5EF4-FFF2-40B4-BE49-F238E27FC236}">
                <a16:creationId xmlns:a16="http://schemas.microsoft.com/office/drawing/2014/main" id="{169C5A4A-5A8A-4C6B-8DEB-0E14604C0958}"/>
              </a:ext>
            </a:extLst>
          </p:cNvPr>
          <p:cNvSpPr>
            <a:spLocks noGrp="1"/>
          </p:cNvSpPr>
          <p:nvPr/>
        </p:nvSpPr>
        <p:spPr>
          <a:xfrm>
            <a:off x="1243440" y="3840480"/>
            <a:ext cx="312696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27" name="CustomShape 47">
            <a:extLst>
              <a:ext uri="{FF2B5EF4-FFF2-40B4-BE49-F238E27FC236}">
                <a16:creationId xmlns:a16="http://schemas.microsoft.com/office/drawing/2014/main" id="{659CDD8A-993A-4F50-9AD3-06C052F8B556}"/>
              </a:ext>
            </a:extLst>
          </p:cNvPr>
          <p:cNvSpPr>
            <a:spLocks noGrp="1"/>
          </p:cNvSpPr>
          <p:nvPr/>
        </p:nvSpPr>
        <p:spPr>
          <a:xfrm>
            <a:off x="1371600" y="3746880"/>
            <a:ext cx="2871000" cy="644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86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锚定输入：UGV 初始位姿快照 + DLIO odom + UAV 生成位姿</a:t>
            </a:r>
          </a:p>
        </p:txBody>
      </p:sp>
      <p:sp>
        <p:nvSpPr>
          <p:cNvPr id="428" name="CustomShape 48">
            <a:extLst>
              <a:ext uri="{FF2B5EF4-FFF2-40B4-BE49-F238E27FC236}">
                <a16:creationId xmlns:a16="http://schemas.microsoft.com/office/drawing/2014/main" id="{79B0CE66-1F87-4912-BC9E-F129E59A6F66}"/>
              </a:ext>
            </a:extLst>
          </p:cNvPr>
          <p:cNvSpPr>
            <a:spLocks noGrp="1"/>
          </p:cNvSpPr>
          <p:nvPr/>
        </p:nvSpPr>
        <p:spPr>
          <a:xfrm>
            <a:off x="4498920" y="3840480"/>
            <a:ext cx="367560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29" name="CustomShape 49">
            <a:extLst>
              <a:ext uri="{FF2B5EF4-FFF2-40B4-BE49-F238E27FC236}">
                <a16:creationId xmlns:a16="http://schemas.microsoft.com/office/drawing/2014/main" id="{15D3EC73-9E72-4E9D-A41E-2FC5B78C8DE9}"/>
              </a:ext>
            </a:extLst>
          </p:cNvPr>
          <p:cNvSpPr>
            <a:spLocks noGrp="1"/>
          </p:cNvSpPr>
          <p:nvPr/>
        </p:nvSpPr>
        <p:spPr>
          <a:xfrm>
            <a:off x="4626720" y="3851280"/>
            <a:ext cx="3419640" cy="43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86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锁存 odom → uav0/map_local；目标通过 TF 交接</a:t>
            </a:r>
          </a:p>
        </p:txBody>
      </p:sp>
      <p:sp>
        <p:nvSpPr>
          <p:cNvPr id="430" name="CustomShape 50">
            <a:extLst>
              <a:ext uri="{FF2B5EF4-FFF2-40B4-BE49-F238E27FC236}">
                <a16:creationId xmlns:a16="http://schemas.microsoft.com/office/drawing/2014/main" id="{DC042ACD-ED8F-4975-BDFF-C73C62D5F0A7}"/>
              </a:ext>
            </a:extLst>
          </p:cNvPr>
          <p:cNvSpPr>
            <a:spLocks noGrp="1"/>
          </p:cNvSpPr>
          <p:nvPr/>
        </p:nvSpPr>
        <p:spPr>
          <a:xfrm>
            <a:off x="685800" y="4322880"/>
            <a:ext cx="747036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锚定后不再用真值更新；UGV 地面导航只依赖 DLIO odom。</a:t>
            </a:r>
          </a:p>
        </p:txBody>
      </p:sp>
      <p:sp>
        <p:nvSpPr>
          <p:cNvPr id="431" name="CustomShape 51">
            <a:extLst>
              <a:ext uri="{FF2B5EF4-FFF2-40B4-BE49-F238E27FC236}">
                <a16:creationId xmlns:a16="http://schemas.microsoft.com/office/drawing/2014/main" id="{5F527244-4189-42D5-8354-A29FB59302AD}"/>
              </a:ext>
            </a:extLst>
          </p:cNvPr>
          <p:cNvSpPr>
            <a:spLocks noGrp="1"/>
          </p:cNvSpPr>
          <p:nvPr/>
        </p:nvSpPr>
        <p:spPr>
          <a:xfrm>
            <a:off x="8778240" y="3620880"/>
            <a:ext cx="2962440" cy="11700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32" name="CustomShape 52">
            <a:extLst>
              <a:ext uri="{FF2B5EF4-FFF2-40B4-BE49-F238E27FC236}">
                <a16:creationId xmlns:a16="http://schemas.microsoft.com/office/drawing/2014/main" id="{45E3A57C-B997-4184-A7EC-D29933F39FEA}"/>
              </a:ext>
            </a:extLst>
          </p:cNvPr>
          <p:cNvSpPr>
            <a:spLocks noGrp="1"/>
          </p:cNvSpPr>
          <p:nvPr/>
        </p:nvSpPr>
        <p:spPr>
          <a:xfrm>
            <a:off x="8961120" y="3749040"/>
            <a:ext cx="959760" cy="59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700" b="1">
                <a:solidFill>
                  <a:srgbClr val="4F8CFF"/>
                </a:solidFill>
                <a:latin typeface="Noto Sans CJK SC"/>
                <a:ea typeface="Noto Sans CJK SC"/>
                <a:cs typeface="Noto Sans CJK SC"/>
              </a:rPr>
              <a:t>最终 TF 树</a:t>
            </a:r>
          </a:p>
        </p:txBody>
      </p:sp>
      <p:sp>
        <p:nvSpPr>
          <p:cNvPr id="433" name="CustomShape 53">
            <a:extLst>
              <a:ext uri="{FF2B5EF4-FFF2-40B4-BE49-F238E27FC236}">
                <a16:creationId xmlns:a16="http://schemas.microsoft.com/office/drawing/2014/main" id="{8AE8DB78-2743-468C-88A2-7A9A89A97575}"/>
              </a:ext>
            </a:extLst>
          </p:cNvPr>
          <p:cNvSpPr>
            <a:spLocks noGrp="1"/>
          </p:cNvSpPr>
          <p:nvPr/>
        </p:nvSpPr>
        <p:spPr>
          <a:xfrm>
            <a:off x="9738360" y="3484440"/>
            <a:ext cx="1791720" cy="1370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odom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├── base_link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└── uav0/map_local</a:t>
            </a:r>
          </a:p>
          <a:p>
            <a:pPr>
              <a:lnSpc>
                <a:spcPct val="78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    └── uav0/base_link</a:t>
            </a:r>
          </a:p>
        </p:txBody>
      </p:sp>
      <p:sp>
        <p:nvSpPr>
          <p:cNvPr id="434" name="CustomShape 54">
            <a:extLst>
              <a:ext uri="{FF2B5EF4-FFF2-40B4-BE49-F238E27FC236}">
                <a16:creationId xmlns:a16="http://schemas.microsoft.com/office/drawing/2014/main" id="{D52EB7B5-156F-4EF2-8C51-C91D9A76F40B}"/>
              </a:ext>
            </a:extLst>
          </p:cNvPr>
          <p:cNvSpPr>
            <a:spLocks noGrp="1"/>
          </p:cNvSpPr>
          <p:nvPr/>
        </p:nvSpPr>
        <p:spPr>
          <a:xfrm>
            <a:off x="8778240" y="4919400"/>
            <a:ext cx="2962440" cy="109692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35" name="CustomShape 55">
            <a:extLst>
              <a:ext uri="{FF2B5EF4-FFF2-40B4-BE49-F238E27FC236}">
                <a16:creationId xmlns:a16="http://schemas.microsoft.com/office/drawing/2014/main" id="{5A98548D-D9AA-48EE-9BD2-D123A70F8A53}"/>
              </a:ext>
            </a:extLst>
          </p:cNvPr>
          <p:cNvSpPr>
            <a:spLocks noGrp="1"/>
          </p:cNvSpPr>
          <p:nvPr/>
        </p:nvSpPr>
        <p:spPr>
          <a:xfrm>
            <a:off x="8961120" y="5001840"/>
            <a:ext cx="2596680" cy="33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自身坐标契约</a:t>
            </a:r>
          </a:p>
        </p:txBody>
      </p:sp>
      <p:sp>
        <p:nvSpPr>
          <p:cNvPr id="436" name="CustomShape 56">
            <a:extLst>
              <a:ext uri="{FF2B5EF4-FFF2-40B4-BE49-F238E27FC236}">
                <a16:creationId xmlns:a16="http://schemas.microsoft.com/office/drawing/2014/main" id="{48FB38BF-7243-4C0A-B6B9-D6AD0A679B94}"/>
              </a:ext>
            </a:extLst>
          </p:cNvPr>
          <p:cNvSpPr>
            <a:spLocks noGrp="1"/>
          </p:cNvSpPr>
          <p:nvPr/>
        </p:nvSpPr>
        <p:spPr>
          <a:xfrm>
            <a:off x="8961120" y="5340240"/>
            <a:ext cx="2596680" cy="46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固定锚定 / 时间戳 / 高程一致</a:t>
            </a:r>
          </a:p>
          <a:p>
            <a:pPr algn="ctr">
              <a:lnSpc>
                <a:spcPct val="82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terrain frame_id = odom</a:t>
            </a:r>
          </a:p>
        </p:txBody>
      </p:sp>
      <p:sp>
        <p:nvSpPr>
          <p:cNvPr id="437" name="CustomShape 57">
            <a:extLst>
              <a:ext uri="{FF2B5EF4-FFF2-40B4-BE49-F238E27FC236}">
                <a16:creationId xmlns:a16="http://schemas.microsoft.com/office/drawing/2014/main" id="{6D3DB7BF-07A2-49F0-BC39-41CE2DEA20D8}"/>
              </a:ext>
            </a:extLst>
          </p:cNvPr>
          <p:cNvSpPr>
            <a:spLocks noGrp="1"/>
          </p:cNvSpPr>
          <p:nvPr/>
        </p:nvSpPr>
        <p:spPr>
          <a:xfrm>
            <a:off x="438840" y="4736520"/>
            <a:ext cx="8083080" cy="12798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38" name="CustomShape 58">
            <a:extLst>
              <a:ext uri="{FF2B5EF4-FFF2-40B4-BE49-F238E27FC236}">
                <a16:creationId xmlns:a16="http://schemas.microsoft.com/office/drawing/2014/main" id="{FA184C7E-171C-4BCC-9E39-371C97F65C9C}"/>
              </a:ext>
            </a:extLst>
          </p:cNvPr>
          <p:cNvSpPr>
            <a:spLocks noGrp="1"/>
          </p:cNvSpPr>
          <p:nvPr/>
        </p:nvSpPr>
        <p:spPr>
          <a:xfrm>
            <a:off x="658440" y="4764600"/>
            <a:ext cx="3529080" cy="5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25D5D0"/>
                </a:solidFill>
                <a:latin typeface="Noto Sans Mono CJK SC"/>
                <a:ea typeface="Noto Sans Mono CJK SC"/>
                <a:cs typeface="Noto Sans Mono CJK SC"/>
              </a:rPr>
              <a:t>T_odom_base = DLIO 连续里程计输出</a:t>
            </a:r>
          </a:p>
        </p:txBody>
      </p:sp>
      <p:sp>
        <p:nvSpPr>
          <p:cNvPr id="439" name="CustomShape 59">
            <a:extLst>
              <a:ext uri="{FF2B5EF4-FFF2-40B4-BE49-F238E27FC236}">
                <a16:creationId xmlns:a16="http://schemas.microsoft.com/office/drawing/2014/main" id="{890722E4-5AE4-4E7B-A371-C6990117488F}"/>
              </a:ext>
            </a:extLst>
          </p:cNvPr>
          <p:cNvSpPr>
            <a:spLocks noGrp="1"/>
          </p:cNvSpPr>
          <p:nvPr/>
        </p:nvSpPr>
        <p:spPr>
          <a:xfrm>
            <a:off x="4260960" y="4804560"/>
            <a:ext cx="3986280" cy="50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p_mine_uavlocal 经 TF 转为 p_mine_odom → 计算导航停车点</a:t>
            </a:r>
          </a:p>
        </p:txBody>
      </p:sp>
      <p:sp>
        <p:nvSpPr>
          <p:cNvPr id="440" name="CustomShape 60">
            <a:extLst>
              <a:ext uri="{FF2B5EF4-FFF2-40B4-BE49-F238E27FC236}">
                <a16:creationId xmlns:a16="http://schemas.microsoft.com/office/drawing/2014/main" id="{86875571-DDBF-47E8-A692-A54B7A6E1014}"/>
              </a:ext>
            </a:extLst>
          </p:cNvPr>
          <p:cNvSpPr>
            <a:spLocks noGrp="1"/>
          </p:cNvSpPr>
          <p:nvPr/>
        </p:nvSpPr>
        <p:spPr>
          <a:xfrm>
            <a:off x="658440" y="5336640"/>
            <a:ext cx="758916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近场坐标：p_mine_base = inverse(T_odom_base) · p_mine_odom</a:t>
            </a:r>
          </a:p>
        </p:txBody>
      </p:sp>
      <p:sp>
        <p:nvSpPr>
          <p:cNvPr id="441" name="CustomShape 61">
            <a:extLst>
              <a:ext uri="{FF2B5EF4-FFF2-40B4-BE49-F238E27FC236}">
                <a16:creationId xmlns:a16="http://schemas.microsoft.com/office/drawing/2014/main" id="{40581407-5116-4893-901E-D8957C2FAE49}"/>
              </a:ext>
            </a:extLst>
          </p:cNvPr>
          <p:cNvSpPr>
            <a:spLocks noGrp="1"/>
          </p:cNvSpPr>
          <p:nvPr/>
        </p:nvSpPr>
        <p:spPr>
          <a:xfrm>
            <a:off x="658440" y="5536080"/>
            <a:ext cx="7589160" cy="50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/terrain_map 在 odom；/mine_detection/map 在 uav0/map_local；交接时 TF 到 odom。</a:t>
            </a:r>
          </a:p>
        </p:txBody>
      </p:sp>
      <p:sp>
        <p:nvSpPr>
          <p:cNvPr id="442" name="CustomShape 62">
            <a:extLst>
              <a:ext uri="{FF2B5EF4-FFF2-40B4-BE49-F238E27FC236}">
                <a16:creationId xmlns:a16="http://schemas.microsoft.com/office/drawing/2014/main" id="{7605814C-1393-4C5B-84EF-30E42C4D0F2C}"/>
              </a:ext>
            </a:extLst>
          </p:cNvPr>
          <p:cNvSpPr>
            <a:spLocks noGrp="1"/>
          </p:cNvSpPr>
          <p:nvPr/>
        </p:nvSpPr>
        <p:spPr>
          <a:xfrm>
            <a:off x="603360" y="6030000"/>
            <a:ext cx="10972440" cy="50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真机若需地理坐标，可另接 RTK/配准；默认 odom 任务接口保持不变。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0C096416-9D0B-4AFC-B870-0F5B7562C332}"/>
              </a:ext>
            </a:extLst>
          </p:cNvPr>
          <p:cNvSpPr>
            <a:spLocks noGrp="1"/>
          </p:cNvSpPr>
          <p:nvPr/>
        </p:nvSpPr>
        <p:spPr>
          <a:xfrm>
            <a:off x="384048" y="1024128"/>
            <a:ext cx="11411712" cy="5349240"/>
          </a:xfrm>
          <a:prstGeom prst="rect">
            <a:avLst/>
          </a:prstGeom>
          <a:solidFill>
            <a:srgbClr val="0C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4" name="Rounded Rectangle 443">
            <a:extLst>
              <a:ext uri="{FF2B5EF4-FFF2-40B4-BE49-F238E27FC236}">
                <a16:creationId xmlns:a16="http://schemas.microsoft.com/office/drawing/2014/main" id="{C9F3D785-FD74-48FB-B99C-9E50544BDC4A}"/>
              </a:ext>
            </a:extLst>
          </p:cNvPr>
          <p:cNvSpPr>
            <a:spLocks noGrp="1"/>
          </p:cNvSpPr>
          <p:nvPr/>
        </p:nvSpPr>
        <p:spPr>
          <a:xfrm>
            <a:off x="566928" y="1389888"/>
            <a:ext cx="1481328" cy="658368"/>
          </a:xfrm>
          <a:prstGeom prst="roundRect">
            <a:avLst/>
          </a:prstGeom>
          <a:solidFill>
            <a:srgbClr val="142A4B"/>
          </a:solidFill>
          <a:ln>
            <a:solidFill>
              <a:srgbClr val="3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796F834D-1E17-4407-A654-D492C7AFB501}"/>
              </a:ext>
            </a:extLst>
          </p:cNvPr>
          <p:cNvSpPr>
            <a:spLocks noGrp="1"/>
          </p:cNvSpPr>
          <p:nvPr/>
        </p:nvSpPr>
        <p:spPr>
          <a:xfrm>
            <a:off x="594360" y="1591056"/>
            <a:ext cx="1426464" cy="21031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0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VLP-16 + IMU</a:t>
            </a:r>
          </a:p>
        </p:txBody>
      </p:sp>
      <p:sp>
        <p:nvSpPr>
          <p:cNvPr id="446" name="Rounded Rectangle 445">
            <a:extLst>
              <a:ext uri="{FF2B5EF4-FFF2-40B4-BE49-F238E27FC236}">
                <a16:creationId xmlns:a16="http://schemas.microsoft.com/office/drawing/2014/main" id="{2BE6A90D-FB84-4A79-876A-26D5ED455232}"/>
              </a:ext>
            </a:extLst>
          </p:cNvPr>
          <p:cNvSpPr>
            <a:spLocks noGrp="1"/>
          </p:cNvSpPr>
          <p:nvPr/>
        </p:nvSpPr>
        <p:spPr>
          <a:xfrm>
            <a:off x="2331720" y="1389888"/>
            <a:ext cx="1481328" cy="658368"/>
          </a:xfrm>
          <a:prstGeom prst="roundRect">
            <a:avLst/>
          </a:prstGeom>
          <a:solidFill>
            <a:srgbClr val="142A4B"/>
          </a:solidFill>
          <a:ln>
            <a:solidFill>
              <a:srgbClr val="3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5F8BB6A7-C195-4CF9-AFE5-F8B2EEF227A9}"/>
              </a:ext>
            </a:extLst>
          </p:cNvPr>
          <p:cNvSpPr>
            <a:spLocks noGrp="1"/>
          </p:cNvSpPr>
          <p:nvPr/>
        </p:nvSpPr>
        <p:spPr>
          <a:xfrm>
            <a:off x="2359151" y="1591056"/>
            <a:ext cx="1426464" cy="21031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0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robot_body_filter</a:t>
            </a:r>
          </a:p>
        </p:txBody>
      </p:sp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044D8CA7-9485-4EB5-A3A4-1EC0B88D8897}"/>
              </a:ext>
            </a:extLst>
          </p:cNvPr>
          <p:cNvSpPr>
            <a:spLocks noGrp="1"/>
          </p:cNvSpPr>
          <p:nvPr/>
        </p:nvSpPr>
        <p:spPr>
          <a:xfrm>
            <a:off x="4096512" y="1389888"/>
            <a:ext cx="1481328" cy="658368"/>
          </a:xfrm>
          <a:prstGeom prst="roundRect">
            <a:avLst/>
          </a:prstGeom>
          <a:solidFill>
            <a:srgbClr val="142A4B"/>
          </a:solidFill>
          <a:ln>
            <a:solidFill>
              <a:srgbClr val="3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9A528773-A329-49F8-B997-7F00A8787A6B}"/>
              </a:ext>
            </a:extLst>
          </p:cNvPr>
          <p:cNvSpPr>
            <a:spLocks noGrp="1"/>
          </p:cNvSpPr>
          <p:nvPr/>
        </p:nvSpPr>
        <p:spPr>
          <a:xfrm>
            <a:off x="4123944" y="1591056"/>
            <a:ext cx="1426464" cy="21031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0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DLIO / FAST-LIO</a:t>
            </a:r>
          </a:p>
        </p:txBody>
      </p:sp>
      <p:sp>
        <p:nvSpPr>
          <p:cNvPr id="450" name="Rounded Rectangle 449">
            <a:extLst>
              <a:ext uri="{FF2B5EF4-FFF2-40B4-BE49-F238E27FC236}">
                <a16:creationId xmlns:a16="http://schemas.microsoft.com/office/drawing/2014/main" id="{62B95BD4-3844-4660-BA53-9AB6FBD1C5CF}"/>
              </a:ext>
            </a:extLst>
          </p:cNvPr>
          <p:cNvSpPr>
            <a:spLocks noGrp="1"/>
          </p:cNvSpPr>
          <p:nvPr/>
        </p:nvSpPr>
        <p:spPr>
          <a:xfrm>
            <a:off x="5861304" y="1389888"/>
            <a:ext cx="1481328" cy="658368"/>
          </a:xfrm>
          <a:prstGeom prst="roundRect">
            <a:avLst/>
          </a:prstGeom>
          <a:solidFill>
            <a:srgbClr val="142A4B"/>
          </a:solidFill>
          <a:ln>
            <a:solidFill>
              <a:srgbClr val="3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589F04BA-6827-4D74-A465-E624899F12E3}"/>
              </a:ext>
            </a:extLst>
          </p:cNvPr>
          <p:cNvSpPr>
            <a:spLocks noGrp="1"/>
          </p:cNvSpPr>
          <p:nvPr/>
        </p:nvSpPr>
        <p:spPr>
          <a:xfrm>
            <a:off x="5888736" y="1591056"/>
            <a:ext cx="1426464" cy="21031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0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terrain / elevation</a:t>
            </a:r>
          </a:p>
        </p:txBody>
      </p:sp>
      <p:sp>
        <p:nvSpPr>
          <p:cNvPr id="452" name="Rounded Rectangle 451">
            <a:extLst>
              <a:ext uri="{FF2B5EF4-FFF2-40B4-BE49-F238E27FC236}">
                <a16:creationId xmlns:a16="http://schemas.microsoft.com/office/drawing/2014/main" id="{00D8262A-0E8F-4F02-A964-1D6832EB33AF}"/>
              </a:ext>
            </a:extLst>
          </p:cNvPr>
          <p:cNvSpPr>
            <a:spLocks noGrp="1"/>
          </p:cNvSpPr>
          <p:nvPr/>
        </p:nvSpPr>
        <p:spPr>
          <a:xfrm>
            <a:off x="7626096" y="1389888"/>
            <a:ext cx="1481328" cy="658368"/>
          </a:xfrm>
          <a:prstGeom prst="roundRect">
            <a:avLst/>
          </a:prstGeom>
          <a:solidFill>
            <a:srgbClr val="142A4B"/>
          </a:solidFill>
          <a:ln>
            <a:solidFill>
              <a:srgbClr val="3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F534182C-D206-4D39-887B-E8705E810520}"/>
              </a:ext>
            </a:extLst>
          </p:cNvPr>
          <p:cNvSpPr>
            <a:spLocks noGrp="1"/>
          </p:cNvSpPr>
          <p:nvPr/>
        </p:nvSpPr>
        <p:spPr>
          <a:xfrm>
            <a:off x="7653527" y="1591056"/>
            <a:ext cx="1426464" cy="21031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0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CMU localPlanner</a:t>
            </a:r>
          </a:p>
        </p:txBody>
      </p:sp>
      <p:sp>
        <p:nvSpPr>
          <p:cNvPr id="454" name="Rounded Rectangle 453">
            <a:extLst>
              <a:ext uri="{FF2B5EF4-FFF2-40B4-BE49-F238E27FC236}">
                <a16:creationId xmlns:a16="http://schemas.microsoft.com/office/drawing/2014/main" id="{56AF84B6-DADB-4DAD-95E5-10939B626A61}"/>
              </a:ext>
            </a:extLst>
          </p:cNvPr>
          <p:cNvSpPr>
            <a:spLocks noGrp="1"/>
          </p:cNvSpPr>
          <p:nvPr/>
        </p:nvSpPr>
        <p:spPr>
          <a:xfrm>
            <a:off x="9390888" y="1389888"/>
            <a:ext cx="1481328" cy="658368"/>
          </a:xfrm>
          <a:prstGeom prst="roundRect">
            <a:avLst/>
          </a:prstGeom>
          <a:solidFill>
            <a:srgbClr val="142A4B"/>
          </a:solidFill>
          <a:ln>
            <a:solidFill>
              <a:srgbClr val="3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6762A4C-889F-4071-8283-3025A7F42F28}"/>
              </a:ext>
            </a:extLst>
          </p:cNvPr>
          <p:cNvSpPr>
            <a:spLocks noGrp="1"/>
          </p:cNvSpPr>
          <p:nvPr/>
        </p:nvSpPr>
        <p:spPr>
          <a:xfrm>
            <a:off x="9418319" y="1591056"/>
            <a:ext cx="1426464" cy="21031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0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pathFollower → Husky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157739DA-0CFE-4AE9-8E19-AF288400FD64}"/>
              </a:ext>
            </a:extLst>
          </p:cNvPr>
          <p:cNvSpPr>
            <a:spLocks noGrp="1"/>
          </p:cNvSpPr>
          <p:nvPr/>
        </p:nvSpPr>
        <p:spPr>
          <a:xfrm>
            <a:off x="2093976" y="1572768"/>
            <a:ext cx="228600" cy="22860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54C9DEE3-66B9-4932-824A-07CE4AA188C8}"/>
              </a:ext>
            </a:extLst>
          </p:cNvPr>
          <p:cNvSpPr>
            <a:spLocks noGrp="1"/>
          </p:cNvSpPr>
          <p:nvPr/>
        </p:nvSpPr>
        <p:spPr>
          <a:xfrm>
            <a:off x="3858768" y="1572768"/>
            <a:ext cx="228600" cy="22860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FDED9819-6B62-4D3C-B101-0C8325342410}"/>
              </a:ext>
            </a:extLst>
          </p:cNvPr>
          <p:cNvSpPr>
            <a:spLocks noGrp="1"/>
          </p:cNvSpPr>
          <p:nvPr/>
        </p:nvSpPr>
        <p:spPr>
          <a:xfrm>
            <a:off x="5623560" y="1572768"/>
            <a:ext cx="228600" cy="22860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89804F75-E43A-4657-81E4-221699977D1C}"/>
              </a:ext>
            </a:extLst>
          </p:cNvPr>
          <p:cNvSpPr>
            <a:spLocks noGrp="1"/>
          </p:cNvSpPr>
          <p:nvPr/>
        </p:nvSpPr>
        <p:spPr>
          <a:xfrm>
            <a:off x="7388352" y="1572768"/>
            <a:ext cx="228600" cy="22860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F5BDE7F1-922D-4610-A66D-346ED89E80AF}"/>
              </a:ext>
            </a:extLst>
          </p:cNvPr>
          <p:cNvSpPr>
            <a:spLocks noGrp="1"/>
          </p:cNvSpPr>
          <p:nvPr/>
        </p:nvSpPr>
        <p:spPr>
          <a:xfrm>
            <a:off x="9153144" y="1572768"/>
            <a:ext cx="228600" cy="22860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461" name="Rounded Rectangle 460">
            <a:extLst>
              <a:ext uri="{FF2B5EF4-FFF2-40B4-BE49-F238E27FC236}">
                <a16:creationId xmlns:a16="http://schemas.microsoft.com/office/drawing/2014/main" id="{B9DF72C5-A631-4E72-9D1E-82EAD5F87A58}"/>
              </a:ext>
            </a:extLst>
          </p:cNvPr>
          <p:cNvSpPr>
            <a:spLocks noGrp="1"/>
          </p:cNvSpPr>
          <p:nvPr/>
        </p:nvSpPr>
        <p:spPr>
          <a:xfrm>
            <a:off x="612648" y="2377440"/>
            <a:ext cx="3401568" cy="347472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85621112-381A-4E2B-9F61-976AFD55FB59}"/>
              </a:ext>
            </a:extLst>
          </p:cNvPr>
          <p:cNvSpPr>
            <a:spLocks noGrp="1"/>
          </p:cNvSpPr>
          <p:nvPr/>
        </p:nvSpPr>
        <p:spPr>
          <a:xfrm>
            <a:off x="758952" y="2478024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误差从哪里来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A4A29CDD-710B-4B89-B298-2868A511902E}"/>
              </a:ext>
            </a:extLst>
          </p:cNvPr>
          <p:cNvSpPr>
            <a:spLocks noGrp="1"/>
          </p:cNvSpPr>
          <p:nvPr/>
        </p:nvSpPr>
        <p:spPr>
          <a:xfrm>
            <a:off x="758952" y="2852928"/>
            <a:ext cx="3108960" cy="2926079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• UAV </a:t>
            </a:r>
            <a:r>
              <a:rPr dirty="0" err="1"/>
              <a:t>位姿估计存在漂移与时延</a:t>
            </a:r>
            <a:endParaRPr dirty="0"/>
          </a:p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• LiDAR </a:t>
            </a:r>
            <a:r>
              <a:rPr dirty="0" err="1"/>
              <a:t>有量测噪声、遮挡和外参误差</a:t>
            </a:r>
            <a:endParaRPr dirty="0"/>
          </a:p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• </a:t>
            </a:r>
            <a:r>
              <a:rPr dirty="0" err="1"/>
              <a:t>点云投影到公共系后，误差会进入</a:t>
            </a:r>
            <a:r>
              <a:rPr dirty="0"/>
              <a:t> elevation map</a:t>
            </a:r>
          </a:p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• </a:t>
            </a:r>
            <a:r>
              <a:rPr dirty="0" err="1"/>
              <a:t>系统不把这些误差隐藏在一个“完美全局地图”假设中</a:t>
            </a:r>
            <a:endParaRPr dirty="0"/>
          </a:p>
        </p:txBody>
      </p:sp>
      <p:sp>
        <p:nvSpPr>
          <p:cNvPr id="464" name="Rounded Rectangle 463">
            <a:extLst>
              <a:ext uri="{FF2B5EF4-FFF2-40B4-BE49-F238E27FC236}">
                <a16:creationId xmlns:a16="http://schemas.microsoft.com/office/drawing/2014/main" id="{3C28EAAE-3090-4707-B690-577325703548}"/>
              </a:ext>
            </a:extLst>
          </p:cNvPr>
          <p:cNvSpPr>
            <a:spLocks noGrp="1"/>
          </p:cNvSpPr>
          <p:nvPr/>
        </p:nvSpPr>
        <p:spPr>
          <a:xfrm>
            <a:off x="4370832" y="2377440"/>
            <a:ext cx="3401568" cy="347472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FC3B06F4-2C10-4E55-8C55-C158F77EEEAC}"/>
              </a:ext>
            </a:extLst>
          </p:cNvPr>
          <p:cNvSpPr>
            <a:spLocks noGrp="1"/>
          </p:cNvSpPr>
          <p:nvPr/>
        </p:nvSpPr>
        <p:spPr>
          <a:xfrm>
            <a:off x="4517136" y="2478024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defRPr>
            </a:pPr>
            <a:r>
              <a:t>Egocentric 的处理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5A396238-0C91-4035-B6DE-FF46272573F0}"/>
              </a:ext>
            </a:extLst>
          </p:cNvPr>
          <p:cNvSpPr>
            <a:spLocks noGrp="1"/>
          </p:cNvSpPr>
          <p:nvPr/>
        </p:nvSpPr>
        <p:spPr>
          <a:xfrm>
            <a:off x="4517136" y="2852928"/>
            <a:ext cx="3108960" cy="2926079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• UGV 以连续的 odom 为唯一权威根系</a:t>
            </a:r>
          </a:p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• UAV elevation 作为带误差的 prior / cost source</a:t>
            </a:r>
          </a:p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• UGV LiDAR 在当前局部窗口补充真实近场信息</a:t>
            </a:r>
          </a:p>
          <a:p>
            <a:pPr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误差保留在坐标对齐与地图置信度中，不强行分摊到整张地图</a:t>
            </a:r>
          </a:p>
        </p:txBody>
      </p:sp>
      <p:sp>
        <p:nvSpPr>
          <p:cNvPr id="467" name="Rounded Rectangle 466">
            <a:extLst>
              <a:ext uri="{FF2B5EF4-FFF2-40B4-BE49-F238E27FC236}">
                <a16:creationId xmlns:a16="http://schemas.microsoft.com/office/drawing/2014/main" id="{9739C67B-4091-42B6-A21E-8A7FE4E858AA}"/>
              </a:ext>
            </a:extLst>
          </p:cNvPr>
          <p:cNvSpPr>
            <a:spLocks noGrp="1"/>
          </p:cNvSpPr>
          <p:nvPr/>
        </p:nvSpPr>
        <p:spPr>
          <a:xfrm>
            <a:off x="8129016" y="2377440"/>
            <a:ext cx="3401568" cy="347472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200910D4-0A2B-4090-A1F4-EF44EC0CA93D}"/>
              </a:ext>
            </a:extLst>
          </p:cNvPr>
          <p:cNvSpPr>
            <a:spLocks noGrp="1"/>
          </p:cNvSpPr>
          <p:nvPr/>
        </p:nvSpPr>
        <p:spPr>
          <a:xfrm>
            <a:off x="8275320" y="2478024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FFB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为什么不做全局 BA / 回环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0A4B7DFB-393F-462C-AA3E-78218B31E20F}"/>
              </a:ext>
            </a:extLst>
          </p:cNvPr>
          <p:cNvSpPr>
            <a:spLocks noGrp="1"/>
          </p:cNvSpPr>
          <p:nvPr/>
        </p:nvSpPr>
        <p:spPr>
          <a:xfrm>
            <a:off x="8275320" y="2852928"/>
            <a:ext cx="3108960" cy="2926079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全局 BA 或 loop closure 会回溯修改历史位姿；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已经融合的高程观测却无法无损“撤回再融合”，容易产生重影、台阶和地形撕裂。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因此我们选择局部一致性优先：不让后端全局修正破坏含真实近场信息的 elevation map。</a:t>
            </a:r>
          </a:p>
        </p:txBody>
      </p:sp>
    </p:spTree>
    <p:extLst>
      <p:ext uri="{BB962C8B-B14F-4D97-AF65-F5344CB8AC3E}">
        <p14:creationId xmlns:p14="http://schemas.microsoft.com/office/powerpoint/2010/main" val="141242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753CE5-3C12-4B8C-88F1-AD2C6DB230F2}"/>
              </a:ext>
            </a:extLst>
          </p:cNvPr>
          <p:cNvSpPr>
            <a:spLocks noGrp="1"/>
          </p:cNvSpPr>
          <p:nvPr/>
        </p:nvSpPr>
        <p:spPr>
          <a:xfrm>
            <a:off x="438912" y="228600"/>
            <a:ext cx="50292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07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F8D45-EA22-4EEB-89D7-1F67D8463C75}"/>
              </a:ext>
            </a:extLst>
          </p:cNvPr>
          <p:cNvSpPr>
            <a:spLocks noGrp="1"/>
          </p:cNvSpPr>
          <p:nvPr/>
        </p:nvSpPr>
        <p:spPr>
          <a:xfrm>
            <a:off x="960120" y="146304"/>
            <a:ext cx="10698480" cy="48463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24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误差传播链与定制 CMU 地形代价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D492FA-216C-47A5-BA85-B8CA9CF4BB54}"/>
              </a:ext>
            </a:extLst>
          </p:cNvPr>
          <p:cNvSpPr>
            <a:spLocks noGrp="1"/>
          </p:cNvSpPr>
          <p:nvPr/>
        </p:nvSpPr>
        <p:spPr>
          <a:xfrm>
            <a:off x="978408" y="649224"/>
            <a:ext cx="1060704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300" b="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t>把空中先验的不确定性传到地图与规划代价中，而不是用全局优化把误差隐藏起来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493ECB0-BB44-45F5-8B4E-DE0C797F0025}"/>
              </a:ext>
            </a:extLst>
          </p:cNvPr>
          <p:cNvSpPr>
            <a:spLocks noGrp="1"/>
          </p:cNvSpPr>
          <p:nvPr/>
        </p:nvSpPr>
        <p:spPr>
          <a:xfrm>
            <a:off x="566928" y="1170432"/>
            <a:ext cx="5440680" cy="201168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6727D-ABD2-4C8D-83C9-1AE6DABC1433}"/>
              </a:ext>
            </a:extLst>
          </p:cNvPr>
          <p:cNvSpPr>
            <a:spLocks noGrp="1"/>
          </p:cNvSpPr>
          <p:nvPr/>
        </p:nvSpPr>
        <p:spPr>
          <a:xfrm>
            <a:off x="704088" y="1261872"/>
            <a:ext cx="51663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空中点落入 elevation map 的误差链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5ECD7-3AE1-4B7B-A7E4-711815C7507D}"/>
              </a:ext>
            </a:extLst>
          </p:cNvPr>
          <p:cNvSpPr>
            <a:spLocks noGrp="1"/>
          </p:cNvSpPr>
          <p:nvPr/>
        </p:nvSpPr>
        <p:spPr>
          <a:xfrm>
            <a:off x="704088" y="1627632"/>
            <a:ext cx="5166360" cy="148132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p_map</a:t>
            </a:r>
            <a:r>
              <a:rPr dirty="0"/>
              <a:t> = </a:t>
            </a:r>
            <a:r>
              <a:rPr dirty="0" err="1"/>
              <a:t>T_map,uav</a:t>
            </a:r>
            <a:r>
              <a:rPr dirty="0"/>
              <a:t>(t) · </a:t>
            </a:r>
            <a:r>
              <a:rPr dirty="0" err="1"/>
              <a:t>T_uav,lidar</a:t>
            </a:r>
            <a:r>
              <a:rPr dirty="0"/>
              <a:t> · </a:t>
            </a:r>
            <a:r>
              <a:rPr dirty="0" err="1"/>
              <a:t>p_lidar</a:t>
            </a: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δp_map</a:t>
            </a:r>
            <a:r>
              <a:rPr dirty="0"/>
              <a:t> ≈ </a:t>
            </a:r>
            <a:r>
              <a:rPr dirty="0" err="1"/>
              <a:t>J_pose</a:t>
            </a:r>
            <a:r>
              <a:rPr dirty="0"/>
              <a:t> </a:t>
            </a:r>
            <a:r>
              <a:rPr dirty="0" err="1"/>
              <a:t>δξ_uav</a:t>
            </a:r>
            <a:r>
              <a:rPr dirty="0"/>
              <a:t> + </a:t>
            </a:r>
            <a:r>
              <a:rPr dirty="0" err="1"/>
              <a:t>R_map,uav</a:t>
            </a:r>
            <a:r>
              <a:rPr dirty="0"/>
              <a:t> </a:t>
            </a:r>
            <a:r>
              <a:rPr dirty="0" err="1"/>
              <a:t>R_uav,lidar</a:t>
            </a:r>
            <a:r>
              <a:rPr dirty="0"/>
              <a:t> </a:t>
            </a:r>
            <a:r>
              <a:rPr dirty="0" err="1"/>
              <a:t>δp_lidar</a:t>
            </a: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　　　　 + </a:t>
            </a:r>
            <a:r>
              <a:rPr dirty="0" err="1"/>
              <a:t>J_ext</a:t>
            </a:r>
            <a:r>
              <a:rPr dirty="0"/>
              <a:t> </a:t>
            </a:r>
            <a:r>
              <a:rPr dirty="0" err="1"/>
              <a:t>δξ_ext</a:t>
            </a:r>
            <a:r>
              <a:rPr dirty="0"/>
              <a:t> + v · </a:t>
            </a:r>
            <a:r>
              <a:rPr dirty="0" err="1"/>
              <a:t>Δt</a:t>
            </a: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来源：UAV</a:t>
            </a:r>
            <a:r>
              <a:rPr dirty="0"/>
              <a:t> </a:t>
            </a:r>
            <a:r>
              <a:rPr dirty="0" err="1"/>
              <a:t>位姿漂移</a:t>
            </a:r>
            <a:r>
              <a:rPr dirty="0"/>
              <a:t> / LiDAR </a:t>
            </a:r>
            <a:r>
              <a:rPr dirty="0" err="1"/>
              <a:t>量测</a:t>
            </a:r>
            <a:r>
              <a:rPr dirty="0"/>
              <a:t> / </a:t>
            </a:r>
            <a:r>
              <a:rPr dirty="0" err="1"/>
              <a:t>外参</a:t>
            </a:r>
            <a:r>
              <a:rPr dirty="0"/>
              <a:t> / </a:t>
            </a:r>
            <a:r>
              <a:rPr dirty="0" err="1"/>
              <a:t>时间同步；误差最终进入栅格位置与高度</a:t>
            </a:r>
            <a:r>
              <a:rPr dirty="0"/>
              <a:t>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72931F2-A554-4099-8C96-E6763D8F5E4D}"/>
              </a:ext>
            </a:extLst>
          </p:cNvPr>
          <p:cNvSpPr>
            <a:spLocks noGrp="1"/>
          </p:cNvSpPr>
          <p:nvPr/>
        </p:nvSpPr>
        <p:spPr>
          <a:xfrm>
            <a:off x="6199632" y="1170432"/>
            <a:ext cx="5440680" cy="201168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EFEFFE-0B05-451E-B08C-E6E7CD9C1AA1}"/>
              </a:ext>
            </a:extLst>
          </p:cNvPr>
          <p:cNvSpPr>
            <a:spLocks noGrp="1"/>
          </p:cNvSpPr>
          <p:nvPr/>
        </p:nvSpPr>
        <p:spPr>
          <a:xfrm>
            <a:off x="6336792" y="1261872"/>
            <a:ext cx="51663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B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为什么回环会伤害已经融合的高程图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C77313-0E2F-4279-B7FF-B79B85EAC43B}"/>
              </a:ext>
            </a:extLst>
          </p:cNvPr>
          <p:cNvSpPr>
            <a:spLocks noGrp="1"/>
          </p:cNvSpPr>
          <p:nvPr/>
        </p:nvSpPr>
        <p:spPr>
          <a:xfrm>
            <a:off x="6336792" y="1627632"/>
            <a:ext cx="5166360" cy="148132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loop closure / BA </a:t>
            </a:r>
            <a:r>
              <a:rPr dirty="0" err="1"/>
              <a:t>给历史位姿施加</a:t>
            </a:r>
            <a:r>
              <a:rPr dirty="0"/>
              <a:t> ΔT(t)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→ </a:t>
            </a:r>
            <a:r>
              <a:rPr dirty="0" err="1"/>
              <a:t>历史点应移动到新的</a:t>
            </a:r>
            <a:r>
              <a:rPr dirty="0"/>
              <a:t> (</a:t>
            </a:r>
            <a:r>
              <a:rPr dirty="0" err="1"/>
              <a:t>x,y,z</a:t>
            </a:r>
            <a:r>
              <a:rPr dirty="0"/>
              <a:t>) </a:t>
            </a:r>
            <a:r>
              <a:rPr dirty="0" err="1"/>
              <a:t>栅格</a:t>
            </a: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→ 但 elevation map </a:t>
            </a:r>
            <a:r>
              <a:rPr dirty="0" err="1"/>
              <a:t>已做逐格融合，旧贡献不能无损撤回</a:t>
            </a: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→ </a:t>
            </a:r>
            <a:r>
              <a:rPr dirty="0" err="1"/>
              <a:t>新旧观测叠加为重影、台阶、地形撕裂</a:t>
            </a: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选择：保留局部</a:t>
            </a:r>
            <a:r>
              <a:rPr dirty="0"/>
              <a:t> </a:t>
            </a:r>
            <a:r>
              <a:rPr dirty="0" err="1"/>
              <a:t>odom</a:t>
            </a:r>
            <a:r>
              <a:rPr dirty="0"/>
              <a:t> </a:t>
            </a:r>
            <a:r>
              <a:rPr dirty="0" err="1"/>
              <a:t>连续性，并显式携带先验误差</a:t>
            </a:r>
            <a:r>
              <a:rPr dirty="0"/>
              <a:t>。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F5044E1-F205-404C-9718-E3696DA63DED}"/>
              </a:ext>
            </a:extLst>
          </p:cNvPr>
          <p:cNvSpPr>
            <a:spLocks noGrp="1"/>
          </p:cNvSpPr>
          <p:nvPr/>
        </p:nvSpPr>
        <p:spPr>
          <a:xfrm>
            <a:off x="566928" y="3456432"/>
            <a:ext cx="3456432" cy="246888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9767F5-C6FD-40EB-94F3-3F7881CA74E0}"/>
              </a:ext>
            </a:extLst>
          </p:cNvPr>
          <p:cNvSpPr>
            <a:spLocks noGrp="1"/>
          </p:cNvSpPr>
          <p:nvPr/>
        </p:nvSpPr>
        <p:spPr>
          <a:xfrm>
            <a:off x="704088" y="3547872"/>
            <a:ext cx="3182112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defRPr>
            </a:pPr>
            <a:r>
              <a:t>定制 obstacle / cost 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B72B87-B376-4020-A0A6-A2614156A93D}"/>
              </a:ext>
            </a:extLst>
          </p:cNvPr>
          <p:cNvSpPr>
            <a:spLocks noGrp="1"/>
          </p:cNvSpPr>
          <p:nvPr/>
        </p:nvSpPr>
        <p:spPr>
          <a:xfrm>
            <a:off x="704088" y="3913631"/>
            <a:ext cx="3182112" cy="193852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elevation postprocessor </a:t>
            </a:r>
            <a:r>
              <a:rPr dirty="0" err="1"/>
              <a:t>输出</a:t>
            </a:r>
            <a:r>
              <a:rPr dirty="0"/>
              <a:t>：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elevation · step · slope · </a:t>
            </a:r>
            <a:r>
              <a:rPr dirty="0" err="1"/>
              <a:t>traversability</a:t>
            </a: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 dirty="0"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gridmap_to_terrainmap.cpp </a:t>
            </a:r>
            <a:r>
              <a:rPr dirty="0" err="1"/>
              <a:t>将多层压成</a:t>
            </a:r>
            <a:r>
              <a:rPr dirty="0"/>
              <a:t> </a:t>
            </a:r>
            <a:r>
              <a:rPr dirty="0" err="1"/>
              <a:t>PointXYZI；只发布真实</a:t>
            </a:r>
            <a:r>
              <a:rPr dirty="0"/>
              <a:t> observed </a:t>
            </a:r>
            <a:r>
              <a:rPr dirty="0" err="1"/>
              <a:t>cells，避免</a:t>
            </a:r>
            <a:r>
              <a:rPr dirty="0"/>
              <a:t> </a:t>
            </a:r>
            <a:r>
              <a:rPr dirty="0" err="1"/>
              <a:t>inpainted</a:t>
            </a:r>
            <a:r>
              <a:rPr dirty="0"/>
              <a:t> cell </a:t>
            </a:r>
            <a:r>
              <a:rPr dirty="0" err="1"/>
              <a:t>变成幽灵障碍</a:t>
            </a:r>
            <a:r>
              <a:rPr dirty="0"/>
              <a:t>。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456FEAC-3E71-4E2C-9B8A-740B2E522AAF}"/>
              </a:ext>
            </a:extLst>
          </p:cNvPr>
          <p:cNvSpPr>
            <a:spLocks noGrp="1"/>
          </p:cNvSpPr>
          <p:nvPr/>
        </p:nvSpPr>
        <p:spPr>
          <a:xfrm>
            <a:off x="4370832" y="3456432"/>
            <a:ext cx="3456432" cy="246888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CF7EA-A43E-4668-876A-35F57BCA2C5C}"/>
              </a:ext>
            </a:extLst>
          </p:cNvPr>
          <p:cNvSpPr>
            <a:spLocks noGrp="1"/>
          </p:cNvSpPr>
          <p:nvPr/>
        </p:nvSpPr>
        <p:spPr>
          <a:xfrm>
            <a:off x="4507992" y="3547872"/>
            <a:ext cx="3182112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localPlanner：局部代价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FF884-5392-4362-B1CA-4DD5EBD9B2F9}"/>
              </a:ext>
            </a:extLst>
          </p:cNvPr>
          <p:cNvSpPr>
            <a:spLocks noGrp="1"/>
          </p:cNvSpPr>
          <p:nvPr/>
        </p:nvSpPr>
        <p:spPr>
          <a:xfrm>
            <a:off x="4507992" y="3913631"/>
            <a:ext cx="3182112" cy="193852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c_local = max(|step|, h_th · slope/slope_limit)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h_th = 0.15 m，slope_limit = 0.44 rad (25°)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intensity &gt; 0.15 ⇒ obstacle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台阶/沟由 |step| 捕获；连续陡坡由 slope penalty 捕获。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CE1E6F-CE8F-48BB-B213-2F0C15A1155D}"/>
              </a:ext>
            </a:extLst>
          </p:cNvPr>
          <p:cNvSpPr>
            <a:spLocks noGrp="1"/>
          </p:cNvSpPr>
          <p:nvPr/>
        </p:nvSpPr>
        <p:spPr>
          <a:xfrm>
            <a:off x="8174736" y="3456432"/>
            <a:ext cx="3456432" cy="246888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86D978-0900-4DC1-8FED-F5C49052A593}"/>
              </a:ext>
            </a:extLst>
          </p:cNvPr>
          <p:cNvSpPr>
            <a:spLocks noGrp="1"/>
          </p:cNvSpPr>
          <p:nvPr/>
        </p:nvSpPr>
        <p:spPr>
          <a:xfrm>
            <a:off x="8311896" y="3547872"/>
            <a:ext cx="3182112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B44B"/>
                </a:solidFill>
                <a:latin typeface="Microsoft YaHei"/>
                <a:ea typeface="Microsoft YaHei"/>
                <a:cs typeface="Microsoft YaHei"/>
              </a:defRPr>
            </a:pPr>
            <a:r>
              <a:t>FAR：远场可通行惩罚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9D154D-DD63-4A57-8DEC-BD48DD770F3F}"/>
              </a:ext>
            </a:extLst>
          </p:cNvPr>
          <p:cNvSpPr>
            <a:spLocks noGrp="1"/>
          </p:cNvSpPr>
          <p:nvPr/>
        </p:nvSpPr>
        <p:spPr>
          <a:xfrm>
            <a:off x="8311896" y="3913631"/>
            <a:ext cx="3182112" cy="193852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c_far = (1 − traversability) · vehicle_height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terrain_free_Z = 0.5：trav &lt; 0.5 判为不可通行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点的 z 下沉到 local ground，防止高障碍顶点被 FAR 高度裁剪后消失。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6A9321-DD7A-42A8-8C53-89055BCB3942}"/>
              </a:ext>
            </a:extLst>
          </p:cNvPr>
          <p:cNvSpPr>
            <a:spLocks noGrp="1"/>
          </p:cNvSpPr>
          <p:nvPr/>
        </p:nvSpPr>
        <p:spPr>
          <a:xfrm>
            <a:off x="457200" y="6611112"/>
            <a:ext cx="786384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900" b="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t>空地协同连续排雷系统 · 当前项目实现与实验结果</a:t>
            </a:r>
          </a:p>
        </p:txBody>
      </p:sp>
    </p:spTree>
    <p:extLst>
      <p:ext uri="{BB962C8B-B14F-4D97-AF65-F5344CB8AC3E}">
        <p14:creationId xmlns:p14="http://schemas.microsoft.com/office/powerpoint/2010/main" val="31171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585023-4686-46B7-989C-DBC240B1CD20}"/>
              </a:ext>
            </a:extLst>
          </p:cNvPr>
          <p:cNvSpPr>
            <a:spLocks noGrp="1"/>
          </p:cNvSpPr>
          <p:nvPr/>
        </p:nvSpPr>
        <p:spPr>
          <a:xfrm>
            <a:off x="438912" y="228600"/>
            <a:ext cx="50292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dirty="0"/>
              <a:t>08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671C7-46F3-460F-90D4-5392E858F2D6}"/>
              </a:ext>
            </a:extLst>
          </p:cNvPr>
          <p:cNvSpPr>
            <a:spLocks noGrp="1"/>
          </p:cNvSpPr>
          <p:nvPr/>
        </p:nvSpPr>
        <p:spPr>
          <a:xfrm>
            <a:off x="960120" y="146304"/>
            <a:ext cx="10698480" cy="48463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24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UGV 目标巡检：UAV 任务坐标到 Egocentric 路径执行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4BD16-CC19-4161-998A-9AA6696C1DAB}"/>
              </a:ext>
            </a:extLst>
          </p:cNvPr>
          <p:cNvSpPr>
            <a:spLocks noGrp="1"/>
          </p:cNvSpPr>
          <p:nvPr/>
        </p:nvSpPr>
        <p:spPr>
          <a:xfrm>
            <a:off x="978408" y="649224"/>
            <a:ext cx="10607040" cy="30175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300" b="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t>UAV 提供带 frame_id 与不确定性的任务先验；UGV 在自身 odom 中完成近场导航和抓取交接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7F1066-000C-436C-80D9-8D8D010013BC}"/>
              </a:ext>
            </a:extLst>
          </p:cNvPr>
          <p:cNvSpPr>
            <a:spLocks noGrp="1"/>
          </p:cNvSpPr>
          <p:nvPr/>
        </p:nvSpPr>
        <p:spPr>
          <a:xfrm>
            <a:off x="566928" y="1234440"/>
            <a:ext cx="3401568" cy="205740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DAA1B-1CFF-4AFC-9116-82CAF695F61C}"/>
              </a:ext>
            </a:extLst>
          </p:cNvPr>
          <p:cNvSpPr>
            <a:spLocks noGrp="1"/>
          </p:cNvSpPr>
          <p:nvPr/>
        </p:nvSpPr>
        <p:spPr>
          <a:xfrm>
            <a:off x="713232" y="1335024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5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t>跨域接口：传任务，不传绝对真值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F2130E-14CA-4597-BB3F-A112EA2F6801}"/>
              </a:ext>
            </a:extLst>
          </p:cNvPr>
          <p:cNvSpPr>
            <a:spLocks noGrp="1"/>
          </p:cNvSpPr>
          <p:nvPr/>
        </p:nvSpPr>
        <p:spPr>
          <a:xfrm>
            <a:off x="713232" y="1709928"/>
            <a:ext cx="3108960" cy="1508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/detected_targets：位置 + frame_id + confidence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空地锚定：一次性坐标关系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/ugv/start_tour：冻结当前目标集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UGV 将目标 TF 到 odom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后续路径与到达判断均在本体系完成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9A4C41E-4591-4C41-A7DA-EF6B6B70F42E}"/>
              </a:ext>
            </a:extLst>
          </p:cNvPr>
          <p:cNvSpPr>
            <a:spLocks noGrp="1"/>
          </p:cNvSpPr>
          <p:nvPr/>
        </p:nvSpPr>
        <p:spPr>
          <a:xfrm>
            <a:off x="4370832" y="1234440"/>
            <a:ext cx="3401568" cy="205740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813BA-E87C-4033-9DB2-A7FAB6D6747B}"/>
              </a:ext>
            </a:extLst>
          </p:cNvPr>
          <p:cNvSpPr>
            <a:spLocks noGrp="1"/>
          </p:cNvSpPr>
          <p:nvPr/>
        </p:nvSpPr>
        <p:spPr>
          <a:xfrm>
            <a:off x="4517136" y="1335024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defRPr>
            </a:pPr>
            <a:r>
              <a:t>ugv_target_tour.py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74113-4B67-4F9D-AF63-75FD97CBE4BD}"/>
              </a:ext>
            </a:extLst>
          </p:cNvPr>
          <p:cNvSpPr>
            <a:spLocks noGrp="1"/>
          </p:cNvSpPr>
          <p:nvPr/>
        </p:nvSpPr>
        <p:spPr>
          <a:xfrm>
            <a:off x="4517136" y="1709928"/>
            <a:ext cx="3108960" cy="1508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TF 到 odom → 0.5 m 去重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→ terrain cost 门控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→ 最近邻排序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→ 单点发布与到达判定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→ 60 s 超时记录失败并前进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A4E0344-C7DF-48C6-A1C0-DA635C81AD21}"/>
              </a:ext>
            </a:extLst>
          </p:cNvPr>
          <p:cNvSpPr>
            <a:spLocks noGrp="1"/>
          </p:cNvSpPr>
          <p:nvPr/>
        </p:nvSpPr>
        <p:spPr>
          <a:xfrm>
            <a:off x="8174736" y="1234440"/>
            <a:ext cx="3401568" cy="205740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2557C9-1A1F-4435-B55F-F2B10702EEEE}"/>
              </a:ext>
            </a:extLst>
          </p:cNvPr>
          <p:cNvSpPr>
            <a:spLocks noGrp="1"/>
          </p:cNvSpPr>
          <p:nvPr/>
        </p:nvSpPr>
        <p:spPr>
          <a:xfrm>
            <a:off x="8321040" y="1335024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B44B"/>
                </a:solidFill>
                <a:latin typeface="Microsoft YaHei"/>
                <a:ea typeface="Microsoft YaHei"/>
                <a:cs typeface="Microsoft YaHei"/>
              </a:defRPr>
            </a:pPr>
            <a:r>
              <a:t>里程计 A/B：97 s / ≈32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F6B2C8-5BDA-48AB-9F0C-40D85C5FB1F2}"/>
              </a:ext>
            </a:extLst>
          </p:cNvPr>
          <p:cNvSpPr>
            <a:spLocks noGrp="1"/>
          </p:cNvSpPr>
          <p:nvPr/>
        </p:nvSpPr>
        <p:spPr>
          <a:xfrm>
            <a:off x="8321040" y="1709928"/>
            <a:ext cx="3108960" cy="1508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DLIO：RMSE 3.77 cm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mean 2.85 cm · max 15.1 cm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FAST-LIO：RMSE 46.0 cm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mean 37.7 cm · max 95.1 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9C227-A83D-4562-BB5E-4CD8B32C879A}"/>
              </a:ext>
            </a:extLst>
          </p:cNvPr>
          <p:cNvSpPr>
            <a:spLocks noGrp="1"/>
          </p:cNvSpPr>
          <p:nvPr/>
        </p:nvSpPr>
        <p:spPr>
          <a:xfrm>
            <a:off x="658368" y="3730752"/>
            <a:ext cx="10881360" cy="347472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 algn="ctr">
              <a:spcAft>
                <a:spcPts val="400"/>
              </a:spcAft>
              <a:buNone/>
              <a:defRPr sz="20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COLLECT → NAV_TO_MINE → ALIGN → GRASP → NAV_HOME → PLACE → DONE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7DFC41C-676B-4014-A643-4951D7F37361}"/>
              </a:ext>
            </a:extLst>
          </p:cNvPr>
          <p:cNvSpPr>
            <a:spLocks noGrp="1"/>
          </p:cNvSpPr>
          <p:nvPr/>
        </p:nvSpPr>
        <p:spPr>
          <a:xfrm>
            <a:off x="914400" y="4315968"/>
            <a:ext cx="4800600" cy="141732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E23D37-BE7E-48E3-9862-CD9EC5A1EF09}"/>
              </a:ext>
            </a:extLst>
          </p:cNvPr>
          <p:cNvSpPr>
            <a:spLocks noGrp="1"/>
          </p:cNvSpPr>
          <p:nvPr/>
        </p:nvSpPr>
        <p:spPr>
          <a:xfrm>
            <a:off x="1060704" y="4416552"/>
            <a:ext cx="4507992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B44B"/>
                </a:solidFill>
                <a:latin typeface="Microsoft YaHei"/>
                <a:ea typeface="Microsoft YaHei"/>
                <a:cs typeface="Microsoft YaHei"/>
              </a:defRPr>
            </a:pPr>
            <a:r>
              <a:t>导航—抓取交接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4E69E-8077-4D66-9A23-40C4E5506918}"/>
              </a:ext>
            </a:extLst>
          </p:cNvPr>
          <p:cNvSpPr>
            <a:spLocks noGrp="1"/>
          </p:cNvSpPr>
          <p:nvPr/>
        </p:nvSpPr>
        <p:spPr>
          <a:xfrm>
            <a:off x="1060704" y="4791456"/>
            <a:ext cx="4507992" cy="8686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reach_tolerance</a:t>
            </a:r>
            <a:r>
              <a:rPr dirty="0"/>
              <a:t>=0.6 m </a:t>
            </a:r>
            <a:r>
              <a:rPr dirty="0" err="1"/>
              <a:t>只是导航到达阈值</a:t>
            </a:r>
            <a:r>
              <a:rPr dirty="0"/>
              <a:t>；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机械臂需要独立</a:t>
            </a:r>
            <a:r>
              <a:rPr dirty="0"/>
              <a:t> grasp standoff ≈0.75 m。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FC29401-19B8-439B-A077-E4F6D0DAA035}"/>
              </a:ext>
            </a:extLst>
          </p:cNvPr>
          <p:cNvSpPr>
            <a:spLocks noGrp="1"/>
          </p:cNvSpPr>
          <p:nvPr/>
        </p:nvSpPr>
        <p:spPr>
          <a:xfrm>
            <a:off x="6172200" y="4315968"/>
            <a:ext cx="4800600" cy="141732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775B10-CAA9-4753-A41A-2503BB57AC25}"/>
              </a:ext>
            </a:extLst>
          </p:cNvPr>
          <p:cNvSpPr>
            <a:spLocks noGrp="1"/>
          </p:cNvSpPr>
          <p:nvPr/>
        </p:nvSpPr>
        <p:spPr>
          <a:xfrm>
            <a:off x="6318504" y="4416552"/>
            <a:ext cx="4507992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defRPr>
            </a:pPr>
            <a:r>
              <a:t>可达性实测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FB4C2-E850-49B5-A907-44E5A0609EA7}"/>
              </a:ext>
            </a:extLst>
          </p:cNvPr>
          <p:cNvSpPr>
            <a:spLocks noGrp="1"/>
          </p:cNvSpPr>
          <p:nvPr/>
        </p:nvSpPr>
        <p:spPr>
          <a:xfrm>
            <a:off x="6318504" y="4791456"/>
            <a:ext cx="4507992" cy="86868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x≤0.50 m：0/8 IK；0.55 m：3/8；</a:t>
            </a:r>
          </a:p>
          <a:p>
            <a:pPr>
              <a:spcAft>
                <a:spcPts val="400"/>
              </a:spcAft>
              <a:buNone/>
              <a:defRPr sz="13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0.60–1.05 m 且 |y|≤0.3 m：8/8。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A7480-429F-483A-BB25-52D661D3FA26}"/>
              </a:ext>
            </a:extLst>
          </p:cNvPr>
          <p:cNvSpPr>
            <a:spLocks noGrp="1"/>
          </p:cNvSpPr>
          <p:nvPr/>
        </p:nvSpPr>
        <p:spPr>
          <a:xfrm>
            <a:off x="457200" y="6611112"/>
            <a:ext cx="7863840" cy="20116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900" b="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t>空地协同连续排雷系统 · 当前项目实现与实验结果</a:t>
            </a:r>
          </a:p>
        </p:txBody>
      </p:sp>
    </p:spTree>
    <p:extLst>
      <p:ext uri="{BB962C8B-B14F-4D97-AF65-F5344CB8AC3E}">
        <p14:creationId xmlns:p14="http://schemas.microsoft.com/office/powerpoint/2010/main" val="68459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>
            <a:extLst>
              <a:ext uri="{FF2B5EF4-FFF2-40B4-BE49-F238E27FC236}">
                <a16:creationId xmlns:a16="http://schemas.microsoft.com/office/drawing/2014/main" id="{713D2DB8-C238-4D25-B089-21C5029EF3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dirty="0"/>
          </a:p>
        </p:txBody>
      </p:sp>
      <p:sp>
        <p:nvSpPr>
          <p:cNvPr id="208" name="CustomShape 2">
            <a:extLst>
              <a:ext uri="{FF2B5EF4-FFF2-40B4-BE49-F238E27FC236}">
                <a16:creationId xmlns:a16="http://schemas.microsoft.com/office/drawing/2014/main" id="{171F9024-2D3E-491C-AC73-E0008CB41C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09" name="CustomShape 3">
            <a:extLst>
              <a:ext uri="{FF2B5EF4-FFF2-40B4-BE49-F238E27FC236}">
                <a16:creationId xmlns:a16="http://schemas.microsoft.com/office/drawing/2014/main" id="{D24CD389-CDBF-4A26-9ACC-C39B46EF4D7A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500" b="1" dirty="0">
              <a:solidFill>
                <a:srgbClr val="25D5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0" name="CustomShape 4">
            <a:extLst>
              <a:ext uri="{FF2B5EF4-FFF2-40B4-BE49-F238E27FC236}">
                <a16:creationId xmlns:a16="http://schemas.microsoft.com/office/drawing/2014/main" id="{DBE4DDD5-0C6D-4669-AB78-3555DB5B4611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YOLO11s-seg 数据处理与模型训练</a:t>
            </a:r>
          </a:p>
        </p:txBody>
      </p:sp>
      <p:sp>
        <p:nvSpPr>
          <p:cNvPr id="211" name="CustomShape 5">
            <a:extLst>
              <a:ext uri="{FF2B5EF4-FFF2-40B4-BE49-F238E27FC236}">
                <a16:creationId xmlns:a16="http://schemas.microsoft.com/office/drawing/2014/main" id="{A688C1FF-CD2E-4E75-A1BF-DCDB3B46AC53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先做标签与场景隔离审计，再以分割任务配置完成训练和独立验证</a:t>
            </a:r>
          </a:p>
        </p:txBody>
      </p:sp>
      <p:sp>
        <p:nvSpPr>
          <p:cNvPr id="212" name="CustomShape 6">
            <a:extLst>
              <a:ext uri="{FF2B5EF4-FFF2-40B4-BE49-F238E27FC236}">
                <a16:creationId xmlns:a16="http://schemas.microsoft.com/office/drawing/2014/main" id="{55991178-E73D-473F-877A-12761827C59A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13" name="CustomShape 7">
            <a:extLst>
              <a:ext uri="{FF2B5EF4-FFF2-40B4-BE49-F238E27FC236}">
                <a16:creationId xmlns:a16="http://schemas.microsoft.com/office/drawing/2014/main" id="{13119498-8A83-4596-860B-FF1696923F52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pic>
        <p:nvPicPr>
          <p:cNvPr id="251" name="Picture 8"/>
          <p:cNvPicPr>
            <a:picLocks noChangeAspect="1"/>
          </p:cNvPicPr>
          <p:nvPr/>
        </p:nvPicPr>
        <p:blipFill>
          <a:blip r:embed="rId3"/>
          <a:srcRect l="11738" r="11738"/>
          <a:stretch/>
        </p:blipFill>
        <p:spPr>
          <a:xfrm>
            <a:off x="438840" y="1051560"/>
            <a:ext cx="7113240" cy="278820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215" name="CustomShape 8">
            <a:extLst>
              <a:ext uri="{FF2B5EF4-FFF2-40B4-BE49-F238E27FC236}">
                <a16:creationId xmlns:a16="http://schemas.microsoft.com/office/drawing/2014/main" id="{0A1B57DF-963A-45A1-9867-4DF53A002E73}"/>
              </a:ext>
            </a:extLst>
          </p:cNvPr>
          <p:cNvSpPr>
            <a:spLocks noGrp="1"/>
          </p:cNvSpPr>
          <p:nvPr/>
        </p:nvSpPr>
        <p:spPr>
          <a:xfrm>
            <a:off x="438840" y="3420000"/>
            <a:ext cx="7113240" cy="41976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16" name="CustomShape 9">
            <a:extLst>
              <a:ext uri="{FF2B5EF4-FFF2-40B4-BE49-F238E27FC236}">
                <a16:creationId xmlns:a16="http://schemas.microsoft.com/office/drawing/2014/main" id="{6523E3B9-1AFD-4AC7-BA66-16FE629111C6}"/>
              </a:ext>
            </a:extLst>
          </p:cNvPr>
          <p:cNvSpPr>
            <a:spLocks noGrp="1"/>
          </p:cNvSpPr>
          <p:nvPr/>
        </p:nvSpPr>
        <p:spPr>
          <a:xfrm>
            <a:off x="438840" y="3420000"/>
            <a:ext cx="54000" cy="4197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17" name="CustomShape 10">
            <a:extLst>
              <a:ext uri="{FF2B5EF4-FFF2-40B4-BE49-F238E27FC236}">
                <a16:creationId xmlns:a16="http://schemas.microsoft.com/office/drawing/2014/main" id="{B8EE5465-D476-4370-9851-A758C992CA25}"/>
              </a:ext>
            </a:extLst>
          </p:cNvPr>
          <p:cNvSpPr>
            <a:spLocks noGrp="1"/>
          </p:cNvSpPr>
          <p:nvPr/>
        </p:nvSpPr>
        <p:spPr>
          <a:xfrm>
            <a:off x="585360" y="3463200"/>
            <a:ext cx="6875640" cy="3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训练/验证损失与分割指标曲线（results.png）</a:t>
            </a:r>
          </a:p>
        </p:txBody>
      </p:sp>
      <p:pic>
        <p:nvPicPr>
          <p:cNvPr id="255" name="Picture 12"/>
          <p:cNvPicPr>
            <a:picLocks noChangeAspect="1"/>
          </p:cNvPicPr>
          <p:nvPr/>
        </p:nvPicPr>
        <p:blipFill>
          <a:blip r:embed="rId4"/>
          <a:srcRect l="8455" r="8455"/>
          <a:stretch/>
        </p:blipFill>
        <p:spPr>
          <a:xfrm>
            <a:off x="7754040" y="1051560"/>
            <a:ext cx="3985920" cy="278820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219" name="CustomShape 11">
            <a:extLst>
              <a:ext uri="{FF2B5EF4-FFF2-40B4-BE49-F238E27FC236}">
                <a16:creationId xmlns:a16="http://schemas.microsoft.com/office/drawing/2014/main" id="{178B466D-2349-4354-A6D7-9A54AC28997E}"/>
              </a:ext>
            </a:extLst>
          </p:cNvPr>
          <p:cNvSpPr>
            <a:spLocks noGrp="1"/>
          </p:cNvSpPr>
          <p:nvPr/>
        </p:nvSpPr>
        <p:spPr>
          <a:xfrm>
            <a:off x="7754040" y="3420000"/>
            <a:ext cx="3985920" cy="41976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20" name="CustomShape 12">
            <a:extLst>
              <a:ext uri="{FF2B5EF4-FFF2-40B4-BE49-F238E27FC236}">
                <a16:creationId xmlns:a16="http://schemas.microsoft.com/office/drawing/2014/main" id="{38C7762E-978E-4B2A-92B4-6CBDC0DAC8C6}"/>
              </a:ext>
            </a:extLst>
          </p:cNvPr>
          <p:cNvSpPr>
            <a:spLocks noGrp="1"/>
          </p:cNvSpPr>
          <p:nvPr/>
        </p:nvSpPr>
        <p:spPr>
          <a:xfrm>
            <a:off x="7754040" y="3420000"/>
            <a:ext cx="54000" cy="4197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21" name="CustomShape 13">
            <a:extLst>
              <a:ext uri="{FF2B5EF4-FFF2-40B4-BE49-F238E27FC236}">
                <a16:creationId xmlns:a16="http://schemas.microsoft.com/office/drawing/2014/main" id="{A69F3EBE-61B0-4CBC-8F38-E529C9D65773}"/>
              </a:ext>
            </a:extLst>
          </p:cNvPr>
          <p:cNvSpPr>
            <a:spLocks noGrp="1"/>
          </p:cNvSpPr>
          <p:nvPr/>
        </p:nvSpPr>
        <p:spPr>
          <a:xfrm>
            <a:off x="7900560" y="3463200"/>
            <a:ext cx="3748320" cy="3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独立测试集预测样例</a:t>
            </a:r>
          </a:p>
        </p:txBody>
      </p:sp>
      <p:sp>
        <p:nvSpPr>
          <p:cNvPr id="222" name="CustomShape 14">
            <a:extLst>
              <a:ext uri="{FF2B5EF4-FFF2-40B4-BE49-F238E27FC236}">
                <a16:creationId xmlns:a16="http://schemas.microsoft.com/office/drawing/2014/main" id="{AC0BB26F-173E-4671-9FEF-AD94757B8C5B}"/>
              </a:ext>
            </a:extLst>
          </p:cNvPr>
          <p:cNvSpPr>
            <a:spLocks noGrp="1"/>
          </p:cNvSpPr>
          <p:nvPr/>
        </p:nvSpPr>
        <p:spPr>
          <a:xfrm>
            <a:off x="438840" y="4023360"/>
            <a:ext cx="7442640" cy="230364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23" name="CustomShape 15">
            <a:extLst>
              <a:ext uri="{FF2B5EF4-FFF2-40B4-BE49-F238E27FC236}">
                <a16:creationId xmlns:a16="http://schemas.microsoft.com/office/drawing/2014/main" id="{B7576C23-1750-41F6-B982-3787B587F772}"/>
              </a:ext>
            </a:extLst>
          </p:cNvPr>
          <p:cNvSpPr>
            <a:spLocks noGrp="1"/>
          </p:cNvSpPr>
          <p:nvPr/>
        </p:nvSpPr>
        <p:spPr>
          <a:xfrm>
            <a:off x="694800" y="4224600"/>
            <a:ext cx="164520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9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数据集处理链</a:t>
            </a:r>
          </a:p>
        </p:txBody>
      </p:sp>
      <p:sp>
        <p:nvSpPr>
          <p:cNvPr id="224" name="CustomShape 16">
            <a:extLst>
              <a:ext uri="{FF2B5EF4-FFF2-40B4-BE49-F238E27FC236}">
                <a16:creationId xmlns:a16="http://schemas.microsoft.com/office/drawing/2014/main" id="{7D44A0D8-F3CA-429C-9700-F176D6F1BA03}"/>
              </a:ext>
            </a:extLst>
          </p:cNvPr>
          <p:cNvSpPr>
            <a:spLocks noGrp="1"/>
          </p:cNvSpPr>
          <p:nvPr/>
        </p:nvSpPr>
        <p:spPr>
          <a:xfrm>
            <a:off x="694800" y="46908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25D5D0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25" name="CustomShape 17">
            <a:extLst>
              <a:ext uri="{FF2B5EF4-FFF2-40B4-BE49-F238E27FC236}">
                <a16:creationId xmlns:a16="http://schemas.microsoft.com/office/drawing/2014/main" id="{4FB03642-F9EB-4EB1-978C-6DF79DA6E353}"/>
              </a:ext>
            </a:extLst>
          </p:cNvPr>
          <p:cNvSpPr>
            <a:spLocks noGrp="1"/>
          </p:cNvSpPr>
          <p:nvPr/>
        </p:nvSpPr>
        <p:spPr>
          <a:xfrm>
            <a:off x="768240" y="4831560"/>
            <a:ext cx="1270440" cy="54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多边形标签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合法性校验</a:t>
            </a:r>
          </a:p>
        </p:txBody>
      </p:sp>
      <p:sp>
        <p:nvSpPr>
          <p:cNvPr id="226" name="Line 18">
            <a:extLst>
              <a:ext uri="{FF2B5EF4-FFF2-40B4-BE49-F238E27FC236}">
                <a16:creationId xmlns:a16="http://schemas.microsoft.com/office/drawing/2014/main" id="{50DEB43F-2920-4BF3-BA43-8028E2C8B99E}"/>
              </a:ext>
            </a:extLst>
          </p:cNvPr>
          <p:cNvSpPr>
            <a:spLocks noGrp="1"/>
          </p:cNvSpPr>
          <p:nvPr/>
        </p:nvSpPr>
        <p:spPr>
          <a:xfrm>
            <a:off x="2112120" y="5102280"/>
            <a:ext cx="201240" cy="0"/>
          </a:xfrm>
          <a:prstGeom prst="line">
            <a:avLst/>
          </a:prstGeom>
          <a:ln w="2304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27" name="CustomShape 19">
            <a:extLst>
              <a:ext uri="{FF2B5EF4-FFF2-40B4-BE49-F238E27FC236}">
                <a16:creationId xmlns:a16="http://schemas.microsoft.com/office/drawing/2014/main" id="{C97202C4-1109-4669-921B-529E7CC34C82}"/>
              </a:ext>
            </a:extLst>
          </p:cNvPr>
          <p:cNvSpPr>
            <a:spLocks noGrp="1"/>
          </p:cNvSpPr>
          <p:nvPr/>
        </p:nvSpPr>
        <p:spPr>
          <a:xfrm>
            <a:off x="2386440" y="46908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28" name="CustomShape 20">
            <a:extLst>
              <a:ext uri="{FF2B5EF4-FFF2-40B4-BE49-F238E27FC236}">
                <a16:creationId xmlns:a16="http://schemas.microsoft.com/office/drawing/2014/main" id="{428DDC07-1545-49C3-9E41-272CC4346C59}"/>
              </a:ext>
            </a:extLst>
          </p:cNvPr>
          <p:cNvSpPr>
            <a:spLocks noGrp="1"/>
          </p:cNvSpPr>
          <p:nvPr/>
        </p:nvSpPr>
        <p:spPr>
          <a:xfrm>
            <a:off x="2459880" y="4710600"/>
            <a:ext cx="1270440" cy="78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面积 / 可见性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质量筛查</a:t>
            </a:r>
          </a:p>
        </p:txBody>
      </p:sp>
      <p:sp>
        <p:nvSpPr>
          <p:cNvPr id="229" name="Line 21">
            <a:extLst>
              <a:ext uri="{FF2B5EF4-FFF2-40B4-BE49-F238E27FC236}">
                <a16:creationId xmlns:a16="http://schemas.microsoft.com/office/drawing/2014/main" id="{788CC329-09AB-40C6-9D85-67165A284636}"/>
              </a:ext>
            </a:extLst>
          </p:cNvPr>
          <p:cNvSpPr>
            <a:spLocks noGrp="1"/>
          </p:cNvSpPr>
          <p:nvPr/>
        </p:nvSpPr>
        <p:spPr>
          <a:xfrm>
            <a:off x="3803760" y="5102280"/>
            <a:ext cx="201240" cy="0"/>
          </a:xfrm>
          <a:prstGeom prst="line">
            <a:avLst/>
          </a:prstGeom>
          <a:ln w="2304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30" name="CustomShape 22">
            <a:extLst>
              <a:ext uri="{FF2B5EF4-FFF2-40B4-BE49-F238E27FC236}">
                <a16:creationId xmlns:a16="http://schemas.microsoft.com/office/drawing/2014/main" id="{6DF3A590-DABF-49E2-A880-7E2752775B14}"/>
              </a:ext>
            </a:extLst>
          </p:cNvPr>
          <p:cNvSpPr>
            <a:spLocks noGrp="1"/>
          </p:cNvSpPr>
          <p:nvPr/>
        </p:nvSpPr>
        <p:spPr>
          <a:xfrm>
            <a:off x="4078080" y="4690800"/>
            <a:ext cx="1297800" cy="82224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31" name="CustomShape 23">
            <a:extLst>
              <a:ext uri="{FF2B5EF4-FFF2-40B4-BE49-F238E27FC236}">
                <a16:creationId xmlns:a16="http://schemas.microsoft.com/office/drawing/2014/main" id="{2D94E103-FD8F-45D9-9372-031D7B2F93E8}"/>
              </a:ext>
            </a:extLst>
          </p:cNvPr>
          <p:cNvSpPr>
            <a:spLocks noGrp="1"/>
          </p:cNvSpPr>
          <p:nvPr/>
        </p:nvSpPr>
        <p:spPr>
          <a:xfrm>
            <a:off x="4151520" y="4831560"/>
            <a:ext cx="1151280" cy="54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SHA-256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精确去重</a:t>
            </a:r>
          </a:p>
        </p:txBody>
      </p:sp>
      <p:sp>
        <p:nvSpPr>
          <p:cNvPr id="232" name="Line 24">
            <a:extLst>
              <a:ext uri="{FF2B5EF4-FFF2-40B4-BE49-F238E27FC236}">
                <a16:creationId xmlns:a16="http://schemas.microsoft.com/office/drawing/2014/main" id="{16926E86-0793-44E2-AD90-134FA104FA91}"/>
              </a:ext>
            </a:extLst>
          </p:cNvPr>
          <p:cNvSpPr>
            <a:spLocks noGrp="1"/>
          </p:cNvSpPr>
          <p:nvPr/>
        </p:nvSpPr>
        <p:spPr>
          <a:xfrm>
            <a:off x="5376600" y="5102280"/>
            <a:ext cx="201240" cy="0"/>
          </a:xfrm>
          <a:prstGeom prst="line">
            <a:avLst/>
          </a:prstGeom>
          <a:ln w="2304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33" name="CustomShape 25">
            <a:extLst>
              <a:ext uri="{FF2B5EF4-FFF2-40B4-BE49-F238E27FC236}">
                <a16:creationId xmlns:a16="http://schemas.microsoft.com/office/drawing/2014/main" id="{D3F6186E-6EAF-4E27-B212-59EBDBC01DAC}"/>
              </a:ext>
            </a:extLst>
          </p:cNvPr>
          <p:cNvSpPr>
            <a:spLocks noGrp="1"/>
          </p:cNvSpPr>
          <p:nvPr/>
        </p:nvSpPr>
        <p:spPr>
          <a:xfrm>
            <a:off x="5650920" y="4690800"/>
            <a:ext cx="1736640" cy="82224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34" name="CustomShape 26">
            <a:extLst>
              <a:ext uri="{FF2B5EF4-FFF2-40B4-BE49-F238E27FC236}">
                <a16:creationId xmlns:a16="http://schemas.microsoft.com/office/drawing/2014/main" id="{05082904-01AA-48D9-8727-4AB05A49AD4F}"/>
              </a:ext>
            </a:extLst>
          </p:cNvPr>
          <p:cNvSpPr>
            <a:spLocks noGrp="1"/>
          </p:cNvSpPr>
          <p:nvPr/>
        </p:nvSpPr>
        <p:spPr>
          <a:xfrm>
            <a:off x="5724000" y="4831560"/>
            <a:ext cx="1590480" cy="540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独立场景分组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train / val / test</a:t>
            </a:r>
          </a:p>
        </p:txBody>
      </p:sp>
      <p:sp>
        <p:nvSpPr>
          <p:cNvPr id="235" name="CustomShape 27">
            <a:extLst>
              <a:ext uri="{FF2B5EF4-FFF2-40B4-BE49-F238E27FC236}">
                <a16:creationId xmlns:a16="http://schemas.microsoft.com/office/drawing/2014/main" id="{9AD09FF7-293A-4CA0-863F-F00FA4C622FC}"/>
              </a:ext>
            </a:extLst>
          </p:cNvPr>
          <p:cNvSpPr>
            <a:spLocks noGrp="1"/>
          </p:cNvSpPr>
          <p:nvPr/>
        </p:nvSpPr>
        <p:spPr>
          <a:xfrm>
            <a:off x="713160" y="5761800"/>
            <a:ext cx="6903000" cy="31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55D99F"/>
                </a:solidFill>
                <a:latin typeface="Noto Sans CJK SC"/>
                <a:ea typeface="Noto Sans CJK SC"/>
                <a:cs typeface="Noto Sans CJK SC"/>
              </a:rPr>
              <a:t>最终审计：940张 · 15 个场景组 · scene leakage 0 · errors 0</a:t>
            </a:r>
          </a:p>
        </p:txBody>
      </p:sp>
      <p:sp>
        <p:nvSpPr>
          <p:cNvPr id="236" name="CustomShape 28">
            <a:extLst>
              <a:ext uri="{FF2B5EF4-FFF2-40B4-BE49-F238E27FC236}">
                <a16:creationId xmlns:a16="http://schemas.microsoft.com/office/drawing/2014/main" id="{47A23C64-17D2-41AF-9B93-C7E20A4A7D5E}"/>
              </a:ext>
            </a:extLst>
          </p:cNvPr>
          <p:cNvSpPr>
            <a:spLocks noGrp="1"/>
          </p:cNvSpPr>
          <p:nvPr/>
        </p:nvSpPr>
        <p:spPr>
          <a:xfrm>
            <a:off x="8083440" y="4023360"/>
            <a:ext cx="3656880" cy="230364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37" name="CustomShape 29">
            <a:extLst>
              <a:ext uri="{FF2B5EF4-FFF2-40B4-BE49-F238E27FC236}">
                <a16:creationId xmlns:a16="http://schemas.microsoft.com/office/drawing/2014/main" id="{D5E6EB7E-D750-4959-B187-2C555C1AB590}"/>
              </a:ext>
            </a:extLst>
          </p:cNvPr>
          <p:cNvSpPr>
            <a:spLocks noGrp="1"/>
          </p:cNvSpPr>
          <p:nvPr/>
        </p:nvSpPr>
        <p:spPr>
          <a:xfrm>
            <a:off x="8339400" y="4224600"/>
            <a:ext cx="2010960" cy="36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9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训练配置与结果</a:t>
            </a:r>
          </a:p>
        </p:txBody>
      </p:sp>
      <p:sp>
        <p:nvSpPr>
          <p:cNvPr id="238" name="CustomShape 30">
            <a:extLst>
              <a:ext uri="{FF2B5EF4-FFF2-40B4-BE49-F238E27FC236}">
                <a16:creationId xmlns:a16="http://schemas.microsoft.com/office/drawing/2014/main" id="{47B473BF-652F-4A3A-A7D6-B955B7C804EE}"/>
              </a:ext>
            </a:extLst>
          </p:cNvPr>
          <p:cNvSpPr>
            <a:spLocks noGrp="1"/>
          </p:cNvSpPr>
          <p:nvPr/>
        </p:nvSpPr>
        <p:spPr>
          <a:xfrm>
            <a:off x="8339400" y="4561560"/>
            <a:ext cx="315396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YOLO11s-seg</a:t>
            </a:r>
          </a:p>
        </p:txBody>
      </p:sp>
      <p:sp>
        <p:nvSpPr>
          <p:cNvPr id="239" name="CustomShape 31">
            <a:extLst>
              <a:ext uri="{FF2B5EF4-FFF2-40B4-BE49-F238E27FC236}">
                <a16:creationId xmlns:a16="http://schemas.microsoft.com/office/drawing/2014/main" id="{F106CAC6-47E3-4693-B9B0-EDC2DAFA0B4E}"/>
              </a:ext>
            </a:extLst>
          </p:cNvPr>
          <p:cNvSpPr>
            <a:spLocks noGrp="1"/>
          </p:cNvSpPr>
          <p:nvPr/>
        </p:nvSpPr>
        <p:spPr>
          <a:xfrm>
            <a:off x="8339400" y="4860360"/>
            <a:ext cx="3153960" cy="30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imgsz 960 · batch 8 · AdamW</a:t>
            </a:r>
          </a:p>
        </p:txBody>
      </p:sp>
      <p:sp>
        <p:nvSpPr>
          <p:cNvPr id="240" name="CustomShape 32">
            <a:extLst>
              <a:ext uri="{FF2B5EF4-FFF2-40B4-BE49-F238E27FC236}">
                <a16:creationId xmlns:a16="http://schemas.microsoft.com/office/drawing/2014/main" id="{98771D92-B90D-4B7A-8BBD-75965D6F2829}"/>
              </a:ext>
            </a:extLst>
          </p:cNvPr>
          <p:cNvSpPr>
            <a:spLocks noGrp="1"/>
          </p:cNvSpPr>
          <p:nvPr/>
        </p:nvSpPr>
        <p:spPr>
          <a:xfrm>
            <a:off x="8339400" y="5151240"/>
            <a:ext cx="3153960" cy="285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lr0 0.0015 · seed 42 · 164 epochs</a:t>
            </a:r>
          </a:p>
        </p:txBody>
      </p:sp>
      <p:sp>
        <p:nvSpPr>
          <p:cNvPr id="241" name="CustomShape 33">
            <a:extLst>
              <a:ext uri="{FF2B5EF4-FFF2-40B4-BE49-F238E27FC236}">
                <a16:creationId xmlns:a16="http://schemas.microsoft.com/office/drawing/2014/main" id="{1943FFF8-4F7D-40EB-B27D-A1599C19BC10}"/>
              </a:ext>
            </a:extLst>
          </p:cNvPr>
          <p:cNvSpPr>
            <a:spLocks noGrp="1"/>
          </p:cNvSpPr>
          <p:nvPr/>
        </p:nvSpPr>
        <p:spPr>
          <a:xfrm>
            <a:off x="8357760" y="5381640"/>
            <a:ext cx="3108240" cy="757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55D99F"/>
                </a:solidFill>
                <a:latin typeface="Noto Sans CJK SC"/>
                <a:ea typeface="Noto Sans CJK SC"/>
                <a:cs typeface="Noto Sans CJK SC"/>
              </a:rPr>
              <a:t>mask mAP50 0.991 · mAP50–95 0.708</a:t>
            </a:r>
          </a:p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55D99F"/>
                </a:solidFill>
                <a:latin typeface="Noto Sans CJK SC"/>
                <a:ea typeface="Noto Sans CJK SC"/>
                <a:cs typeface="Noto Sans CJK SC"/>
              </a:rPr>
              <a:t>Precision 0.989 · Recall 0.999</a:t>
            </a:r>
          </a:p>
        </p:txBody>
      </p:sp>
    </p:spTree>
    <p:extLst>
      <p:ext uri="{BB962C8B-B14F-4D97-AF65-F5344CB8AC3E}">
        <p14:creationId xmlns:p14="http://schemas.microsoft.com/office/powerpoint/2010/main" val="1858676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ustomShape 1">
            <a:extLst>
              <a:ext uri="{FF2B5EF4-FFF2-40B4-BE49-F238E27FC236}">
                <a16:creationId xmlns:a16="http://schemas.microsoft.com/office/drawing/2014/main" id="{F402CD3D-2BF7-4613-A0BF-11D8B6ED63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43" name="CustomShape 2">
            <a:extLst>
              <a:ext uri="{FF2B5EF4-FFF2-40B4-BE49-F238E27FC236}">
                <a16:creationId xmlns:a16="http://schemas.microsoft.com/office/drawing/2014/main" id="{3E2888B9-F6AA-4531-9123-F900605495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44" name="CustomShape 3">
            <a:extLst>
              <a:ext uri="{FF2B5EF4-FFF2-40B4-BE49-F238E27FC236}">
                <a16:creationId xmlns:a16="http://schemas.microsoft.com/office/drawing/2014/main" id="{7B80AC17-74C0-46CC-97D6-8B5D5D0E8967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1</a:t>
            </a:r>
            <a:r>
              <a:rPr sz="1500" b="1" dirty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45" name="CustomShape 4">
            <a:extLst>
              <a:ext uri="{FF2B5EF4-FFF2-40B4-BE49-F238E27FC236}">
                <a16:creationId xmlns:a16="http://schemas.microsoft.com/office/drawing/2014/main" id="{692A82ED-5E4F-421E-A7C7-71C4A86A5EAB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双端感知：UAV 远场分割 + UGV 腕部近场精定位</a:t>
            </a:r>
          </a:p>
        </p:txBody>
      </p:sp>
      <p:sp>
        <p:nvSpPr>
          <p:cNvPr id="246" name="CustomShape 5">
            <a:extLst>
              <a:ext uri="{FF2B5EF4-FFF2-40B4-BE49-F238E27FC236}">
                <a16:creationId xmlns:a16="http://schemas.microsoft.com/office/drawing/2014/main" id="{662A7A2F-418A-48EB-9FAD-AEC2F53ED56A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UAV 输出 uav0/map_local 目标；UGV 输出 ur5_base_link 抓取坐标</a:t>
            </a:r>
          </a:p>
        </p:txBody>
      </p:sp>
      <p:sp>
        <p:nvSpPr>
          <p:cNvPr id="247" name="CustomShape 6">
            <a:extLst>
              <a:ext uri="{FF2B5EF4-FFF2-40B4-BE49-F238E27FC236}">
                <a16:creationId xmlns:a16="http://schemas.microsoft.com/office/drawing/2014/main" id="{FF76E8B2-B148-4601-860C-11F4258BBC5D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48" name="CustomShape 7">
            <a:extLst>
              <a:ext uri="{FF2B5EF4-FFF2-40B4-BE49-F238E27FC236}">
                <a16:creationId xmlns:a16="http://schemas.microsoft.com/office/drawing/2014/main" id="{18C2F6C3-77D1-4FA9-9639-048042A5EB8D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pic>
        <p:nvPicPr>
          <p:cNvPr id="331" name="Picture 8"/>
          <p:cNvPicPr>
            <a:picLocks noChangeAspect="1"/>
          </p:cNvPicPr>
          <p:nvPr/>
        </p:nvPicPr>
        <p:blipFill>
          <a:blip r:embed="rId3"/>
          <a:srcRect l="16113" r="16113"/>
          <a:stretch/>
        </p:blipFill>
        <p:spPr>
          <a:xfrm>
            <a:off x="438840" y="1042560"/>
            <a:ext cx="2331360" cy="193824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pic>
        <p:nvPicPr>
          <p:cNvPr id="332" name="Picture 12"/>
          <p:cNvPicPr>
            <a:picLocks noChangeAspect="1"/>
          </p:cNvPicPr>
          <p:nvPr/>
        </p:nvPicPr>
        <p:blipFill>
          <a:blip r:embed="rId4"/>
          <a:srcRect t="2618" b="2618"/>
          <a:stretch/>
        </p:blipFill>
        <p:spPr>
          <a:xfrm>
            <a:off x="2953440" y="1042560"/>
            <a:ext cx="4571640" cy="193824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251" name="CustomShape 8">
            <a:extLst>
              <a:ext uri="{FF2B5EF4-FFF2-40B4-BE49-F238E27FC236}">
                <a16:creationId xmlns:a16="http://schemas.microsoft.com/office/drawing/2014/main" id="{5016D66E-080F-402F-AE54-210EABBBCA9D}"/>
              </a:ext>
            </a:extLst>
          </p:cNvPr>
          <p:cNvSpPr>
            <a:spLocks noGrp="1"/>
          </p:cNvSpPr>
          <p:nvPr/>
        </p:nvSpPr>
        <p:spPr>
          <a:xfrm>
            <a:off x="438840" y="2633400"/>
            <a:ext cx="2331360" cy="34704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52" name="CustomShape 9">
            <a:extLst>
              <a:ext uri="{FF2B5EF4-FFF2-40B4-BE49-F238E27FC236}">
                <a16:creationId xmlns:a16="http://schemas.microsoft.com/office/drawing/2014/main" id="{F42FB677-2CC6-4BFE-8510-07C37179FAA7}"/>
              </a:ext>
            </a:extLst>
          </p:cNvPr>
          <p:cNvSpPr>
            <a:spLocks noGrp="1"/>
          </p:cNvSpPr>
          <p:nvPr/>
        </p:nvSpPr>
        <p:spPr>
          <a:xfrm>
            <a:off x="530280" y="2508840"/>
            <a:ext cx="2148480" cy="55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8B99D"/>
                </a:solidFill>
                <a:latin typeface="Noto Sans CJK SC"/>
                <a:ea typeface="Noto Sans CJK SC"/>
                <a:cs typeface="Noto Sans CJK SC"/>
              </a:rPr>
              <a:t>UAV：下视 YOLO11s-seg</a:t>
            </a:r>
          </a:p>
        </p:txBody>
      </p:sp>
      <p:sp>
        <p:nvSpPr>
          <p:cNvPr id="253" name="CustomShape 10">
            <a:extLst>
              <a:ext uri="{FF2B5EF4-FFF2-40B4-BE49-F238E27FC236}">
                <a16:creationId xmlns:a16="http://schemas.microsoft.com/office/drawing/2014/main" id="{B9164289-8E33-41D9-AE69-CFC8404FB544}"/>
              </a:ext>
            </a:extLst>
          </p:cNvPr>
          <p:cNvSpPr>
            <a:spLocks noGrp="1"/>
          </p:cNvSpPr>
          <p:nvPr/>
        </p:nvSpPr>
        <p:spPr>
          <a:xfrm>
            <a:off x="2953440" y="2633400"/>
            <a:ext cx="4571640" cy="34704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54" name="CustomShape 11">
            <a:extLst>
              <a:ext uri="{FF2B5EF4-FFF2-40B4-BE49-F238E27FC236}">
                <a16:creationId xmlns:a16="http://schemas.microsoft.com/office/drawing/2014/main" id="{8C4EACF7-CC69-4140-9F4A-78A013C52E46}"/>
              </a:ext>
            </a:extLst>
          </p:cNvPr>
          <p:cNvSpPr>
            <a:spLocks noGrp="1"/>
          </p:cNvSpPr>
          <p:nvPr/>
        </p:nvSpPr>
        <p:spPr>
          <a:xfrm>
            <a:off x="3099960" y="2630520"/>
            <a:ext cx="4278960" cy="3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UGV：腕部 hybrid 真实调试帧</a:t>
            </a:r>
          </a:p>
        </p:txBody>
      </p:sp>
      <p:sp>
        <p:nvSpPr>
          <p:cNvPr id="255" name="CustomShape 12">
            <a:extLst>
              <a:ext uri="{FF2B5EF4-FFF2-40B4-BE49-F238E27FC236}">
                <a16:creationId xmlns:a16="http://schemas.microsoft.com/office/drawing/2014/main" id="{4F4C7724-7F00-47F1-9110-769369F8CF40}"/>
              </a:ext>
            </a:extLst>
          </p:cNvPr>
          <p:cNvSpPr>
            <a:spLocks noGrp="1"/>
          </p:cNvSpPr>
          <p:nvPr/>
        </p:nvSpPr>
        <p:spPr>
          <a:xfrm>
            <a:off x="7708320" y="1042560"/>
            <a:ext cx="4032000" cy="193824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56" name="CustomShape 13">
            <a:extLst>
              <a:ext uri="{FF2B5EF4-FFF2-40B4-BE49-F238E27FC236}">
                <a16:creationId xmlns:a16="http://schemas.microsoft.com/office/drawing/2014/main" id="{48052D3F-BF09-445A-97A0-A7005084D536}"/>
              </a:ext>
            </a:extLst>
          </p:cNvPr>
          <p:cNvSpPr>
            <a:spLocks noGrp="1"/>
          </p:cNvSpPr>
          <p:nvPr/>
        </p:nvSpPr>
        <p:spPr>
          <a:xfrm>
            <a:off x="7964280" y="1170720"/>
            <a:ext cx="3520080" cy="347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4F8CFF"/>
                </a:solidFill>
                <a:latin typeface="Noto Sans CJK SC"/>
                <a:ea typeface="Noto Sans CJK SC"/>
                <a:cs typeface="Noto Sans CJK SC"/>
              </a:rPr>
              <a:t>双端坐标分工</a:t>
            </a:r>
          </a:p>
        </p:txBody>
      </p:sp>
      <p:sp>
        <p:nvSpPr>
          <p:cNvPr id="257" name="CustomShape 14">
            <a:extLst>
              <a:ext uri="{FF2B5EF4-FFF2-40B4-BE49-F238E27FC236}">
                <a16:creationId xmlns:a16="http://schemas.microsoft.com/office/drawing/2014/main" id="{A840944F-32BD-4A11-8021-8CF05D0733F7}"/>
              </a:ext>
            </a:extLst>
          </p:cNvPr>
          <p:cNvSpPr>
            <a:spLocks noGrp="1"/>
          </p:cNvSpPr>
          <p:nvPr/>
        </p:nvSpPr>
        <p:spPr>
          <a:xfrm>
            <a:off x="7973640" y="1600200"/>
            <a:ext cx="804240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28B99D"/>
                </a:solidFill>
                <a:latin typeface="Noto Sans CJK SC"/>
                <a:ea typeface="Noto Sans CJK SC"/>
                <a:cs typeface="Noto Sans CJK SC"/>
              </a:rPr>
              <a:t>UAV 端</a:t>
            </a:r>
          </a:p>
        </p:txBody>
      </p:sp>
      <p:sp>
        <p:nvSpPr>
          <p:cNvPr id="258" name="CustomShape 15">
            <a:extLst>
              <a:ext uri="{FF2B5EF4-FFF2-40B4-BE49-F238E27FC236}">
                <a16:creationId xmlns:a16="http://schemas.microsoft.com/office/drawing/2014/main" id="{99A70E4A-43BE-44E5-A384-18BE19C80485}"/>
              </a:ext>
            </a:extLst>
          </p:cNvPr>
          <p:cNvSpPr>
            <a:spLocks noGrp="1"/>
          </p:cNvSpPr>
          <p:nvPr/>
        </p:nvSpPr>
        <p:spPr>
          <a:xfrm>
            <a:off x="8832960" y="1523160"/>
            <a:ext cx="2633040" cy="464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任务坐标</a:t>
            </a:r>
          </a:p>
          <a:p>
            <a:pPr>
              <a:lnSpc>
                <a:spcPct val="84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frame_id = uav0/map_local</a:t>
            </a:r>
          </a:p>
        </p:txBody>
      </p:sp>
      <p:sp>
        <p:nvSpPr>
          <p:cNvPr id="259" name="CustomShape 16">
            <a:extLst>
              <a:ext uri="{FF2B5EF4-FFF2-40B4-BE49-F238E27FC236}">
                <a16:creationId xmlns:a16="http://schemas.microsoft.com/office/drawing/2014/main" id="{929FE207-AA17-4E47-ACFB-5D010BEA8AC2}"/>
              </a:ext>
            </a:extLst>
          </p:cNvPr>
          <p:cNvSpPr>
            <a:spLocks noGrp="1"/>
          </p:cNvSpPr>
          <p:nvPr/>
        </p:nvSpPr>
        <p:spPr>
          <a:xfrm>
            <a:off x="7973640" y="2048400"/>
            <a:ext cx="804240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UGV 端</a:t>
            </a:r>
          </a:p>
        </p:txBody>
      </p:sp>
      <p:sp>
        <p:nvSpPr>
          <p:cNvPr id="260" name="CustomShape 17">
            <a:extLst>
              <a:ext uri="{FF2B5EF4-FFF2-40B4-BE49-F238E27FC236}">
                <a16:creationId xmlns:a16="http://schemas.microsoft.com/office/drawing/2014/main" id="{6D0152F3-9393-40C9-B2EA-036E075432AF}"/>
              </a:ext>
            </a:extLst>
          </p:cNvPr>
          <p:cNvSpPr>
            <a:spLocks noGrp="1"/>
          </p:cNvSpPr>
          <p:nvPr/>
        </p:nvSpPr>
        <p:spPr>
          <a:xfrm>
            <a:off x="8832960" y="1971360"/>
            <a:ext cx="2633040" cy="464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抓取坐标</a:t>
            </a:r>
          </a:p>
          <a:p>
            <a:pPr>
              <a:lnSpc>
                <a:spcPct val="84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ur5_base_link</a:t>
            </a:r>
          </a:p>
        </p:txBody>
      </p:sp>
      <p:sp>
        <p:nvSpPr>
          <p:cNvPr id="261" name="CustomShape 18">
            <a:extLst>
              <a:ext uri="{FF2B5EF4-FFF2-40B4-BE49-F238E27FC236}">
                <a16:creationId xmlns:a16="http://schemas.microsoft.com/office/drawing/2014/main" id="{26F6BE46-6C97-418F-9E1A-269F34ECB63B}"/>
              </a:ext>
            </a:extLst>
          </p:cNvPr>
          <p:cNvSpPr>
            <a:spLocks noGrp="1"/>
          </p:cNvSpPr>
          <p:nvPr/>
        </p:nvSpPr>
        <p:spPr>
          <a:xfrm>
            <a:off x="7973640" y="2390400"/>
            <a:ext cx="3492720" cy="50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color_only：受限 ROI 中 HSV + 深度，按需降低 CPU 负载</a:t>
            </a:r>
          </a:p>
        </p:txBody>
      </p:sp>
      <p:sp>
        <p:nvSpPr>
          <p:cNvPr id="262" name="CustomShape 19">
            <a:extLst>
              <a:ext uri="{FF2B5EF4-FFF2-40B4-BE49-F238E27FC236}">
                <a16:creationId xmlns:a16="http://schemas.microsoft.com/office/drawing/2014/main" id="{D91A18E1-839B-4314-BA4B-17A2EB60B434}"/>
              </a:ext>
            </a:extLst>
          </p:cNvPr>
          <p:cNvSpPr>
            <a:spLocks noGrp="1"/>
          </p:cNvSpPr>
          <p:nvPr/>
        </p:nvSpPr>
        <p:spPr>
          <a:xfrm>
            <a:off x="438840" y="3108960"/>
            <a:ext cx="11301480" cy="106020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63" name="CustomShape 20">
            <a:extLst>
              <a:ext uri="{FF2B5EF4-FFF2-40B4-BE49-F238E27FC236}">
                <a16:creationId xmlns:a16="http://schemas.microsoft.com/office/drawing/2014/main" id="{0564CF44-6518-4DFC-B053-47AB16B3A03D}"/>
              </a:ext>
            </a:extLst>
          </p:cNvPr>
          <p:cNvSpPr>
            <a:spLocks noGrp="1"/>
          </p:cNvSpPr>
          <p:nvPr/>
        </p:nvSpPr>
        <p:spPr>
          <a:xfrm>
            <a:off x="621720" y="3200400"/>
            <a:ext cx="1700280" cy="310680"/>
          </a:xfrm>
          <a:prstGeom prst="roundRect">
            <a:avLst>
              <a:gd name="adj" fmla="val 16667"/>
            </a:avLst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64" name="CustomShape 21">
            <a:extLst>
              <a:ext uri="{FF2B5EF4-FFF2-40B4-BE49-F238E27FC236}">
                <a16:creationId xmlns:a16="http://schemas.microsoft.com/office/drawing/2014/main" id="{15B31A8F-EC00-42CF-946D-C3A6BB1B665D}"/>
              </a:ext>
            </a:extLst>
          </p:cNvPr>
          <p:cNvSpPr>
            <a:spLocks noGrp="1"/>
          </p:cNvSpPr>
          <p:nvPr/>
        </p:nvSpPr>
        <p:spPr>
          <a:xfrm>
            <a:off x="621720" y="3224520"/>
            <a:ext cx="170028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UAV 地雷坐标链</a:t>
            </a:r>
          </a:p>
        </p:txBody>
      </p:sp>
      <p:sp>
        <p:nvSpPr>
          <p:cNvPr id="265" name="Line 22">
            <a:extLst>
              <a:ext uri="{FF2B5EF4-FFF2-40B4-BE49-F238E27FC236}">
                <a16:creationId xmlns:a16="http://schemas.microsoft.com/office/drawing/2014/main" id="{49127950-E1D1-49AC-89A7-68833F8A288F}"/>
              </a:ext>
            </a:extLst>
          </p:cNvPr>
          <p:cNvSpPr>
            <a:spLocks noGrp="1"/>
          </p:cNvSpPr>
          <p:nvPr/>
        </p:nvSpPr>
        <p:spPr>
          <a:xfrm>
            <a:off x="1700640" y="3831120"/>
            <a:ext cx="109800" cy="0"/>
          </a:xfrm>
          <a:prstGeom prst="line">
            <a:avLst/>
          </a:prstGeom>
          <a:ln w="2304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66" name="Line 23">
            <a:extLst>
              <a:ext uri="{FF2B5EF4-FFF2-40B4-BE49-F238E27FC236}">
                <a16:creationId xmlns:a16="http://schemas.microsoft.com/office/drawing/2014/main" id="{1274CC4F-1FB7-4106-BF3D-F67EE569372D}"/>
              </a:ext>
            </a:extLst>
          </p:cNvPr>
          <p:cNvSpPr>
            <a:spLocks noGrp="1"/>
          </p:cNvSpPr>
          <p:nvPr/>
        </p:nvSpPr>
        <p:spPr>
          <a:xfrm>
            <a:off x="3227760" y="3831120"/>
            <a:ext cx="109800" cy="0"/>
          </a:xfrm>
          <a:prstGeom prst="line">
            <a:avLst/>
          </a:prstGeom>
          <a:ln w="2304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67" name="Line 24">
            <a:extLst>
              <a:ext uri="{FF2B5EF4-FFF2-40B4-BE49-F238E27FC236}">
                <a16:creationId xmlns:a16="http://schemas.microsoft.com/office/drawing/2014/main" id="{642C1D46-9703-4F66-A65A-756E5BA5D13F}"/>
              </a:ext>
            </a:extLst>
          </p:cNvPr>
          <p:cNvSpPr>
            <a:spLocks noGrp="1"/>
          </p:cNvSpPr>
          <p:nvPr/>
        </p:nvSpPr>
        <p:spPr>
          <a:xfrm>
            <a:off x="4608360" y="3831120"/>
            <a:ext cx="109800" cy="0"/>
          </a:xfrm>
          <a:prstGeom prst="line">
            <a:avLst/>
          </a:prstGeom>
          <a:ln w="2304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68" name="Line 25">
            <a:extLst>
              <a:ext uri="{FF2B5EF4-FFF2-40B4-BE49-F238E27FC236}">
                <a16:creationId xmlns:a16="http://schemas.microsoft.com/office/drawing/2014/main" id="{C1CD2A3A-C5EC-4492-805C-BA4710BB591C}"/>
              </a:ext>
            </a:extLst>
          </p:cNvPr>
          <p:cNvSpPr>
            <a:spLocks noGrp="1"/>
          </p:cNvSpPr>
          <p:nvPr/>
        </p:nvSpPr>
        <p:spPr>
          <a:xfrm>
            <a:off x="6080760" y="3831120"/>
            <a:ext cx="109440" cy="0"/>
          </a:xfrm>
          <a:prstGeom prst="line">
            <a:avLst/>
          </a:prstGeom>
          <a:ln w="2304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69" name="Line 26">
            <a:extLst>
              <a:ext uri="{FF2B5EF4-FFF2-40B4-BE49-F238E27FC236}">
                <a16:creationId xmlns:a16="http://schemas.microsoft.com/office/drawing/2014/main" id="{697ACA26-C2BB-4DF8-8B05-30CE679AF551}"/>
              </a:ext>
            </a:extLst>
          </p:cNvPr>
          <p:cNvSpPr>
            <a:spLocks noGrp="1"/>
          </p:cNvSpPr>
          <p:nvPr/>
        </p:nvSpPr>
        <p:spPr>
          <a:xfrm>
            <a:off x="7571160" y="3831120"/>
            <a:ext cx="109440" cy="0"/>
          </a:xfrm>
          <a:prstGeom prst="line">
            <a:avLst/>
          </a:prstGeom>
          <a:ln w="2304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0" name="Line 27">
            <a:extLst>
              <a:ext uri="{FF2B5EF4-FFF2-40B4-BE49-F238E27FC236}">
                <a16:creationId xmlns:a16="http://schemas.microsoft.com/office/drawing/2014/main" id="{BF80525B-F783-4212-B7EE-2F630187B6F4}"/>
              </a:ext>
            </a:extLst>
          </p:cNvPr>
          <p:cNvSpPr>
            <a:spLocks noGrp="1"/>
          </p:cNvSpPr>
          <p:nvPr/>
        </p:nvSpPr>
        <p:spPr>
          <a:xfrm>
            <a:off x="8970120" y="3831120"/>
            <a:ext cx="109800" cy="0"/>
          </a:xfrm>
          <a:prstGeom prst="line">
            <a:avLst/>
          </a:prstGeom>
          <a:ln w="2304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1" name="CustomShape 28">
            <a:extLst>
              <a:ext uri="{FF2B5EF4-FFF2-40B4-BE49-F238E27FC236}">
                <a16:creationId xmlns:a16="http://schemas.microsoft.com/office/drawing/2014/main" id="{3442D37B-0A88-4647-966E-939A57202D43}"/>
              </a:ext>
            </a:extLst>
          </p:cNvPr>
          <p:cNvSpPr>
            <a:spLocks noGrp="1"/>
          </p:cNvSpPr>
          <p:nvPr/>
        </p:nvSpPr>
        <p:spPr>
          <a:xfrm>
            <a:off x="621720" y="3575160"/>
            <a:ext cx="1078560" cy="493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2" name="CustomShape 29">
            <a:extLst>
              <a:ext uri="{FF2B5EF4-FFF2-40B4-BE49-F238E27FC236}">
                <a16:creationId xmlns:a16="http://schemas.microsoft.com/office/drawing/2014/main" id="{57FB4C00-67B1-4747-B6C2-82D9132B7629}"/>
              </a:ext>
            </a:extLst>
          </p:cNvPr>
          <p:cNvSpPr>
            <a:spLocks noGrp="1"/>
          </p:cNvSpPr>
          <p:nvPr/>
        </p:nvSpPr>
        <p:spPr>
          <a:xfrm>
            <a:off x="621720" y="3575160"/>
            <a:ext cx="45360" cy="4935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3" name="CustomShape 30">
            <a:extLst>
              <a:ext uri="{FF2B5EF4-FFF2-40B4-BE49-F238E27FC236}">
                <a16:creationId xmlns:a16="http://schemas.microsoft.com/office/drawing/2014/main" id="{B710DA59-433B-4DB0-9B54-96C9F5DA9A01}"/>
              </a:ext>
            </a:extLst>
          </p:cNvPr>
          <p:cNvSpPr>
            <a:spLocks noGrp="1"/>
          </p:cNvSpPr>
          <p:nvPr/>
        </p:nvSpPr>
        <p:spPr>
          <a:xfrm>
            <a:off x="694800" y="3700800"/>
            <a:ext cx="95076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 RGB</a:t>
            </a:r>
          </a:p>
        </p:txBody>
      </p:sp>
      <p:sp>
        <p:nvSpPr>
          <p:cNvPr id="274" name="CustomShape 31">
            <a:extLst>
              <a:ext uri="{FF2B5EF4-FFF2-40B4-BE49-F238E27FC236}">
                <a16:creationId xmlns:a16="http://schemas.microsoft.com/office/drawing/2014/main" id="{A6CA814F-EE14-4575-A952-B7491B418183}"/>
              </a:ext>
            </a:extLst>
          </p:cNvPr>
          <p:cNvSpPr>
            <a:spLocks noGrp="1"/>
          </p:cNvSpPr>
          <p:nvPr/>
        </p:nvSpPr>
        <p:spPr>
          <a:xfrm>
            <a:off x="1856160" y="3575160"/>
            <a:ext cx="1371240" cy="493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5" name="CustomShape 32">
            <a:extLst>
              <a:ext uri="{FF2B5EF4-FFF2-40B4-BE49-F238E27FC236}">
                <a16:creationId xmlns:a16="http://schemas.microsoft.com/office/drawing/2014/main" id="{7EA3A2AC-37FD-4425-895E-E4E0BD0FC7E1}"/>
              </a:ext>
            </a:extLst>
          </p:cNvPr>
          <p:cNvSpPr>
            <a:spLocks noGrp="1"/>
          </p:cNvSpPr>
          <p:nvPr/>
        </p:nvSpPr>
        <p:spPr>
          <a:xfrm>
            <a:off x="1856160" y="3575160"/>
            <a:ext cx="45360" cy="4935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6" name="CustomShape 33">
            <a:extLst>
              <a:ext uri="{FF2B5EF4-FFF2-40B4-BE49-F238E27FC236}">
                <a16:creationId xmlns:a16="http://schemas.microsoft.com/office/drawing/2014/main" id="{1E4ECEE3-D9A7-43F3-BE40-4DDD67191F07}"/>
              </a:ext>
            </a:extLst>
          </p:cNvPr>
          <p:cNvSpPr>
            <a:spLocks noGrp="1"/>
          </p:cNvSpPr>
          <p:nvPr/>
        </p:nvSpPr>
        <p:spPr>
          <a:xfrm>
            <a:off x="1929240" y="3579840"/>
            <a:ext cx="124308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YOLO11s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seg mask</a:t>
            </a:r>
          </a:p>
        </p:txBody>
      </p:sp>
      <p:sp>
        <p:nvSpPr>
          <p:cNvPr id="277" name="CustomShape 34">
            <a:extLst>
              <a:ext uri="{FF2B5EF4-FFF2-40B4-BE49-F238E27FC236}">
                <a16:creationId xmlns:a16="http://schemas.microsoft.com/office/drawing/2014/main" id="{ED947C56-6E34-4622-B8B7-40CCDE3BF197}"/>
              </a:ext>
            </a:extLst>
          </p:cNvPr>
          <p:cNvSpPr>
            <a:spLocks noGrp="1"/>
          </p:cNvSpPr>
          <p:nvPr/>
        </p:nvSpPr>
        <p:spPr>
          <a:xfrm>
            <a:off x="3383280" y="3575160"/>
            <a:ext cx="1225080" cy="493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8" name="CustomShape 35">
            <a:extLst>
              <a:ext uri="{FF2B5EF4-FFF2-40B4-BE49-F238E27FC236}">
                <a16:creationId xmlns:a16="http://schemas.microsoft.com/office/drawing/2014/main" id="{53DAD7B6-9A47-485B-9136-A3D50626902E}"/>
              </a:ext>
            </a:extLst>
          </p:cNvPr>
          <p:cNvSpPr>
            <a:spLocks noGrp="1"/>
          </p:cNvSpPr>
          <p:nvPr/>
        </p:nvSpPr>
        <p:spPr>
          <a:xfrm>
            <a:off x="3383280" y="3575160"/>
            <a:ext cx="45360" cy="4935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79" name="CustomShape 36">
            <a:extLst>
              <a:ext uri="{FF2B5EF4-FFF2-40B4-BE49-F238E27FC236}">
                <a16:creationId xmlns:a16="http://schemas.microsoft.com/office/drawing/2014/main" id="{1FFF693D-8965-43F8-BFD8-454531E02933}"/>
              </a:ext>
            </a:extLst>
          </p:cNvPr>
          <p:cNvSpPr>
            <a:spLocks noGrp="1"/>
          </p:cNvSpPr>
          <p:nvPr/>
        </p:nvSpPr>
        <p:spPr>
          <a:xfrm>
            <a:off x="3456360" y="3579840"/>
            <a:ext cx="109692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mask +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对齐深度</a:t>
            </a:r>
          </a:p>
        </p:txBody>
      </p:sp>
      <p:sp>
        <p:nvSpPr>
          <p:cNvPr id="280" name="CustomShape 37">
            <a:extLst>
              <a:ext uri="{FF2B5EF4-FFF2-40B4-BE49-F238E27FC236}">
                <a16:creationId xmlns:a16="http://schemas.microsoft.com/office/drawing/2014/main" id="{F54A5775-09D1-498C-B6DB-855BC9D621C0}"/>
              </a:ext>
            </a:extLst>
          </p:cNvPr>
          <p:cNvSpPr>
            <a:spLocks noGrp="1"/>
          </p:cNvSpPr>
          <p:nvPr/>
        </p:nvSpPr>
        <p:spPr>
          <a:xfrm>
            <a:off x="4763880" y="3575160"/>
            <a:ext cx="1316520" cy="493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81" name="CustomShape 38">
            <a:extLst>
              <a:ext uri="{FF2B5EF4-FFF2-40B4-BE49-F238E27FC236}">
                <a16:creationId xmlns:a16="http://schemas.microsoft.com/office/drawing/2014/main" id="{BA0D7688-FA94-4C58-A3BA-A9D70B2796DE}"/>
              </a:ext>
            </a:extLst>
          </p:cNvPr>
          <p:cNvSpPr>
            <a:spLocks noGrp="1"/>
          </p:cNvSpPr>
          <p:nvPr/>
        </p:nvSpPr>
        <p:spPr>
          <a:xfrm>
            <a:off x="4763880" y="3575160"/>
            <a:ext cx="45360" cy="4935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82" name="CustomShape 39">
            <a:extLst>
              <a:ext uri="{FF2B5EF4-FFF2-40B4-BE49-F238E27FC236}">
                <a16:creationId xmlns:a16="http://schemas.microsoft.com/office/drawing/2014/main" id="{E4B789B7-C2FC-46D9-ACBC-DA4152BD0F6F}"/>
              </a:ext>
            </a:extLst>
          </p:cNvPr>
          <p:cNvSpPr>
            <a:spLocks noGrp="1"/>
          </p:cNvSpPr>
          <p:nvPr/>
        </p:nvSpPr>
        <p:spPr>
          <a:xfrm>
            <a:off x="4837320" y="3700800"/>
            <a:ext cx="118836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p_camera</a:t>
            </a:r>
          </a:p>
        </p:txBody>
      </p:sp>
      <p:sp>
        <p:nvSpPr>
          <p:cNvPr id="283" name="CustomShape 40">
            <a:extLst>
              <a:ext uri="{FF2B5EF4-FFF2-40B4-BE49-F238E27FC236}">
                <a16:creationId xmlns:a16="http://schemas.microsoft.com/office/drawing/2014/main" id="{CE7D2D5F-E904-43D3-A66E-04290FC1EED4}"/>
              </a:ext>
            </a:extLst>
          </p:cNvPr>
          <p:cNvSpPr>
            <a:spLocks noGrp="1"/>
          </p:cNvSpPr>
          <p:nvPr/>
        </p:nvSpPr>
        <p:spPr>
          <a:xfrm>
            <a:off x="6236280" y="3575160"/>
            <a:ext cx="1334520" cy="493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84" name="CustomShape 41">
            <a:extLst>
              <a:ext uri="{FF2B5EF4-FFF2-40B4-BE49-F238E27FC236}">
                <a16:creationId xmlns:a16="http://schemas.microsoft.com/office/drawing/2014/main" id="{404D01FA-0533-461B-B539-A12F7D735169}"/>
              </a:ext>
            </a:extLst>
          </p:cNvPr>
          <p:cNvSpPr>
            <a:spLocks noGrp="1"/>
          </p:cNvSpPr>
          <p:nvPr/>
        </p:nvSpPr>
        <p:spPr>
          <a:xfrm>
            <a:off x="6236280" y="3575160"/>
            <a:ext cx="45360" cy="4935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85" name="CustomShape 42">
            <a:extLst>
              <a:ext uri="{FF2B5EF4-FFF2-40B4-BE49-F238E27FC236}">
                <a16:creationId xmlns:a16="http://schemas.microsoft.com/office/drawing/2014/main" id="{2BED0FF3-EB8F-4C30-8FE2-F813A6A9B40F}"/>
              </a:ext>
            </a:extLst>
          </p:cNvPr>
          <p:cNvSpPr>
            <a:spLocks noGrp="1"/>
          </p:cNvSpPr>
          <p:nvPr/>
        </p:nvSpPr>
        <p:spPr>
          <a:xfrm>
            <a:off x="6309360" y="3589920"/>
            <a:ext cx="1206720" cy="46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t_img 对应 TF</a:t>
            </a:r>
          </a:p>
        </p:txBody>
      </p:sp>
      <p:sp>
        <p:nvSpPr>
          <p:cNvPr id="286" name="CustomShape 43">
            <a:extLst>
              <a:ext uri="{FF2B5EF4-FFF2-40B4-BE49-F238E27FC236}">
                <a16:creationId xmlns:a16="http://schemas.microsoft.com/office/drawing/2014/main" id="{CEE81D6A-2041-4F02-9374-B10AD6944DD0}"/>
              </a:ext>
            </a:extLst>
          </p:cNvPr>
          <p:cNvSpPr>
            <a:spLocks noGrp="1"/>
          </p:cNvSpPr>
          <p:nvPr/>
        </p:nvSpPr>
        <p:spPr>
          <a:xfrm>
            <a:off x="7726680" y="3575160"/>
            <a:ext cx="1243080" cy="493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28B99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87" name="CustomShape 44">
            <a:extLst>
              <a:ext uri="{FF2B5EF4-FFF2-40B4-BE49-F238E27FC236}">
                <a16:creationId xmlns:a16="http://schemas.microsoft.com/office/drawing/2014/main" id="{1FD29B40-3303-4F00-9FD1-EC2CB6EF6F46}"/>
              </a:ext>
            </a:extLst>
          </p:cNvPr>
          <p:cNvSpPr>
            <a:spLocks noGrp="1"/>
          </p:cNvSpPr>
          <p:nvPr/>
        </p:nvSpPr>
        <p:spPr>
          <a:xfrm>
            <a:off x="7726680" y="3575160"/>
            <a:ext cx="45360" cy="493560"/>
          </a:xfrm>
          <a:prstGeom prst="rect">
            <a:avLst/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88" name="CustomShape 45">
            <a:extLst>
              <a:ext uri="{FF2B5EF4-FFF2-40B4-BE49-F238E27FC236}">
                <a16:creationId xmlns:a16="http://schemas.microsoft.com/office/drawing/2014/main" id="{ED34C066-8FDB-471A-9E3E-D9B63544728A}"/>
              </a:ext>
            </a:extLst>
          </p:cNvPr>
          <p:cNvSpPr>
            <a:spLocks noGrp="1"/>
          </p:cNvSpPr>
          <p:nvPr/>
        </p:nvSpPr>
        <p:spPr>
          <a:xfrm>
            <a:off x="7799760" y="3700800"/>
            <a:ext cx="11152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p_uavlocal</a:t>
            </a:r>
          </a:p>
        </p:txBody>
      </p:sp>
      <p:sp>
        <p:nvSpPr>
          <p:cNvPr id="289" name="CustomShape 46">
            <a:extLst>
              <a:ext uri="{FF2B5EF4-FFF2-40B4-BE49-F238E27FC236}">
                <a16:creationId xmlns:a16="http://schemas.microsoft.com/office/drawing/2014/main" id="{CF254049-F933-4023-A086-E5ABC566D5F8}"/>
              </a:ext>
            </a:extLst>
          </p:cNvPr>
          <p:cNvSpPr>
            <a:spLocks noGrp="1"/>
          </p:cNvSpPr>
          <p:nvPr/>
        </p:nvSpPr>
        <p:spPr>
          <a:xfrm>
            <a:off x="9125640" y="3575160"/>
            <a:ext cx="2358720" cy="493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90" name="CustomShape 47">
            <a:extLst>
              <a:ext uri="{FF2B5EF4-FFF2-40B4-BE49-F238E27FC236}">
                <a16:creationId xmlns:a16="http://schemas.microsoft.com/office/drawing/2014/main" id="{BCF8CF03-C90E-41B7-A4C0-56D984BCCB24}"/>
              </a:ext>
            </a:extLst>
          </p:cNvPr>
          <p:cNvSpPr>
            <a:spLocks noGrp="1"/>
          </p:cNvSpPr>
          <p:nvPr/>
        </p:nvSpPr>
        <p:spPr>
          <a:xfrm>
            <a:off x="9125640" y="3575160"/>
            <a:ext cx="45360" cy="49356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91" name="CustomShape 48">
            <a:extLst>
              <a:ext uri="{FF2B5EF4-FFF2-40B4-BE49-F238E27FC236}">
                <a16:creationId xmlns:a16="http://schemas.microsoft.com/office/drawing/2014/main" id="{AF90F185-61A2-4650-8681-1D5136A72BB8}"/>
              </a:ext>
            </a:extLst>
          </p:cNvPr>
          <p:cNvSpPr>
            <a:spLocks noGrp="1"/>
          </p:cNvSpPr>
          <p:nvPr/>
        </p:nvSpPr>
        <p:spPr>
          <a:xfrm>
            <a:off x="9198720" y="3579840"/>
            <a:ext cx="223092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/mine_detection/raw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uav0/map_local</a:t>
            </a:r>
          </a:p>
        </p:txBody>
      </p:sp>
      <p:sp>
        <p:nvSpPr>
          <p:cNvPr id="292" name="CustomShape 49">
            <a:extLst>
              <a:ext uri="{FF2B5EF4-FFF2-40B4-BE49-F238E27FC236}">
                <a16:creationId xmlns:a16="http://schemas.microsoft.com/office/drawing/2014/main" id="{FCC81504-5910-4C63-AC4B-5F7479088854}"/>
              </a:ext>
            </a:extLst>
          </p:cNvPr>
          <p:cNvSpPr>
            <a:spLocks noGrp="1"/>
          </p:cNvSpPr>
          <p:nvPr/>
        </p:nvSpPr>
        <p:spPr>
          <a:xfrm>
            <a:off x="438840" y="4288680"/>
            <a:ext cx="11301480" cy="109692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4F8CF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93" name="CustomShape 50">
            <a:extLst>
              <a:ext uri="{FF2B5EF4-FFF2-40B4-BE49-F238E27FC236}">
                <a16:creationId xmlns:a16="http://schemas.microsoft.com/office/drawing/2014/main" id="{A7FD8A6D-E8BC-4582-84EB-81DB4E6580EC}"/>
              </a:ext>
            </a:extLst>
          </p:cNvPr>
          <p:cNvSpPr>
            <a:spLocks noGrp="1"/>
          </p:cNvSpPr>
          <p:nvPr/>
        </p:nvSpPr>
        <p:spPr>
          <a:xfrm>
            <a:off x="640080" y="4280000"/>
            <a:ext cx="5138640" cy="3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25D5D0"/>
                </a:solidFill>
                <a:latin typeface="Noto Sans Mono CJK SC"/>
                <a:ea typeface="Noto Sans Mono CJK SC"/>
                <a:cs typeface="Noto Sans Mono CJK SC"/>
              </a:rPr>
              <a:t>p_uavlocal = T_uavlocal_camera(t_img) · p_camera</a:t>
            </a:r>
          </a:p>
        </p:txBody>
      </p:sp>
      <p:sp>
        <p:nvSpPr>
          <p:cNvPr id="294" name="CustomShape 51">
            <a:extLst>
              <a:ext uri="{FF2B5EF4-FFF2-40B4-BE49-F238E27FC236}">
                <a16:creationId xmlns:a16="http://schemas.microsoft.com/office/drawing/2014/main" id="{A6FB1120-BE05-444F-BA78-664D584D61F4}"/>
              </a:ext>
            </a:extLst>
          </p:cNvPr>
          <p:cNvSpPr>
            <a:spLocks noGrp="1"/>
          </p:cNvSpPr>
          <p:nvPr/>
        </p:nvSpPr>
        <p:spPr>
          <a:xfrm>
            <a:off x="640080" y="4680000"/>
            <a:ext cx="5138640" cy="3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00" b="0">
                <a:solidFill>
                  <a:srgbClr val="9CB4C1"/>
                </a:solidFill>
                <a:latin typeface="Noto Sans Mono CJK SC"/>
                <a:ea typeface="Noto Sans Mono CJK SC"/>
                <a:cs typeface="Noto Sans Mono CJK SC"/>
              </a:rPr>
              <a:t>T_uavlocal_camera = T_uavlocal_base(t_img) · T_base_camera</a:t>
            </a:r>
          </a:p>
        </p:txBody>
      </p:sp>
      <p:sp>
        <p:nvSpPr>
          <p:cNvPr id="295" name="CustomShape 52">
            <a:extLst>
              <a:ext uri="{FF2B5EF4-FFF2-40B4-BE49-F238E27FC236}">
                <a16:creationId xmlns:a16="http://schemas.microsoft.com/office/drawing/2014/main" id="{7E2BF67F-82B0-454D-A653-BFDE7DFA19A1}"/>
              </a:ext>
            </a:extLst>
          </p:cNvPr>
          <p:cNvSpPr>
            <a:spLocks noGrp="1"/>
          </p:cNvSpPr>
          <p:nvPr/>
        </p:nvSpPr>
        <p:spPr>
          <a:xfrm>
            <a:off x="5970960" y="4205520"/>
            <a:ext cx="5540760" cy="1190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4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p_camera：相机光学坐标系三维点</a:t>
            </a:r>
          </a:p>
          <a:p>
            <a:r>
              <a:rPr sz="14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p_mine_uavlocal = T_uavlocal_camera(t_img) · p_mine_camera</a:t>
            </a:r>
          </a:p>
          <a:p>
            <a:r>
              <a:rPr sz="14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必须查询 t_img 对应 TF</a:t>
            </a:r>
          </a:p>
          <a:p>
            <a:r>
              <a:rPr sz="14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不能使用最新 TF 代替图像时刻 TF</a:t>
            </a:r>
          </a:p>
          <a:p>
            <a:pPr>
              <a:lnSpc>
                <a:spcPct val="82000"/>
              </a:lnSpc>
              <a:buNone/>
            </a:pPr>
            <a:r>
              <a:rPr sz="1400" b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转换后 frame_id = uav0/map_local</a:t>
            </a:r>
          </a:p>
        </p:txBody>
      </p:sp>
      <p:sp>
        <p:nvSpPr>
          <p:cNvPr id="296" name="CustomShape 53">
            <a:extLst>
              <a:ext uri="{FF2B5EF4-FFF2-40B4-BE49-F238E27FC236}">
                <a16:creationId xmlns:a16="http://schemas.microsoft.com/office/drawing/2014/main" id="{0857751F-C163-4926-B0BA-BB6B5B774ED2}"/>
              </a:ext>
            </a:extLst>
          </p:cNvPr>
          <p:cNvSpPr>
            <a:spLocks noGrp="1"/>
          </p:cNvSpPr>
          <p:nvPr/>
        </p:nvSpPr>
        <p:spPr>
          <a:xfrm>
            <a:off x="438840" y="5486400"/>
            <a:ext cx="11301480" cy="98712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97" name="CustomShape 54">
            <a:extLst>
              <a:ext uri="{FF2B5EF4-FFF2-40B4-BE49-F238E27FC236}">
                <a16:creationId xmlns:a16="http://schemas.microsoft.com/office/drawing/2014/main" id="{F5CB1598-C82D-4E6B-8A49-F7007CA3679D}"/>
              </a:ext>
            </a:extLst>
          </p:cNvPr>
          <p:cNvSpPr>
            <a:spLocks noGrp="1"/>
          </p:cNvSpPr>
          <p:nvPr/>
        </p:nvSpPr>
        <p:spPr>
          <a:xfrm>
            <a:off x="612720" y="5559480"/>
            <a:ext cx="1901520" cy="31068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298" name="CustomShape 55">
            <a:extLst>
              <a:ext uri="{FF2B5EF4-FFF2-40B4-BE49-F238E27FC236}">
                <a16:creationId xmlns:a16="http://schemas.microsoft.com/office/drawing/2014/main" id="{5972A6A7-5273-4C2C-863C-155EAAEBA32D}"/>
              </a:ext>
            </a:extLst>
          </p:cNvPr>
          <p:cNvSpPr>
            <a:spLocks noGrp="1"/>
          </p:cNvSpPr>
          <p:nvPr/>
        </p:nvSpPr>
        <p:spPr>
          <a:xfrm>
            <a:off x="612720" y="5583600"/>
            <a:ext cx="190152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UGV 腕部精定位</a:t>
            </a:r>
          </a:p>
        </p:txBody>
      </p:sp>
      <p:sp>
        <p:nvSpPr>
          <p:cNvPr id="299" name="Line 56">
            <a:extLst>
              <a:ext uri="{FF2B5EF4-FFF2-40B4-BE49-F238E27FC236}">
                <a16:creationId xmlns:a16="http://schemas.microsoft.com/office/drawing/2014/main" id="{1963974D-EF82-4FEB-A08E-46248CABDD5E}"/>
              </a:ext>
            </a:extLst>
          </p:cNvPr>
          <p:cNvSpPr>
            <a:spLocks noGrp="1"/>
          </p:cNvSpPr>
          <p:nvPr/>
        </p:nvSpPr>
        <p:spPr>
          <a:xfrm>
            <a:off x="3849480" y="6217920"/>
            <a:ext cx="91440" cy="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0" name="Line 57">
            <a:extLst>
              <a:ext uri="{FF2B5EF4-FFF2-40B4-BE49-F238E27FC236}">
                <a16:creationId xmlns:a16="http://schemas.microsoft.com/office/drawing/2014/main" id="{3F9CE672-2A50-4D5D-A69B-B311CC9FC597}"/>
              </a:ext>
            </a:extLst>
          </p:cNvPr>
          <p:cNvSpPr>
            <a:spLocks noGrp="1"/>
          </p:cNvSpPr>
          <p:nvPr/>
        </p:nvSpPr>
        <p:spPr>
          <a:xfrm>
            <a:off x="5010840" y="6217920"/>
            <a:ext cx="91440" cy="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1" name="Line 58">
            <a:extLst>
              <a:ext uri="{FF2B5EF4-FFF2-40B4-BE49-F238E27FC236}">
                <a16:creationId xmlns:a16="http://schemas.microsoft.com/office/drawing/2014/main" id="{A67D5595-9B57-4A4F-B1E3-A2F01ED81875}"/>
              </a:ext>
            </a:extLst>
          </p:cNvPr>
          <p:cNvSpPr>
            <a:spLocks noGrp="1"/>
          </p:cNvSpPr>
          <p:nvPr/>
        </p:nvSpPr>
        <p:spPr>
          <a:xfrm>
            <a:off x="6382440" y="6217920"/>
            <a:ext cx="91440" cy="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2" name="Line 59">
            <a:extLst>
              <a:ext uri="{FF2B5EF4-FFF2-40B4-BE49-F238E27FC236}">
                <a16:creationId xmlns:a16="http://schemas.microsoft.com/office/drawing/2014/main" id="{9BDE1201-9E92-48EF-A3B5-E604F6679530}"/>
              </a:ext>
            </a:extLst>
          </p:cNvPr>
          <p:cNvSpPr>
            <a:spLocks noGrp="1"/>
          </p:cNvSpPr>
          <p:nvPr/>
        </p:nvSpPr>
        <p:spPr>
          <a:xfrm>
            <a:off x="7982640" y="6217920"/>
            <a:ext cx="91440" cy="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3" name="Line 60">
            <a:extLst>
              <a:ext uri="{FF2B5EF4-FFF2-40B4-BE49-F238E27FC236}">
                <a16:creationId xmlns:a16="http://schemas.microsoft.com/office/drawing/2014/main" id="{291838B5-A8AD-4A7A-926C-9251E90A357D}"/>
              </a:ext>
            </a:extLst>
          </p:cNvPr>
          <p:cNvSpPr>
            <a:spLocks noGrp="1"/>
          </p:cNvSpPr>
          <p:nvPr/>
        </p:nvSpPr>
        <p:spPr>
          <a:xfrm>
            <a:off x="9537120" y="6217920"/>
            <a:ext cx="91440" cy="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4" name="CustomShape 61">
            <a:extLst>
              <a:ext uri="{FF2B5EF4-FFF2-40B4-BE49-F238E27FC236}">
                <a16:creationId xmlns:a16="http://schemas.microsoft.com/office/drawing/2014/main" id="{9D5E2189-6471-432A-BCD7-D241C8143F3A}"/>
              </a:ext>
            </a:extLst>
          </p:cNvPr>
          <p:cNvSpPr>
            <a:spLocks noGrp="1"/>
          </p:cNvSpPr>
          <p:nvPr/>
        </p:nvSpPr>
        <p:spPr>
          <a:xfrm>
            <a:off x="2679120" y="5970960"/>
            <a:ext cx="1170000" cy="511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5" name="CustomShape 62">
            <a:extLst>
              <a:ext uri="{FF2B5EF4-FFF2-40B4-BE49-F238E27FC236}">
                <a16:creationId xmlns:a16="http://schemas.microsoft.com/office/drawing/2014/main" id="{401C0542-7909-43C2-B7B0-2B0F3F9D23F3}"/>
              </a:ext>
            </a:extLst>
          </p:cNvPr>
          <p:cNvSpPr>
            <a:spLocks noGrp="1"/>
          </p:cNvSpPr>
          <p:nvPr/>
        </p:nvSpPr>
        <p:spPr>
          <a:xfrm>
            <a:off x="2679120" y="5970960"/>
            <a:ext cx="45360" cy="5115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6" name="CustomShape 63">
            <a:extLst>
              <a:ext uri="{FF2B5EF4-FFF2-40B4-BE49-F238E27FC236}">
                <a16:creationId xmlns:a16="http://schemas.microsoft.com/office/drawing/2014/main" id="{6C2ECAA6-45EE-4683-9807-1D3F67B92C4E}"/>
              </a:ext>
            </a:extLst>
          </p:cNvPr>
          <p:cNvSpPr>
            <a:spLocks noGrp="1"/>
          </p:cNvSpPr>
          <p:nvPr/>
        </p:nvSpPr>
        <p:spPr>
          <a:xfrm>
            <a:off x="2752200" y="5985000"/>
            <a:ext cx="104220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UAV 目标先验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粗坐标</a:t>
            </a:r>
          </a:p>
        </p:txBody>
      </p:sp>
      <p:sp>
        <p:nvSpPr>
          <p:cNvPr id="307" name="CustomShape 64">
            <a:extLst>
              <a:ext uri="{FF2B5EF4-FFF2-40B4-BE49-F238E27FC236}">
                <a16:creationId xmlns:a16="http://schemas.microsoft.com/office/drawing/2014/main" id="{FDFC064C-07BB-4128-AEC8-343D038D01B9}"/>
              </a:ext>
            </a:extLst>
          </p:cNvPr>
          <p:cNvSpPr>
            <a:spLocks noGrp="1"/>
          </p:cNvSpPr>
          <p:nvPr/>
        </p:nvSpPr>
        <p:spPr>
          <a:xfrm>
            <a:off x="3986640" y="5970960"/>
            <a:ext cx="1023840" cy="511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8" name="CustomShape 65">
            <a:extLst>
              <a:ext uri="{FF2B5EF4-FFF2-40B4-BE49-F238E27FC236}">
                <a16:creationId xmlns:a16="http://schemas.microsoft.com/office/drawing/2014/main" id="{E080D0F2-8768-495A-924F-AAF950EF5D54}"/>
              </a:ext>
            </a:extLst>
          </p:cNvPr>
          <p:cNvSpPr>
            <a:spLocks noGrp="1"/>
          </p:cNvSpPr>
          <p:nvPr/>
        </p:nvSpPr>
        <p:spPr>
          <a:xfrm>
            <a:off x="3986640" y="5970960"/>
            <a:ext cx="45360" cy="5115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09" name="CustomShape 66">
            <a:extLst>
              <a:ext uri="{FF2B5EF4-FFF2-40B4-BE49-F238E27FC236}">
                <a16:creationId xmlns:a16="http://schemas.microsoft.com/office/drawing/2014/main" id="{825F12E3-4330-4182-925C-8FE186869113}"/>
              </a:ext>
            </a:extLst>
          </p:cNvPr>
          <p:cNvSpPr>
            <a:spLocks noGrp="1"/>
          </p:cNvSpPr>
          <p:nvPr/>
        </p:nvSpPr>
        <p:spPr>
          <a:xfrm>
            <a:off x="4060080" y="6105600"/>
            <a:ext cx="89568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导航抵近</a:t>
            </a:r>
          </a:p>
        </p:txBody>
      </p:sp>
      <p:sp>
        <p:nvSpPr>
          <p:cNvPr id="310" name="CustomShape 67">
            <a:extLst>
              <a:ext uri="{FF2B5EF4-FFF2-40B4-BE49-F238E27FC236}">
                <a16:creationId xmlns:a16="http://schemas.microsoft.com/office/drawing/2014/main" id="{8F45FC89-9A9A-4000-B335-C9C22A354522}"/>
              </a:ext>
            </a:extLst>
          </p:cNvPr>
          <p:cNvSpPr>
            <a:spLocks noGrp="1"/>
          </p:cNvSpPr>
          <p:nvPr/>
        </p:nvSpPr>
        <p:spPr>
          <a:xfrm>
            <a:off x="5148000" y="5970960"/>
            <a:ext cx="1234080" cy="511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11" name="CustomShape 68">
            <a:extLst>
              <a:ext uri="{FF2B5EF4-FFF2-40B4-BE49-F238E27FC236}">
                <a16:creationId xmlns:a16="http://schemas.microsoft.com/office/drawing/2014/main" id="{BAD16BE2-210A-4641-B955-0448F7D5F735}"/>
              </a:ext>
            </a:extLst>
          </p:cNvPr>
          <p:cNvSpPr>
            <a:spLocks noGrp="1"/>
          </p:cNvSpPr>
          <p:nvPr/>
        </p:nvSpPr>
        <p:spPr>
          <a:xfrm>
            <a:off x="5148000" y="5970960"/>
            <a:ext cx="45360" cy="5115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12" name="CustomShape 69">
            <a:extLst>
              <a:ext uri="{FF2B5EF4-FFF2-40B4-BE49-F238E27FC236}">
                <a16:creationId xmlns:a16="http://schemas.microsoft.com/office/drawing/2014/main" id="{41876734-1236-4265-8FCD-32394F49EA6F}"/>
              </a:ext>
            </a:extLst>
          </p:cNvPr>
          <p:cNvSpPr>
            <a:spLocks noGrp="1"/>
          </p:cNvSpPr>
          <p:nvPr/>
        </p:nvSpPr>
        <p:spPr>
          <a:xfrm>
            <a:off x="5221080" y="5985000"/>
            <a:ext cx="110592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腕部 HSV / 深度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mask</a:t>
            </a:r>
          </a:p>
        </p:txBody>
      </p:sp>
      <p:sp>
        <p:nvSpPr>
          <p:cNvPr id="313" name="CustomShape 70">
            <a:extLst>
              <a:ext uri="{FF2B5EF4-FFF2-40B4-BE49-F238E27FC236}">
                <a16:creationId xmlns:a16="http://schemas.microsoft.com/office/drawing/2014/main" id="{BFFC52BC-BF70-4C33-9018-48F631FA0B9F}"/>
              </a:ext>
            </a:extLst>
          </p:cNvPr>
          <p:cNvSpPr>
            <a:spLocks noGrp="1"/>
          </p:cNvSpPr>
          <p:nvPr/>
        </p:nvSpPr>
        <p:spPr>
          <a:xfrm>
            <a:off x="6519600" y="5970960"/>
            <a:ext cx="1462680" cy="511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14" name="CustomShape 71">
            <a:extLst>
              <a:ext uri="{FF2B5EF4-FFF2-40B4-BE49-F238E27FC236}">
                <a16:creationId xmlns:a16="http://schemas.microsoft.com/office/drawing/2014/main" id="{31C3DA61-0625-455C-ABD6-689CCFFC26BF}"/>
              </a:ext>
            </a:extLst>
          </p:cNvPr>
          <p:cNvSpPr>
            <a:spLocks noGrp="1"/>
          </p:cNvSpPr>
          <p:nvPr/>
        </p:nvSpPr>
        <p:spPr>
          <a:xfrm>
            <a:off x="6519600" y="5970960"/>
            <a:ext cx="45360" cy="5115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15" name="CustomShape 72">
            <a:extLst>
              <a:ext uri="{FF2B5EF4-FFF2-40B4-BE49-F238E27FC236}">
                <a16:creationId xmlns:a16="http://schemas.microsoft.com/office/drawing/2014/main" id="{A53D4659-5593-4B30-949D-F37722F2467D}"/>
              </a:ext>
            </a:extLst>
          </p:cNvPr>
          <p:cNvSpPr>
            <a:spLocks noGrp="1"/>
          </p:cNvSpPr>
          <p:nvPr/>
        </p:nvSpPr>
        <p:spPr>
          <a:xfrm>
            <a:off x="6592680" y="5985000"/>
            <a:ext cx="133452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HSV + RGB-D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mask 内</a:t>
            </a:r>
          </a:p>
        </p:txBody>
      </p:sp>
      <p:sp>
        <p:nvSpPr>
          <p:cNvPr id="316" name="CustomShape 73">
            <a:extLst>
              <a:ext uri="{FF2B5EF4-FFF2-40B4-BE49-F238E27FC236}">
                <a16:creationId xmlns:a16="http://schemas.microsoft.com/office/drawing/2014/main" id="{AC2A46F9-6F5B-4309-8E7B-EBBEBAFC8F42}"/>
              </a:ext>
            </a:extLst>
          </p:cNvPr>
          <p:cNvSpPr>
            <a:spLocks noGrp="1"/>
          </p:cNvSpPr>
          <p:nvPr/>
        </p:nvSpPr>
        <p:spPr>
          <a:xfrm>
            <a:off x="8119800" y="5970960"/>
            <a:ext cx="1416960" cy="511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17" name="CustomShape 74">
            <a:extLst>
              <a:ext uri="{FF2B5EF4-FFF2-40B4-BE49-F238E27FC236}">
                <a16:creationId xmlns:a16="http://schemas.microsoft.com/office/drawing/2014/main" id="{DF3C0651-9A52-4067-8FF8-DEA0FBDC3DF4}"/>
              </a:ext>
            </a:extLst>
          </p:cNvPr>
          <p:cNvSpPr>
            <a:spLocks noGrp="1"/>
          </p:cNvSpPr>
          <p:nvPr/>
        </p:nvSpPr>
        <p:spPr>
          <a:xfrm>
            <a:off x="8119800" y="5970960"/>
            <a:ext cx="45360" cy="5115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18" name="CustomShape 75">
            <a:extLst>
              <a:ext uri="{FF2B5EF4-FFF2-40B4-BE49-F238E27FC236}">
                <a16:creationId xmlns:a16="http://schemas.microsoft.com/office/drawing/2014/main" id="{BBC90D76-3ACF-4EFD-B0D1-A332400E4D08}"/>
              </a:ext>
            </a:extLst>
          </p:cNvPr>
          <p:cNvSpPr>
            <a:spLocks noGrp="1"/>
          </p:cNvSpPr>
          <p:nvPr/>
        </p:nvSpPr>
        <p:spPr>
          <a:xfrm>
            <a:off x="8192880" y="5985000"/>
            <a:ext cx="128880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t_img TF →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ur5_base</a:t>
            </a:r>
          </a:p>
        </p:txBody>
      </p:sp>
      <p:sp>
        <p:nvSpPr>
          <p:cNvPr id="319" name="CustomShape 76">
            <a:extLst>
              <a:ext uri="{FF2B5EF4-FFF2-40B4-BE49-F238E27FC236}">
                <a16:creationId xmlns:a16="http://schemas.microsoft.com/office/drawing/2014/main" id="{C4FEC7FF-801C-4246-8890-1E5F617325A2}"/>
              </a:ext>
            </a:extLst>
          </p:cNvPr>
          <p:cNvSpPr>
            <a:spLocks noGrp="1"/>
          </p:cNvSpPr>
          <p:nvPr/>
        </p:nvSpPr>
        <p:spPr>
          <a:xfrm>
            <a:off x="9674280" y="5970960"/>
            <a:ext cx="1810080" cy="5115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20" name="CustomShape 77">
            <a:extLst>
              <a:ext uri="{FF2B5EF4-FFF2-40B4-BE49-F238E27FC236}">
                <a16:creationId xmlns:a16="http://schemas.microsoft.com/office/drawing/2014/main" id="{A38E5369-2F8C-4238-B654-54B477EDE10F}"/>
              </a:ext>
            </a:extLst>
          </p:cNvPr>
          <p:cNvSpPr>
            <a:spLocks noGrp="1"/>
          </p:cNvSpPr>
          <p:nvPr/>
        </p:nvSpPr>
        <p:spPr>
          <a:xfrm>
            <a:off x="9674280" y="5970960"/>
            <a:ext cx="45360" cy="5115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21" name="CustomShape 78">
            <a:extLst>
              <a:ext uri="{FF2B5EF4-FFF2-40B4-BE49-F238E27FC236}">
                <a16:creationId xmlns:a16="http://schemas.microsoft.com/office/drawing/2014/main" id="{9ED7B438-3AB0-42BC-910A-F1B9D1673B7C}"/>
              </a:ext>
            </a:extLst>
          </p:cNvPr>
          <p:cNvSpPr>
            <a:spLocks noGrp="1"/>
          </p:cNvSpPr>
          <p:nvPr/>
        </p:nvSpPr>
        <p:spPr>
          <a:xfrm>
            <a:off x="9747360" y="5985000"/>
            <a:ext cx="168228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3 帧稳定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MoveIt 抓取</a:t>
            </a:r>
          </a:p>
        </p:txBody>
      </p:sp>
    </p:spTree>
    <p:extLst>
      <p:ext uri="{BB962C8B-B14F-4D97-AF65-F5344CB8AC3E}">
        <p14:creationId xmlns:p14="http://schemas.microsoft.com/office/powerpoint/2010/main" val="4624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1">
            <a:extLst>
              <a:ext uri="{FF2B5EF4-FFF2-40B4-BE49-F238E27FC236}">
                <a16:creationId xmlns:a16="http://schemas.microsoft.com/office/drawing/2014/main" id="{CDAB3EF5-7B1E-42D4-8499-87ED42224D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23" name="CustomShape 2">
            <a:extLst>
              <a:ext uri="{FF2B5EF4-FFF2-40B4-BE49-F238E27FC236}">
                <a16:creationId xmlns:a16="http://schemas.microsoft.com/office/drawing/2014/main" id="{530157E5-FAC9-4249-9B5F-D7615C19DF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24" name="CustomShape 3">
            <a:extLst>
              <a:ext uri="{FF2B5EF4-FFF2-40B4-BE49-F238E27FC236}">
                <a16:creationId xmlns:a16="http://schemas.microsoft.com/office/drawing/2014/main" id="{46EBBEB7-129E-4242-88D1-59B2E6CC71A5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500" b="1" dirty="0">
              <a:solidFill>
                <a:srgbClr val="25D5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5" name="CustomShape 4">
            <a:extLst>
              <a:ext uri="{FF2B5EF4-FFF2-40B4-BE49-F238E27FC236}">
                <a16:creationId xmlns:a16="http://schemas.microsoft.com/office/drawing/2014/main" id="{DFFF55EE-DC08-4E3E-BBB6-A331226B5DF4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多帧融合与地雷任务地图</a:t>
            </a:r>
          </a:p>
        </p:txBody>
      </p:sp>
      <p:sp>
        <p:nvSpPr>
          <p:cNvPr id="326" name="CustomShape 5">
            <a:extLst>
              <a:ext uri="{FF2B5EF4-FFF2-40B4-BE49-F238E27FC236}">
                <a16:creationId xmlns:a16="http://schemas.microsoft.com/office/drawing/2014/main" id="{0D12C669-A7F4-4181-9682-A19ED4736412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单帧 uav0/map_local 观测经关联确认，形成稳定 ID 语义地图</a:t>
            </a:r>
          </a:p>
        </p:txBody>
      </p:sp>
      <p:sp>
        <p:nvSpPr>
          <p:cNvPr id="327" name="CustomShape 6">
            <a:extLst>
              <a:ext uri="{FF2B5EF4-FFF2-40B4-BE49-F238E27FC236}">
                <a16:creationId xmlns:a16="http://schemas.microsoft.com/office/drawing/2014/main" id="{14AE0228-A22D-494B-A5AD-20CB6C837C89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28" name="CustomShape 7">
            <a:extLst>
              <a:ext uri="{FF2B5EF4-FFF2-40B4-BE49-F238E27FC236}">
                <a16:creationId xmlns:a16="http://schemas.microsoft.com/office/drawing/2014/main" id="{709D8869-8710-4050-BF5D-32F67EDAF7E6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pic>
        <p:nvPicPr>
          <p:cNvPr id="388" name="Picture 8"/>
          <p:cNvPicPr>
            <a:picLocks noChangeAspect="1"/>
          </p:cNvPicPr>
          <p:nvPr/>
        </p:nvPicPr>
        <p:blipFill>
          <a:blip r:embed="rId3"/>
          <a:srcRect t="472" b="472"/>
          <a:stretch/>
        </p:blipFill>
        <p:spPr>
          <a:xfrm>
            <a:off x="438840" y="2340720"/>
            <a:ext cx="3748680" cy="261468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330" name="CustomShape 8">
            <a:extLst>
              <a:ext uri="{FF2B5EF4-FFF2-40B4-BE49-F238E27FC236}">
                <a16:creationId xmlns:a16="http://schemas.microsoft.com/office/drawing/2014/main" id="{56F6A18C-58B8-4899-9CF2-77611B1181B0}"/>
              </a:ext>
            </a:extLst>
          </p:cNvPr>
          <p:cNvSpPr>
            <a:spLocks noGrp="1"/>
          </p:cNvSpPr>
          <p:nvPr/>
        </p:nvSpPr>
        <p:spPr>
          <a:xfrm>
            <a:off x="438840" y="4563000"/>
            <a:ext cx="3748680" cy="39276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31" name="CustomShape 9">
            <a:extLst>
              <a:ext uri="{FF2B5EF4-FFF2-40B4-BE49-F238E27FC236}">
                <a16:creationId xmlns:a16="http://schemas.microsoft.com/office/drawing/2014/main" id="{045E7124-ABA5-49CC-B429-1168C2DBAE11}"/>
              </a:ext>
            </a:extLst>
          </p:cNvPr>
          <p:cNvSpPr>
            <a:spLocks noGrp="1"/>
          </p:cNvSpPr>
          <p:nvPr/>
        </p:nvSpPr>
        <p:spPr>
          <a:xfrm>
            <a:off x="576000" y="4582800"/>
            <a:ext cx="3474360" cy="3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E15B64"/>
                </a:solidFill>
                <a:latin typeface="Noto Sans CJK SC"/>
                <a:ea typeface="Noto Sans CJK SC"/>
                <a:cs typeface="Noto Sans CJK SC"/>
              </a:rPr>
              <a:t>真实融合运行图：确认目标与稳定 ID</a:t>
            </a:r>
          </a:p>
        </p:txBody>
      </p:sp>
      <p:sp>
        <p:nvSpPr>
          <p:cNvPr id="332" name="CustomShape 10">
            <a:extLst>
              <a:ext uri="{FF2B5EF4-FFF2-40B4-BE49-F238E27FC236}">
                <a16:creationId xmlns:a16="http://schemas.microsoft.com/office/drawing/2014/main" id="{7D1933B0-20C0-4477-9D79-6DD1D4AC95D1}"/>
              </a:ext>
            </a:extLst>
          </p:cNvPr>
          <p:cNvSpPr>
            <a:spLocks noGrp="1"/>
          </p:cNvSpPr>
          <p:nvPr/>
        </p:nvSpPr>
        <p:spPr>
          <a:xfrm>
            <a:off x="438840" y="1042560"/>
            <a:ext cx="11301480" cy="111528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33" name="CustomShape 11">
            <a:extLst>
              <a:ext uri="{FF2B5EF4-FFF2-40B4-BE49-F238E27FC236}">
                <a16:creationId xmlns:a16="http://schemas.microsoft.com/office/drawing/2014/main" id="{1BB57B06-F68C-4CEB-AA5E-C416C4F2AFA0}"/>
              </a:ext>
            </a:extLst>
          </p:cNvPr>
          <p:cNvSpPr>
            <a:spLocks noGrp="1"/>
          </p:cNvSpPr>
          <p:nvPr/>
        </p:nvSpPr>
        <p:spPr>
          <a:xfrm>
            <a:off x="621720" y="1134000"/>
            <a:ext cx="1737000" cy="310680"/>
          </a:xfrm>
          <a:prstGeom prst="roundRect">
            <a:avLst>
              <a:gd name="adj" fmla="val 16667"/>
            </a:avLst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34" name="CustomShape 12">
            <a:extLst>
              <a:ext uri="{FF2B5EF4-FFF2-40B4-BE49-F238E27FC236}">
                <a16:creationId xmlns:a16="http://schemas.microsoft.com/office/drawing/2014/main" id="{81FEB090-E00B-4C96-BDD9-BB6E41497CCA}"/>
              </a:ext>
            </a:extLst>
          </p:cNvPr>
          <p:cNvSpPr>
            <a:spLocks noGrp="1"/>
          </p:cNvSpPr>
          <p:nvPr/>
        </p:nvSpPr>
        <p:spPr>
          <a:xfrm>
            <a:off x="621720" y="1158120"/>
            <a:ext cx="1737000" cy="26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地雷数据生命周期</a:t>
            </a:r>
          </a:p>
        </p:txBody>
      </p:sp>
      <p:sp>
        <p:nvSpPr>
          <p:cNvPr id="335" name="Line 13">
            <a:extLst>
              <a:ext uri="{FF2B5EF4-FFF2-40B4-BE49-F238E27FC236}">
                <a16:creationId xmlns:a16="http://schemas.microsoft.com/office/drawing/2014/main" id="{C1A2C685-DE2F-4793-ACD0-D83EEAAECD8D}"/>
              </a:ext>
            </a:extLst>
          </p:cNvPr>
          <p:cNvSpPr>
            <a:spLocks noGrp="1"/>
          </p:cNvSpPr>
          <p:nvPr/>
        </p:nvSpPr>
        <p:spPr>
          <a:xfrm>
            <a:off x="1983960" y="1810440"/>
            <a:ext cx="73440" cy="0"/>
          </a:xfrm>
          <a:prstGeom prst="line">
            <a:avLst/>
          </a:prstGeom>
          <a:ln w="19080">
            <a:solidFill>
              <a:srgbClr val="E1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36" name="Line 14">
            <a:extLst>
              <a:ext uri="{FF2B5EF4-FFF2-40B4-BE49-F238E27FC236}">
                <a16:creationId xmlns:a16="http://schemas.microsoft.com/office/drawing/2014/main" id="{1479CCBE-B0EC-4ED5-B85D-8675FF7CA187}"/>
              </a:ext>
            </a:extLst>
          </p:cNvPr>
          <p:cNvSpPr>
            <a:spLocks noGrp="1"/>
          </p:cNvSpPr>
          <p:nvPr/>
        </p:nvSpPr>
        <p:spPr>
          <a:xfrm>
            <a:off x="3172680" y="1810440"/>
            <a:ext cx="73440" cy="0"/>
          </a:xfrm>
          <a:prstGeom prst="line">
            <a:avLst/>
          </a:prstGeom>
          <a:ln w="19080">
            <a:solidFill>
              <a:srgbClr val="E1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37" name="Line 15">
            <a:extLst>
              <a:ext uri="{FF2B5EF4-FFF2-40B4-BE49-F238E27FC236}">
                <a16:creationId xmlns:a16="http://schemas.microsoft.com/office/drawing/2014/main" id="{3C9CD5FF-460E-41B8-BAFC-6B2524474606}"/>
              </a:ext>
            </a:extLst>
          </p:cNvPr>
          <p:cNvSpPr>
            <a:spLocks noGrp="1"/>
          </p:cNvSpPr>
          <p:nvPr/>
        </p:nvSpPr>
        <p:spPr>
          <a:xfrm>
            <a:off x="4608360" y="1810440"/>
            <a:ext cx="73080" cy="0"/>
          </a:xfrm>
          <a:prstGeom prst="line">
            <a:avLst/>
          </a:prstGeom>
          <a:ln w="19080">
            <a:solidFill>
              <a:srgbClr val="E1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38" name="Line 16">
            <a:extLst>
              <a:ext uri="{FF2B5EF4-FFF2-40B4-BE49-F238E27FC236}">
                <a16:creationId xmlns:a16="http://schemas.microsoft.com/office/drawing/2014/main" id="{E1BED309-AE5B-4B1C-9188-BBCAA366B683}"/>
              </a:ext>
            </a:extLst>
          </p:cNvPr>
          <p:cNvSpPr>
            <a:spLocks noGrp="1"/>
          </p:cNvSpPr>
          <p:nvPr/>
        </p:nvSpPr>
        <p:spPr>
          <a:xfrm>
            <a:off x="5888520" y="1810440"/>
            <a:ext cx="73080" cy="0"/>
          </a:xfrm>
          <a:prstGeom prst="line">
            <a:avLst/>
          </a:prstGeom>
          <a:ln w="19080">
            <a:solidFill>
              <a:srgbClr val="E1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39" name="Line 17">
            <a:extLst>
              <a:ext uri="{FF2B5EF4-FFF2-40B4-BE49-F238E27FC236}">
                <a16:creationId xmlns:a16="http://schemas.microsoft.com/office/drawing/2014/main" id="{132E1C13-9724-4DD9-A105-5CECC3048325}"/>
              </a:ext>
            </a:extLst>
          </p:cNvPr>
          <p:cNvSpPr>
            <a:spLocks noGrp="1"/>
          </p:cNvSpPr>
          <p:nvPr/>
        </p:nvSpPr>
        <p:spPr>
          <a:xfrm>
            <a:off x="7232760" y="1810440"/>
            <a:ext cx="73080" cy="0"/>
          </a:xfrm>
          <a:prstGeom prst="line">
            <a:avLst/>
          </a:prstGeom>
          <a:ln w="19080">
            <a:solidFill>
              <a:srgbClr val="E1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0" name="Line 18">
            <a:extLst>
              <a:ext uri="{FF2B5EF4-FFF2-40B4-BE49-F238E27FC236}">
                <a16:creationId xmlns:a16="http://schemas.microsoft.com/office/drawing/2014/main" id="{38733F28-7E52-45AD-88BB-72C78CC9D041}"/>
              </a:ext>
            </a:extLst>
          </p:cNvPr>
          <p:cNvSpPr>
            <a:spLocks noGrp="1"/>
          </p:cNvSpPr>
          <p:nvPr/>
        </p:nvSpPr>
        <p:spPr>
          <a:xfrm>
            <a:off x="8851320" y="1810440"/>
            <a:ext cx="73080" cy="0"/>
          </a:xfrm>
          <a:prstGeom prst="line">
            <a:avLst/>
          </a:prstGeom>
          <a:ln w="19080">
            <a:solidFill>
              <a:srgbClr val="E1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1" name="Line 19">
            <a:extLst>
              <a:ext uri="{FF2B5EF4-FFF2-40B4-BE49-F238E27FC236}">
                <a16:creationId xmlns:a16="http://schemas.microsoft.com/office/drawing/2014/main" id="{019A051B-DA57-42A1-A2A8-9D37E384FCD7}"/>
              </a:ext>
            </a:extLst>
          </p:cNvPr>
          <p:cNvSpPr>
            <a:spLocks noGrp="1"/>
          </p:cNvSpPr>
          <p:nvPr/>
        </p:nvSpPr>
        <p:spPr>
          <a:xfrm>
            <a:off x="10625040" y="1810440"/>
            <a:ext cx="73440" cy="0"/>
          </a:xfrm>
          <a:prstGeom prst="line">
            <a:avLst/>
          </a:prstGeom>
          <a:ln w="19080">
            <a:solidFill>
              <a:srgbClr val="E15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2" name="CustomShape 20">
            <a:extLst>
              <a:ext uri="{FF2B5EF4-FFF2-40B4-BE49-F238E27FC236}">
                <a16:creationId xmlns:a16="http://schemas.microsoft.com/office/drawing/2014/main" id="{DFAA3AD5-1581-40CB-BB35-C849984018EF}"/>
              </a:ext>
            </a:extLst>
          </p:cNvPr>
          <p:cNvSpPr>
            <a:spLocks noGrp="1"/>
          </p:cNvSpPr>
          <p:nvPr/>
        </p:nvSpPr>
        <p:spPr>
          <a:xfrm>
            <a:off x="567000" y="1572840"/>
            <a:ext cx="141696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3" name="CustomShape 21">
            <a:extLst>
              <a:ext uri="{FF2B5EF4-FFF2-40B4-BE49-F238E27FC236}">
                <a16:creationId xmlns:a16="http://schemas.microsoft.com/office/drawing/2014/main" id="{C35E71AA-1B75-41D4-B5E9-7FD8B65B6ECA}"/>
              </a:ext>
            </a:extLst>
          </p:cNvPr>
          <p:cNvSpPr>
            <a:spLocks noGrp="1"/>
          </p:cNvSpPr>
          <p:nvPr/>
        </p:nvSpPr>
        <p:spPr>
          <a:xfrm>
            <a:off x="56700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4" name="CustomShape 22">
            <a:extLst>
              <a:ext uri="{FF2B5EF4-FFF2-40B4-BE49-F238E27FC236}">
                <a16:creationId xmlns:a16="http://schemas.microsoft.com/office/drawing/2014/main" id="{8BB8C114-3429-4C51-BBE6-65D4040F8E64}"/>
              </a:ext>
            </a:extLst>
          </p:cNvPr>
          <p:cNvSpPr>
            <a:spLocks noGrp="1"/>
          </p:cNvSpPr>
          <p:nvPr/>
        </p:nvSpPr>
        <p:spPr>
          <a:xfrm>
            <a:off x="640080" y="1568520"/>
            <a:ext cx="128880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/raw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单帧观测</a:t>
            </a:r>
          </a:p>
        </p:txBody>
      </p:sp>
      <p:sp>
        <p:nvSpPr>
          <p:cNvPr id="345" name="CustomShape 23">
            <a:extLst>
              <a:ext uri="{FF2B5EF4-FFF2-40B4-BE49-F238E27FC236}">
                <a16:creationId xmlns:a16="http://schemas.microsoft.com/office/drawing/2014/main" id="{9DC76B9D-4345-42D4-BA47-0361F4BECA93}"/>
              </a:ext>
            </a:extLst>
          </p:cNvPr>
          <p:cNvSpPr>
            <a:spLocks noGrp="1"/>
          </p:cNvSpPr>
          <p:nvPr/>
        </p:nvSpPr>
        <p:spPr>
          <a:xfrm>
            <a:off x="2094120" y="1572840"/>
            <a:ext cx="107856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6" name="CustomShape 24">
            <a:extLst>
              <a:ext uri="{FF2B5EF4-FFF2-40B4-BE49-F238E27FC236}">
                <a16:creationId xmlns:a16="http://schemas.microsoft.com/office/drawing/2014/main" id="{32734308-DB4C-4EEF-9D15-7C2EF3A1C96F}"/>
              </a:ext>
            </a:extLst>
          </p:cNvPr>
          <p:cNvSpPr>
            <a:spLocks noGrp="1"/>
          </p:cNvSpPr>
          <p:nvPr/>
        </p:nvSpPr>
        <p:spPr>
          <a:xfrm>
            <a:off x="209412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7" name="CustomShape 25">
            <a:extLst>
              <a:ext uri="{FF2B5EF4-FFF2-40B4-BE49-F238E27FC236}">
                <a16:creationId xmlns:a16="http://schemas.microsoft.com/office/drawing/2014/main" id="{5FB23FD6-0A63-4C9E-B91C-03512E90D14E}"/>
              </a:ext>
            </a:extLst>
          </p:cNvPr>
          <p:cNvSpPr>
            <a:spLocks noGrp="1"/>
          </p:cNvSpPr>
          <p:nvPr/>
        </p:nvSpPr>
        <p:spPr>
          <a:xfrm>
            <a:off x="2167200" y="1689120"/>
            <a:ext cx="95076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空间关联</a:t>
            </a:r>
          </a:p>
        </p:txBody>
      </p:sp>
      <p:sp>
        <p:nvSpPr>
          <p:cNvPr id="348" name="CustomShape 26">
            <a:extLst>
              <a:ext uri="{FF2B5EF4-FFF2-40B4-BE49-F238E27FC236}">
                <a16:creationId xmlns:a16="http://schemas.microsoft.com/office/drawing/2014/main" id="{08348135-C7FC-4FEC-B23B-36F441F06DFE}"/>
              </a:ext>
            </a:extLst>
          </p:cNvPr>
          <p:cNvSpPr>
            <a:spLocks noGrp="1"/>
          </p:cNvSpPr>
          <p:nvPr/>
        </p:nvSpPr>
        <p:spPr>
          <a:xfrm>
            <a:off x="3282840" y="1572840"/>
            <a:ext cx="132552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9" name="CustomShape 27">
            <a:extLst>
              <a:ext uri="{FF2B5EF4-FFF2-40B4-BE49-F238E27FC236}">
                <a16:creationId xmlns:a16="http://schemas.microsoft.com/office/drawing/2014/main" id="{97D79FAE-E267-4D30-9ADA-6B3F7216B0D8}"/>
              </a:ext>
            </a:extLst>
          </p:cNvPr>
          <p:cNvSpPr>
            <a:spLocks noGrp="1"/>
          </p:cNvSpPr>
          <p:nvPr/>
        </p:nvSpPr>
        <p:spPr>
          <a:xfrm>
            <a:off x="328284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50" name="CustomShape 28">
            <a:extLst>
              <a:ext uri="{FF2B5EF4-FFF2-40B4-BE49-F238E27FC236}">
                <a16:creationId xmlns:a16="http://schemas.microsoft.com/office/drawing/2014/main" id="{7FDA76BE-D786-4453-B23D-B9BC6A6B1895}"/>
              </a:ext>
            </a:extLst>
          </p:cNvPr>
          <p:cNvSpPr>
            <a:spLocks noGrp="1"/>
          </p:cNvSpPr>
          <p:nvPr/>
        </p:nvSpPr>
        <p:spPr>
          <a:xfrm>
            <a:off x="3355920" y="1568520"/>
            <a:ext cx="11973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更新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MineTrack</a:t>
            </a:r>
          </a:p>
        </p:txBody>
      </p:sp>
      <p:sp>
        <p:nvSpPr>
          <p:cNvPr id="351" name="CustomShape 29">
            <a:extLst>
              <a:ext uri="{FF2B5EF4-FFF2-40B4-BE49-F238E27FC236}">
                <a16:creationId xmlns:a16="http://schemas.microsoft.com/office/drawing/2014/main" id="{52976BB2-D00B-4E1A-BF4B-981990917EF2}"/>
              </a:ext>
            </a:extLst>
          </p:cNvPr>
          <p:cNvSpPr>
            <a:spLocks noGrp="1"/>
          </p:cNvSpPr>
          <p:nvPr/>
        </p:nvSpPr>
        <p:spPr>
          <a:xfrm>
            <a:off x="4718160" y="1572840"/>
            <a:ext cx="117000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52" name="CustomShape 30">
            <a:extLst>
              <a:ext uri="{FF2B5EF4-FFF2-40B4-BE49-F238E27FC236}">
                <a16:creationId xmlns:a16="http://schemas.microsoft.com/office/drawing/2014/main" id="{8554EDB4-F0E4-4849-871B-C0BC036C6FE0}"/>
              </a:ext>
            </a:extLst>
          </p:cNvPr>
          <p:cNvSpPr>
            <a:spLocks noGrp="1"/>
          </p:cNvSpPr>
          <p:nvPr/>
        </p:nvSpPr>
        <p:spPr>
          <a:xfrm>
            <a:off x="471816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53" name="CustomShape 31">
            <a:extLst>
              <a:ext uri="{FF2B5EF4-FFF2-40B4-BE49-F238E27FC236}">
                <a16:creationId xmlns:a16="http://schemas.microsoft.com/office/drawing/2014/main" id="{54B9AA15-399D-4263-8168-017705E1FE79}"/>
              </a:ext>
            </a:extLst>
          </p:cNvPr>
          <p:cNvSpPr>
            <a:spLocks noGrp="1"/>
          </p:cNvSpPr>
          <p:nvPr/>
        </p:nvSpPr>
        <p:spPr>
          <a:xfrm>
            <a:off x="4791600" y="1689120"/>
            <a:ext cx="1042200" cy="2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多帧确认</a:t>
            </a:r>
          </a:p>
        </p:txBody>
      </p:sp>
      <p:sp>
        <p:nvSpPr>
          <p:cNvPr id="354" name="CustomShape 32">
            <a:extLst>
              <a:ext uri="{FF2B5EF4-FFF2-40B4-BE49-F238E27FC236}">
                <a16:creationId xmlns:a16="http://schemas.microsoft.com/office/drawing/2014/main" id="{CCD30B14-B216-4AB5-A5FD-5AF62B569D82}"/>
              </a:ext>
            </a:extLst>
          </p:cNvPr>
          <p:cNvSpPr>
            <a:spLocks noGrp="1"/>
          </p:cNvSpPr>
          <p:nvPr/>
        </p:nvSpPr>
        <p:spPr>
          <a:xfrm>
            <a:off x="5998320" y="1572840"/>
            <a:ext cx="123408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55" name="CustomShape 33">
            <a:extLst>
              <a:ext uri="{FF2B5EF4-FFF2-40B4-BE49-F238E27FC236}">
                <a16:creationId xmlns:a16="http://schemas.microsoft.com/office/drawing/2014/main" id="{41D66227-074A-450A-B9DD-DBE58D4D43DE}"/>
              </a:ext>
            </a:extLst>
          </p:cNvPr>
          <p:cNvSpPr>
            <a:spLocks noGrp="1"/>
          </p:cNvSpPr>
          <p:nvPr/>
        </p:nvSpPr>
        <p:spPr>
          <a:xfrm>
            <a:off x="599832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56" name="CustomShape 34">
            <a:extLst>
              <a:ext uri="{FF2B5EF4-FFF2-40B4-BE49-F238E27FC236}">
                <a16:creationId xmlns:a16="http://schemas.microsoft.com/office/drawing/2014/main" id="{6C14B8F2-6717-4984-B911-6A529BB83DD6}"/>
              </a:ext>
            </a:extLst>
          </p:cNvPr>
          <p:cNvSpPr>
            <a:spLocks noGrp="1"/>
          </p:cNvSpPr>
          <p:nvPr/>
        </p:nvSpPr>
        <p:spPr>
          <a:xfrm>
            <a:off x="6071760" y="1578240"/>
            <a:ext cx="1105920" cy="464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分配稳定 ID</a:t>
            </a:r>
          </a:p>
        </p:txBody>
      </p:sp>
      <p:sp>
        <p:nvSpPr>
          <p:cNvPr id="357" name="CustomShape 35">
            <a:extLst>
              <a:ext uri="{FF2B5EF4-FFF2-40B4-BE49-F238E27FC236}">
                <a16:creationId xmlns:a16="http://schemas.microsoft.com/office/drawing/2014/main" id="{6A2CFB30-C914-4184-9191-5A4927873AE1}"/>
              </a:ext>
            </a:extLst>
          </p:cNvPr>
          <p:cNvSpPr>
            <a:spLocks noGrp="1"/>
          </p:cNvSpPr>
          <p:nvPr/>
        </p:nvSpPr>
        <p:spPr>
          <a:xfrm>
            <a:off x="7342560" y="1572840"/>
            <a:ext cx="150840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58" name="CustomShape 36">
            <a:extLst>
              <a:ext uri="{FF2B5EF4-FFF2-40B4-BE49-F238E27FC236}">
                <a16:creationId xmlns:a16="http://schemas.microsoft.com/office/drawing/2014/main" id="{4545377E-FA8B-43B8-9A9C-64C6B2D56B4D}"/>
              </a:ext>
            </a:extLst>
          </p:cNvPr>
          <p:cNvSpPr>
            <a:spLocks noGrp="1"/>
          </p:cNvSpPr>
          <p:nvPr/>
        </p:nvSpPr>
        <p:spPr>
          <a:xfrm>
            <a:off x="734256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59" name="CustomShape 37">
            <a:extLst>
              <a:ext uri="{FF2B5EF4-FFF2-40B4-BE49-F238E27FC236}">
                <a16:creationId xmlns:a16="http://schemas.microsoft.com/office/drawing/2014/main" id="{1CAE70C8-88F6-48F5-8586-8524F0D9B7C7}"/>
              </a:ext>
            </a:extLst>
          </p:cNvPr>
          <p:cNvSpPr>
            <a:spLocks noGrp="1"/>
          </p:cNvSpPr>
          <p:nvPr/>
        </p:nvSpPr>
        <p:spPr>
          <a:xfrm>
            <a:off x="7415640" y="1568520"/>
            <a:ext cx="138024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/map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稳定 ID</a:t>
            </a:r>
          </a:p>
        </p:txBody>
      </p:sp>
      <p:sp>
        <p:nvSpPr>
          <p:cNvPr id="360" name="CustomShape 38">
            <a:extLst>
              <a:ext uri="{FF2B5EF4-FFF2-40B4-BE49-F238E27FC236}">
                <a16:creationId xmlns:a16="http://schemas.microsoft.com/office/drawing/2014/main" id="{68DFA5AC-6DE9-4707-85EB-931AA2E6B164}"/>
              </a:ext>
            </a:extLst>
          </p:cNvPr>
          <p:cNvSpPr>
            <a:spLocks noGrp="1"/>
          </p:cNvSpPr>
          <p:nvPr/>
        </p:nvSpPr>
        <p:spPr>
          <a:xfrm>
            <a:off x="8961120" y="1572840"/>
            <a:ext cx="166392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61" name="CustomShape 39">
            <a:extLst>
              <a:ext uri="{FF2B5EF4-FFF2-40B4-BE49-F238E27FC236}">
                <a16:creationId xmlns:a16="http://schemas.microsoft.com/office/drawing/2014/main" id="{B241C030-B1D1-41BE-B8C0-F82A495DC037}"/>
              </a:ext>
            </a:extLst>
          </p:cNvPr>
          <p:cNvSpPr>
            <a:spLocks noGrp="1"/>
          </p:cNvSpPr>
          <p:nvPr/>
        </p:nvSpPr>
        <p:spPr>
          <a:xfrm>
            <a:off x="896112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62" name="CustomShape 40">
            <a:extLst>
              <a:ext uri="{FF2B5EF4-FFF2-40B4-BE49-F238E27FC236}">
                <a16:creationId xmlns:a16="http://schemas.microsoft.com/office/drawing/2014/main" id="{9AD3925A-CE1A-4DD5-8BD6-5546AEA7E228}"/>
              </a:ext>
            </a:extLst>
          </p:cNvPr>
          <p:cNvSpPr>
            <a:spLocks noGrp="1"/>
          </p:cNvSpPr>
          <p:nvPr/>
        </p:nvSpPr>
        <p:spPr>
          <a:xfrm>
            <a:off x="9034200" y="1568520"/>
            <a:ext cx="1535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UGV 任务管理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→ WorldTarget</a:t>
            </a:r>
          </a:p>
        </p:txBody>
      </p:sp>
      <p:sp>
        <p:nvSpPr>
          <p:cNvPr id="363" name="CustomShape 41">
            <a:extLst>
              <a:ext uri="{FF2B5EF4-FFF2-40B4-BE49-F238E27FC236}">
                <a16:creationId xmlns:a16="http://schemas.microsoft.com/office/drawing/2014/main" id="{48D162B3-DB3F-4C77-87E8-DD22B5513BB8}"/>
              </a:ext>
            </a:extLst>
          </p:cNvPr>
          <p:cNvSpPr>
            <a:spLocks noGrp="1"/>
          </p:cNvSpPr>
          <p:nvPr/>
        </p:nvSpPr>
        <p:spPr>
          <a:xfrm>
            <a:off x="10735200" y="1572840"/>
            <a:ext cx="859320" cy="47520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64" name="CustomShape 42">
            <a:extLst>
              <a:ext uri="{FF2B5EF4-FFF2-40B4-BE49-F238E27FC236}">
                <a16:creationId xmlns:a16="http://schemas.microsoft.com/office/drawing/2014/main" id="{E7FE5608-2935-4BA6-9AF2-9C9462EEC04A}"/>
              </a:ext>
            </a:extLst>
          </p:cNvPr>
          <p:cNvSpPr>
            <a:spLocks noGrp="1"/>
          </p:cNvSpPr>
          <p:nvPr/>
        </p:nvSpPr>
        <p:spPr>
          <a:xfrm>
            <a:off x="10735200" y="1572840"/>
            <a:ext cx="45360" cy="475200"/>
          </a:xfrm>
          <a:prstGeom prst="rect">
            <a:avLst/>
          </a:prstGeom>
          <a:solidFill>
            <a:srgbClr val="E15B64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65" name="CustomShape 43">
            <a:extLst>
              <a:ext uri="{FF2B5EF4-FFF2-40B4-BE49-F238E27FC236}">
                <a16:creationId xmlns:a16="http://schemas.microsoft.com/office/drawing/2014/main" id="{EEE4F431-1979-40EA-9669-8D2444A728F0}"/>
              </a:ext>
            </a:extLst>
          </p:cNvPr>
          <p:cNvSpPr>
            <a:spLocks noGrp="1"/>
          </p:cNvSpPr>
          <p:nvPr/>
        </p:nvSpPr>
        <p:spPr>
          <a:xfrm>
            <a:off x="10808280" y="1568520"/>
            <a:ext cx="7311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YAML /</a:t>
            </a:r>
          </a:p>
          <a:p>
            <a:pPr algn="ctr">
              <a:lnSpc>
                <a:spcPct val="92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JSON</a:t>
            </a:r>
          </a:p>
        </p:txBody>
      </p:sp>
      <p:sp>
        <p:nvSpPr>
          <p:cNvPr id="366" name="CustomShape 44">
            <a:extLst>
              <a:ext uri="{FF2B5EF4-FFF2-40B4-BE49-F238E27FC236}">
                <a16:creationId xmlns:a16="http://schemas.microsoft.com/office/drawing/2014/main" id="{5B99D7A5-BA32-4972-9F16-DED21CF22990}"/>
              </a:ext>
            </a:extLst>
          </p:cNvPr>
          <p:cNvSpPr>
            <a:spLocks noGrp="1"/>
          </p:cNvSpPr>
          <p:nvPr/>
        </p:nvSpPr>
        <p:spPr>
          <a:xfrm>
            <a:off x="4370760" y="2340720"/>
            <a:ext cx="3611520" cy="248688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25D5D0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67" name="CustomShape 45">
            <a:extLst>
              <a:ext uri="{FF2B5EF4-FFF2-40B4-BE49-F238E27FC236}">
                <a16:creationId xmlns:a16="http://schemas.microsoft.com/office/drawing/2014/main" id="{12EDA465-97D2-412E-84E6-2D4CD01BAC20}"/>
              </a:ext>
            </a:extLst>
          </p:cNvPr>
          <p:cNvSpPr>
            <a:spLocks noGrp="1"/>
          </p:cNvSpPr>
          <p:nvPr/>
        </p:nvSpPr>
        <p:spPr>
          <a:xfrm>
            <a:off x="4590360" y="2410000"/>
            <a:ext cx="3172680" cy="30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关联与确认参数（常规 3 帧）</a:t>
            </a:r>
          </a:p>
        </p:txBody>
      </p:sp>
      <p:sp>
        <p:nvSpPr>
          <p:cNvPr id="368" name="CustomShape 46">
            <a:extLst>
              <a:ext uri="{FF2B5EF4-FFF2-40B4-BE49-F238E27FC236}">
                <a16:creationId xmlns:a16="http://schemas.microsoft.com/office/drawing/2014/main" id="{03631EE4-314E-41BB-98E4-044EBD98B73E}"/>
              </a:ext>
            </a:extLst>
          </p:cNvPr>
          <p:cNvSpPr>
            <a:spLocks noGrp="1"/>
          </p:cNvSpPr>
          <p:nvPr/>
        </p:nvSpPr>
        <p:spPr>
          <a:xfrm>
            <a:off x="4590360" y="2760000"/>
            <a:ext cx="3172680" cy="188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300" b="0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未确认关联：0.30 m　　已确认更新：0.12 m</a:t>
            </a:r>
          </a:p>
          <a:p>
            <a:r>
              <a:rPr sz="1300" b="0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身份隔离</a:t>
            </a:r>
            <a:r>
              <a:rPr sz="1300" b="0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 / 去重：1.00 m</a:t>
            </a:r>
          </a:p>
          <a:p>
            <a:r>
              <a:rPr sz="1300" b="0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高置信快速确认</a:t>
            </a:r>
            <a:r>
              <a:rPr sz="1300" b="0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：≥2 帧 · conf≥0.75 · σXY≤0.06 m · span≥0.15 s</a:t>
            </a:r>
          </a:p>
          <a:p>
            <a:r>
              <a:rPr sz="1300" b="0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稳定簇确认</a:t>
            </a:r>
            <a:r>
              <a:rPr sz="1300" b="0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：≥6 帧 · 半径0.12 m · σXY≤0.08 m · span≥0.80 s</a:t>
            </a:r>
          </a:p>
          <a:p>
            <a:pPr>
              <a:lnSpc>
                <a:spcPct val="88000"/>
              </a:lnSpc>
              <a:buNone/>
            </a:pPr>
            <a:r>
              <a:rPr sz="1300" b="0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UGV 自身排除：默认关闭</a:t>
            </a:r>
            <a:r>
              <a:rPr sz="1300" b="0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（如启用，仅作几何过滤</a:t>
            </a:r>
            <a:r>
              <a:rPr sz="1300" b="0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）</a:t>
            </a:r>
          </a:p>
        </p:txBody>
      </p:sp>
      <p:sp>
        <p:nvSpPr>
          <p:cNvPr id="369" name="CustomShape 47">
            <a:extLst>
              <a:ext uri="{FF2B5EF4-FFF2-40B4-BE49-F238E27FC236}">
                <a16:creationId xmlns:a16="http://schemas.microsoft.com/office/drawing/2014/main" id="{B0EDCF18-3418-409E-BD63-25365AA57F3B}"/>
              </a:ext>
            </a:extLst>
          </p:cNvPr>
          <p:cNvSpPr>
            <a:spLocks noGrp="1"/>
          </p:cNvSpPr>
          <p:nvPr/>
        </p:nvSpPr>
        <p:spPr>
          <a:xfrm>
            <a:off x="8165520" y="2340720"/>
            <a:ext cx="3574800" cy="2486880"/>
          </a:xfrm>
          <a:prstGeom prst="roundRect">
            <a:avLst>
              <a:gd name="adj" fmla="val 16667"/>
            </a:avLst>
          </a:prstGeom>
          <a:solidFill>
            <a:srgbClr val="0D2637"/>
          </a:solidFill>
          <a:ln w="12600">
            <a:solidFill>
              <a:srgbClr val="E15B64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70" name="CustomShape 48">
            <a:extLst>
              <a:ext uri="{FF2B5EF4-FFF2-40B4-BE49-F238E27FC236}">
                <a16:creationId xmlns:a16="http://schemas.microsoft.com/office/drawing/2014/main" id="{B466466B-65EF-4319-B544-29756EDC141E}"/>
              </a:ext>
            </a:extLst>
          </p:cNvPr>
          <p:cNvSpPr>
            <a:spLocks noGrp="1"/>
          </p:cNvSpPr>
          <p:nvPr/>
        </p:nvSpPr>
        <p:spPr>
          <a:xfrm>
            <a:off x="8348400" y="2342520"/>
            <a:ext cx="3209040" cy="59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1">
                <a:solidFill>
                  <a:srgbClr val="E15B64"/>
                </a:solidFill>
                <a:latin typeface="Noto Sans CJK SC"/>
                <a:ea typeface="Noto Sans CJK SC"/>
                <a:cs typeface="Noto Sans CJK SC"/>
              </a:rPr>
              <a:t>MineMapEntry 结构示例（示意值）</a:t>
            </a:r>
          </a:p>
        </p:txBody>
      </p:sp>
      <p:sp>
        <p:nvSpPr>
          <p:cNvPr id="371" name="CustomShape 49">
            <a:extLst>
              <a:ext uri="{FF2B5EF4-FFF2-40B4-BE49-F238E27FC236}">
                <a16:creationId xmlns:a16="http://schemas.microsoft.com/office/drawing/2014/main" id="{789A7088-443E-43F5-91C9-A3BF8FDA0B38}"/>
              </a:ext>
            </a:extLst>
          </p:cNvPr>
          <p:cNvSpPr>
            <a:spLocks noGrp="1"/>
          </p:cNvSpPr>
          <p:nvPr/>
        </p:nvSpPr>
        <p:spPr>
          <a:xfrm>
            <a:off x="8412480" y="3026520"/>
            <a:ext cx="3081240" cy="144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id: 3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map header: uav0/map_local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position: [12.41, -5.73, 0.08]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confidence: 0.94</a:t>
            </a:r>
          </a:p>
          <a:p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observation_count: 7</a:t>
            </a:r>
          </a:p>
          <a:p>
            <a:pPr>
              <a:lnSpc>
                <a:spcPct val="86000"/>
              </a:lnSpc>
              <a:buNone/>
            </a:pPr>
            <a:r>
              <a:rPr sz="1600" b="0">
                <a:solidFill>
                  <a:srgbClr val="ECF7FA"/>
                </a:solidFill>
                <a:latin typeface="Noto Sans Mono CJK SC"/>
                <a:ea typeface="Noto Sans Mono CJK SC"/>
                <a:cs typeface="Noto Sans Mono CJK SC"/>
              </a:rPr>
              <a:t>confirmed: true</a:t>
            </a:r>
          </a:p>
        </p:txBody>
      </p:sp>
      <p:sp>
        <p:nvSpPr>
          <p:cNvPr id="372" name="CustomShape 50">
            <a:extLst>
              <a:ext uri="{FF2B5EF4-FFF2-40B4-BE49-F238E27FC236}">
                <a16:creationId xmlns:a16="http://schemas.microsoft.com/office/drawing/2014/main" id="{D2965239-495F-4FCF-87E3-F97FB1922254}"/>
              </a:ext>
            </a:extLst>
          </p:cNvPr>
          <p:cNvSpPr>
            <a:spLocks noGrp="1"/>
          </p:cNvSpPr>
          <p:nvPr/>
        </p:nvSpPr>
        <p:spPr>
          <a:xfrm>
            <a:off x="438840" y="4965120"/>
            <a:ext cx="11301480" cy="134388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73" name="CustomShape 51">
            <a:extLst>
              <a:ext uri="{FF2B5EF4-FFF2-40B4-BE49-F238E27FC236}">
                <a16:creationId xmlns:a16="http://schemas.microsoft.com/office/drawing/2014/main" id="{885A4C90-DE0E-45C6-8B77-B9B1D8A6CD73}"/>
              </a:ext>
            </a:extLst>
          </p:cNvPr>
          <p:cNvSpPr>
            <a:spLocks noGrp="1"/>
          </p:cNvSpPr>
          <p:nvPr/>
        </p:nvSpPr>
        <p:spPr>
          <a:xfrm>
            <a:off x="640080" y="5008680"/>
            <a:ext cx="1089936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语义目标不写入占据栅格；confirmed 目标经 WorldTarget 交给 UGV。</a:t>
            </a:r>
          </a:p>
        </p:txBody>
      </p:sp>
      <p:sp>
        <p:nvSpPr>
          <p:cNvPr id="374" name="CustomShape 52">
            <a:extLst>
              <a:ext uri="{FF2B5EF4-FFF2-40B4-BE49-F238E27FC236}">
                <a16:creationId xmlns:a16="http://schemas.microsoft.com/office/drawing/2014/main" id="{A9918144-397E-4E63-96C9-F7AA7A9DBFA4}"/>
              </a:ext>
            </a:extLst>
          </p:cNvPr>
          <p:cNvSpPr>
            <a:spLocks noGrp="1"/>
          </p:cNvSpPr>
          <p:nvPr/>
        </p:nvSpPr>
        <p:spPr>
          <a:xfrm>
            <a:off x="640080" y="5283000"/>
            <a:ext cx="1089936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E15B64"/>
                </a:solidFill>
                <a:latin typeface="DejaVu Sans Condensed"/>
                <a:ea typeface="DejaVu Sans Condensed"/>
                <a:cs typeface="DejaVu Sans Condensed"/>
              </a:rPr>
              <a:t>/mine_detection/raw → /mine_detection/map → mine_detection_output/mine_map.yaml</a:t>
            </a:r>
          </a:p>
        </p:txBody>
      </p:sp>
      <p:sp>
        <p:nvSpPr>
          <p:cNvPr id="375" name="CustomShape 53">
            <a:extLst>
              <a:ext uri="{FF2B5EF4-FFF2-40B4-BE49-F238E27FC236}">
                <a16:creationId xmlns:a16="http://schemas.microsoft.com/office/drawing/2014/main" id="{ABA47E72-74D5-457A-ADA3-93A3BE6089CF}"/>
              </a:ext>
            </a:extLst>
          </p:cNvPr>
          <p:cNvSpPr>
            <a:spLocks noGrp="1"/>
          </p:cNvSpPr>
          <p:nvPr/>
        </p:nvSpPr>
        <p:spPr>
          <a:xfrm>
            <a:off x="640080" y="5568840"/>
            <a:ext cx="3035520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E15B64"/>
                </a:solidFill>
                <a:latin typeface="Noto Sans CJK SC"/>
                <a:ea typeface="Noto Sans CJK SC"/>
                <a:cs typeface="Noto Sans CJK SC"/>
              </a:rPr>
              <a:t>RAW → MineMap</a:t>
            </a:r>
          </a:p>
        </p:txBody>
      </p:sp>
      <p:sp>
        <p:nvSpPr>
          <p:cNvPr id="376" name="CustomShape 54">
            <a:extLst>
              <a:ext uri="{FF2B5EF4-FFF2-40B4-BE49-F238E27FC236}">
                <a16:creationId xmlns:a16="http://schemas.microsoft.com/office/drawing/2014/main" id="{1A155FEA-9FF8-495F-8019-18FE5883F723}"/>
              </a:ext>
            </a:extLst>
          </p:cNvPr>
          <p:cNvSpPr>
            <a:spLocks noGrp="1"/>
          </p:cNvSpPr>
          <p:nvPr/>
        </p:nvSpPr>
        <p:spPr>
          <a:xfrm>
            <a:off x="640080" y="5737320"/>
            <a:ext cx="3035520" cy="50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ECF7FA"/>
                </a:solidFill>
                <a:latin typeface="DejaVu Sans Condensed"/>
                <a:ea typeface="DejaVu Sans Condensed"/>
                <a:cs typeface="DejaVu Sans Condensed"/>
              </a:rPr>
              <a:t>单帧临时 · uav0/map_local → 稳定 ID / confirmed</a:t>
            </a:r>
          </a:p>
        </p:txBody>
      </p:sp>
      <p:sp>
        <p:nvSpPr>
          <p:cNvPr id="377" name="CustomShape 55">
            <a:extLst>
              <a:ext uri="{FF2B5EF4-FFF2-40B4-BE49-F238E27FC236}">
                <a16:creationId xmlns:a16="http://schemas.microsoft.com/office/drawing/2014/main" id="{9D591B10-B7A6-45F1-9609-E3E0860A5A56}"/>
              </a:ext>
            </a:extLst>
          </p:cNvPr>
          <p:cNvSpPr>
            <a:spLocks noGrp="1"/>
          </p:cNvSpPr>
          <p:nvPr/>
        </p:nvSpPr>
        <p:spPr>
          <a:xfrm>
            <a:off x="3886200" y="5568840"/>
            <a:ext cx="3767040" cy="316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4F8CFF"/>
                </a:solidFill>
                <a:latin typeface="Noto Sans CJK SC"/>
                <a:ea typeface="Noto Sans CJK SC"/>
                <a:cs typeface="Noto Sans CJK SC"/>
              </a:rPr>
              <a:t>保存字段</a:t>
            </a:r>
          </a:p>
        </p:txBody>
      </p:sp>
      <p:sp>
        <p:nvSpPr>
          <p:cNvPr id="378" name="CustomShape 56">
            <a:extLst>
              <a:ext uri="{FF2B5EF4-FFF2-40B4-BE49-F238E27FC236}">
                <a16:creationId xmlns:a16="http://schemas.microsoft.com/office/drawing/2014/main" id="{B137CAF7-5CC3-43CF-9870-D8149BDB14DE}"/>
              </a:ext>
            </a:extLst>
          </p:cNvPr>
          <p:cNvSpPr>
            <a:spLocks noGrp="1"/>
          </p:cNvSpPr>
          <p:nvPr/>
        </p:nvSpPr>
        <p:spPr>
          <a:xfrm>
            <a:off x="3886200" y="5737320"/>
            <a:ext cx="3767040" cy="50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0">
                <a:solidFill>
                  <a:srgbClr val="ECF7FA"/>
                </a:solidFill>
                <a:latin typeface="DejaVu Sans Condensed"/>
                <a:ea typeface="DejaVu Sans Condensed"/>
                <a:cs typeface="DejaVu Sans Condensed"/>
              </a:rPr>
              <a:t>position · confidence · observation_count · confirmed</a:t>
            </a:r>
          </a:p>
        </p:txBody>
      </p:sp>
      <p:sp>
        <p:nvSpPr>
          <p:cNvPr id="379" name="CustomShape 57">
            <a:extLst>
              <a:ext uri="{FF2B5EF4-FFF2-40B4-BE49-F238E27FC236}">
                <a16:creationId xmlns:a16="http://schemas.microsoft.com/office/drawing/2014/main" id="{E78A932A-F860-495D-968B-9BE414E2099D}"/>
              </a:ext>
            </a:extLst>
          </p:cNvPr>
          <p:cNvSpPr>
            <a:spLocks noGrp="1"/>
          </p:cNvSpPr>
          <p:nvPr/>
        </p:nvSpPr>
        <p:spPr>
          <a:xfrm>
            <a:off x="7863840" y="5550480"/>
            <a:ext cx="3675600" cy="69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>
            <a:spAutoFit/>
          </a:bodyPr>
          <a:lstStyle/>
          <a:p>
            <a:r>
              <a:rPr sz="1600" b="0">
                <a:solidFill>
                  <a:srgbClr val="ECF7FA"/>
                </a:solidFill>
                <a:latin typeface="DejaVu Sans Condensed"/>
                <a:ea typeface="DejaVu Sans Condensed"/>
                <a:cs typeface="DejaVu Sans Condensed"/>
              </a:rPr>
              <a:t>发布 /mine_detection/confirmed</a:t>
            </a:r>
          </a:p>
          <a:p>
            <a:r>
              <a:rPr sz="1600" b="0">
                <a:solidFill>
                  <a:srgbClr val="ECF7FA"/>
                </a:solidFill>
                <a:latin typeface="DejaVu Sans Condensed"/>
                <a:ea typeface="DejaVu Sans Condensed"/>
                <a:cs typeface="DejaVu Sans Condensed"/>
              </a:rPr>
              <a:t>/mine_detection/markers</a:t>
            </a:r>
          </a:p>
          <a:p>
            <a:pPr algn="ctr">
              <a:lnSpc>
                <a:spcPct val="78000"/>
              </a:lnSpc>
              <a:buNone/>
            </a:pPr>
            <a:r>
              <a:rPr sz="1600" b="0">
                <a:solidFill>
                  <a:srgbClr val="ECF7FA"/>
                </a:solidFill>
                <a:latin typeface="DejaVu Sans Condensed"/>
                <a:ea typeface="DejaVu Sans Condensed"/>
                <a:cs typeface="DejaVu Sans Condensed"/>
              </a:rPr>
              <a:t>/mine_detection/map_json</a:t>
            </a:r>
          </a:p>
        </p:txBody>
      </p:sp>
    </p:spTree>
    <p:extLst>
      <p:ext uri="{BB962C8B-B14F-4D97-AF65-F5344CB8AC3E}">
        <p14:creationId xmlns:p14="http://schemas.microsoft.com/office/powerpoint/2010/main" val="902531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CustomShape 1">
            <a:extLst>
              <a:ext uri="{FF2B5EF4-FFF2-40B4-BE49-F238E27FC236}">
                <a16:creationId xmlns:a16="http://schemas.microsoft.com/office/drawing/2014/main" id="{2C7114ED-1E26-4643-9158-469D23D71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44" name="CustomShape 2">
            <a:extLst>
              <a:ext uri="{FF2B5EF4-FFF2-40B4-BE49-F238E27FC236}">
                <a16:creationId xmlns:a16="http://schemas.microsoft.com/office/drawing/2014/main" id="{6CB86E91-7081-429B-B278-7C2AA082AE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45" name="CustomShape 3">
            <a:extLst>
              <a:ext uri="{FF2B5EF4-FFF2-40B4-BE49-F238E27FC236}">
                <a16:creationId xmlns:a16="http://schemas.microsoft.com/office/drawing/2014/main" id="{12FC1836-43E5-4F20-8197-7C068370B92B}"/>
              </a:ext>
            </a:extLst>
          </p:cNvPr>
          <p:cNvSpPr>
            <a:spLocks noGrp="1"/>
          </p:cNvSpPr>
          <p:nvPr/>
        </p:nvSpPr>
        <p:spPr>
          <a:xfrm>
            <a:off x="438840" y="232560"/>
            <a:ext cx="50220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46" name="CustomShape 4">
            <a:extLst>
              <a:ext uri="{FF2B5EF4-FFF2-40B4-BE49-F238E27FC236}">
                <a16:creationId xmlns:a16="http://schemas.microsoft.com/office/drawing/2014/main" id="{42271F2B-FA03-423A-87A5-8B9532C302D0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24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抓取的三个关键：近场检测、解析式候选与 MTC 执行</a:t>
            </a:r>
          </a:p>
        </p:txBody>
      </p:sp>
      <p:sp>
        <p:nvSpPr>
          <p:cNvPr id="447" name="CustomShape 5">
            <a:extLst>
              <a:ext uri="{FF2B5EF4-FFF2-40B4-BE49-F238E27FC236}">
                <a16:creationId xmlns:a16="http://schemas.microsoft.com/office/drawing/2014/main" id="{D7FDBD5D-24B0-4C19-A6A0-67030640CE6D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300" b="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B5C6DA"/>
                </a:solidFill>
                <a:latin typeface="Microsoft YaHei"/>
                <a:ea typeface="Microsoft YaHei"/>
                <a:cs typeface="Microsoft YaHei"/>
              </a:rPr>
              <a:t>检测回答“抓哪里”，解析几何生成候选，MTC 规划并执行整段动作</a:t>
            </a:r>
          </a:p>
        </p:txBody>
      </p:sp>
      <p:sp>
        <p:nvSpPr>
          <p:cNvPr id="448" name="CustomShape 6">
            <a:extLst>
              <a:ext uri="{FF2B5EF4-FFF2-40B4-BE49-F238E27FC236}">
                <a16:creationId xmlns:a16="http://schemas.microsoft.com/office/drawing/2014/main" id="{5B8CB267-B9CD-44E3-9C2B-A3029B2007EB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49" name="CustomShape 7">
            <a:extLst>
              <a:ext uri="{FF2B5EF4-FFF2-40B4-BE49-F238E27FC236}">
                <a16:creationId xmlns:a16="http://schemas.microsoft.com/office/drawing/2014/main" id="{73B9CD8D-A4E1-4D1B-B55F-50AA723188E3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pic>
        <p:nvPicPr>
          <p:cNvPr id="510" name="Picture 8"/>
          <p:cNvPicPr>
            <a:picLocks noChangeAspect="1"/>
          </p:cNvPicPr>
          <p:nvPr/>
        </p:nvPicPr>
        <p:blipFill>
          <a:blip r:embed="rId3"/>
          <a:srcRect t="9226" b="9226"/>
          <a:stretch/>
        </p:blipFill>
        <p:spPr>
          <a:xfrm>
            <a:off x="438840" y="1051560"/>
            <a:ext cx="6537240" cy="431532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451" name="CustomShape 8">
            <a:extLst>
              <a:ext uri="{FF2B5EF4-FFF2-40B4-BE49-F238E27FC236}">
                <a16:creationId xmlns:a16="http://schemas.microsoft.com/office/drawing/2014/main" id="{293AF9FD-E49D-447E-AD5C-A71060338A38}"/>
              </a:ext>
            </a:extLst>
          </p:cNvPr>
          <p:cNvSpPr>
            <a:spLocks noGrp="1"/>
          </p:cNvSpPr>
          <p:nvPr/>
        </p:nvSpPr>
        <p:spPr>
          <a:xfrm>
            <a:off x="438840" y="4946760"/>
            <a:ext cx="6537240" cy="41976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52" name="CustomShape 9">
            <a:extLst>
              <a:ext uri="{FF2B5EF4-FFF2-40B4-BE49-F238E27FC236}">
                <a16:creationId xmlns:a16="http://schemas.microsoft.com/office/drawing/2014/main" id="{19C54492-17E9-413F-801D-E771845B1F65}"/>
              </a:ext>
            </a:extLst>
          </p:cNvPr>
          <p:cNvSpPr>
            <a:spLocks noGrp="1"/>
          </p:cNvSpPr>
          <p:nvPr/>
        </p:nvSpPr>
        <p:spPr>
          <a:xfrm>
            <a:off x="438840" y="4946760"/>
            <a:ext cx="54000" cy="4197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53" name="CustomShape 10">
            <a:extLst>
              <a:ext uri="{FF2B5EF4-FFF2-40B4-BE49-F238E27FC236}">
                <a16:creationId xmlns:a16="http://schemas.microsoft.com/office/drawing/2014/main" id="{EC0B3B4B-196B-4798-9398-D4EC2AC740F3}"/>
              </a:ext>
            </a:extLst>
          </p:cNvPr>
          <p:cNvSpPr>
            <a:spLocks noGrp="1"/>
          </p:cNvSpPr>
          <p:nvPr/>
        </p:nvSpPr>
        <p:spPr>
          <a:xfrm>
            <a:off x="585360" y="4989960"/>
            <a:ext cx="6299640" cy="3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terrain map + 任务状态运行快照</a:t>
            </a:r>
          </a:p>
        </p:txBody>
      </p:sp>
      <p:pic>
        <p:nvPicPr>
          <p:cNvPr id="514" name="Picture 12"/>
          <p:cNvPicPr>
            <a:picLocks noChangeAspect="1"/>
          </p:cNvPicPr>
          <p:nvPr/>
        </p:nvPicPr>
        <p:blipFill>
          <a:blip r:embed="rId4"/>
          <a:srcRect l="5624" r="5624"/>
          <a:stretch/>
        </p:blipFill>
        <p:spPr>
          <a:xfrm>
            <a:off x="7196400" y="1051560"/>
            <a:ext cx="4543920" cy="2303640"/>
          </a:xfrm>
          <a:prstGeom prst="rect">
            <a:avLst/>
          </a:prstGeom>
          <a:ln w="12600">
            <a:solidFill>
              <a:srgbClr val="294C61"/>
            </a:solidFill>
            <a:round/>
          </a:ln>
        </p:spPr>
      </p:pic>
      <p:sp>
        <p:nvSpPr>
          <p:cNvPr id="455" name="CustomShape 11">
            <a:extLst>
              <a:ext uri="{FF2B5EF4-FFF2-40B4-BE49-F238E27FC236}">
                <a16:creationId xmlns:a16="http://schemas.microsoft.com/office/drawing/2014/main" id="{C870FD4F-66E6-4494-B87B-EC2ACA94EC6E}"/>
              </a:ext>
            </a:extLst>
          </p:cNvPr>
          <p:cNvSpPr>
            <a:spLocks noGrp="1"/>
          </p:cNvSpPr>
          <p:nvPr/>
        </p:nvSpPr>
        <p:spPr>
          <a:xfrm>
            <a:off x="7196400" y="2935080"/>
            <a:ext cx="4543920" cy="419760"/>
          </a:xfrm>
          <a:prstGeom prst="rect">
            <a:avLst/>
          </a:prstGeom>
          <a:solidFill>
            <a:srgbClr val="06131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56" name="CustomShape 12">
            <a:extLst>
              <a:ext uri="{FF2B5EF4-FFF2-40B4-BE49-F238E27FC236}">
                <a16:creationId xmlns:a16="http://schemas.microsoft.com/office/drawing/2014/main" id="{9DBA82FB-7F48-4EC6-B205-07534E4A6651}"/>
              </a:ext>
            </a:extLst>
          </p:cNvPr>
          <p:cNvSpPr>
            <a:spLocks noGrp="1"/>
          </p:cNvSpPr>
          <p:nvPr/>
        </p:nvSpPr>
        <p:spPr>
          <a:xfrm>
            <a:off x="7196400" y="2935080"/>
            <a:ext cx="54000" cy="419760"/>
          </a:xfrm>
          <a:prstGeom prst="rect">
            <a:avLst/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57" name="CustomShape 13">
            <a:extLst>
              <a:ext uri="{FF2B5EF4-FFF2-40B4-BE49-F238E27FC236}">
                <a16:creationId xmlns:a16="http://schemas.microsoft.com/office/drawing/2014/main" id="{7A8A2AD8-D412-4C68-8958-2E91B075056D}"/>
              </a:ext>
            </a:extLst>
          </p:cNvPr>
          <p:cNvSpPr>
            <a:spLocks noGrp="1"/>
          </p:cNvSpPr>
          <p:nvPr/>
        </p:nvSpPr>
        <p:spPr>
          <a:xfrm>
            <a:off x="7342560" y="2978280"/>
            <a:ext cx="4305960" cy="31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成功抓取任务的腕部四阶段</a:t>
            </a:r>
          </a:p>
        </p:txBody>
      </p:sp>
      <p:sp>
        <p:nvSpPr>
          <p:cNvPr id="458" name="CustomShape 14">
            <a:extLst>
              <a:ext uri="{FF2B5EF4-FFF2-40B4-BE49-F238E27FC236}">
                <a16:creationId xmlns:a16="http://schemas.microsoft.com/office/drawing/2014/main" id="{20F30319-A463-4F27-AAC5-7121FC6831D7}"/>
              </a:ext>
            </a:extLst>
          </p:cNvPr>
          <p:cNvSpPr>
            <a:spLocks noGrp="1"/>
          </p:cNvSpPr>
          <p:nvPr/>
        </p:nvSpPr>
        <p:spPr>
          <a:xfrm>
            <a:off x="7196400" y="3547800"/>
            <a:ext cx="4543920" cy="181908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59" name="CustomShape 15">
            <a:extLst>
              <a:ext uri="{FF2B5EF4-FFF2-40B4-BE49-F238E27FC236}">
                <a16:creationId xmlns:a16="http://schemas.microsoft.com/office/drawing/2014/main" id="{B84EEE67-2389-4E6A-9A36-4977174B18AC}"/>
              </a:ext>
            </a:extLst>
          </p:cNvPr>
          <p:cNvSpPr>
            <a:spLocks noGrp="1"/>
          </p:cNvSpPr>
          <p:nvPr/>
        </p:nvSpPr>
        <p:spPr>
          <a:xfrm>
            <a:off x="7443360" y="3749040"/>
            <a:ext cx="1416600" cy="65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导航与任务交接</a:t>
            </a:r>
          </a:p>
        </p:txBody>
      </p:sp>
      <p:sp>
        <p:nvSpPr>
          <p:cNvPr id="460" name="CustomShape 16">
            <a:extLst>
              <a:ext uri="{FF2B5EF4-FFF2-40B4-BE49-F238E27FC236}">
                <a16:creationId xmlns:a16="http://schemas.microsoft.com/office/drawing/2014/main" id="{AC33A6DA-23FB-452C-91E2-5146104ED750}"/>
              </a:ext>
            </a:extLst>
          </p:cNvPr>
          <p:cNvSpPr>
            <a:spLocks noGrp="1"/>
          </p:cNvSpPr>
          <p:nvPr/>
        </p:nvSpPr>
        <p:spPr>
          <a:xfrm>
            <a:off x="7461360" y="4142160"/>
            <a:ext cx="1626840" cy="227880"/>
          </a:xfrm>
          <a:prstGeom prst="roundRect">
            <a:avLst>
              <a:gd name="adj" fmla="val 16667"/>
            </a:avLst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61" name="CustomShape 17">
            <a:extLst>
              <a:ext uri="{FF2B5EF4-FFF2-40B4-BE49-F238E27FC236}">
                <a16:creationId xmlns:a16="http://schemas.microsoft.com/office/drawing/2014/main" id="{8068C1F6-41BC-456C-BF34-05D0A9A74558}"/>
              </a:ext>
            </a:extLst>
          </p:cNvPr>
          <p:cNvSpPr>
            <a:spLocks noGrp="1"/>
          </p:cNvSpPr>
          <p:nvPr/>
        </p:nvSpPr>
        <p:spPr>
          <a:xfrm>
            <a:off x="7461360" y="4155480"/>
            <a:ext cx="1626840" cy="20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elevation map</a:t>
            </a:r>
          </a:p>
        </p:txBody>
      </p:sp>
      <p:sp>
        <p:nvSpPr>
          <p:cNvPr id="462" name="CustomShape 18">
            <a:extLst>
              <a:ext uri="{FF2B5EF4-FFF2-40B4-BE49-F238E27FC236}">
                <a16:creationId xmlns:a16="http://schemas.microsoft.com/office/drawing/2014/main" id="{C420AAA2-2DB1-49EB-8497-4359F0FC8B7B}"/>
              </a:ext>
            </a:extLst>
          </p:cNvPr>
          <p:cNvSpPr>
            <a:spLocks noGrp="1"/>
          </p:cNvSpPr>
          <p:nvPr/>
        </p:nvSpPr>
        <p:spPr>
          <a:xfrm>
            <a:off x="7461360" y="4425840"/>
            <a:ext cx="1626840" cy="227880"/>
          </a:xfrm>
          <a:prstGeom prst="roundRect">
            <a:avLst>
              <a:gd name="adj" fmla="val 16667"/>
            </a:avLst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63" name="CustomShape 19">
            <a:extLst>
              <a:ext uri="{FF2B5EF4-FFF2-40B4-BE49-F238E27FC236}">
                <a16:creationId xmlns:a16="http://schemas.microsoft.com/office/drawing/2014/main" id="{E2EB5F60-09B8-4F87-9902-9CBAAC7CD300}"/>
              </a:ext>
            </a:extLst>
          </p:cNvPr>
          <p:cNvSpPr>
            <a:spLocks noGrp="1"/>
          </p:cNvSpPr>
          <p:nvPr/>
        </p:nvSpPr>
        <p:spPr>
          <a:xfrm>
            <a:off x="7461360" y="4439160"/>
            <a:ext cx="1626840" cy="20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terrain cost</a:t>
            </a:r>
          </a:p>
        </p:txBody>
      </p:sp>
      <p:sp>
        <p:nvSpPr>
          <p:cNvPr id="464" name="CustomShape 20">
            <a:extLst>
              <a:ext uri="{FF2B5EF4-FFF2-40B4-BE49-F238E27FC236}">
                <a16:creationId xmlns:a16="http://schemas.microsoft.com/office/drawing/2014/main" id="{596D1914-7B58-403A-AB15-8E81B45364CC}"/>
              </a:ext>
            </a:extLst>
          </p:cNvPr>
          <p:cNvSpPr>
            <a:spLocks noGrp="1"/>
          </p:cNvSpPr>
          <p:nvPr/>
        </p:nvSpPr>
        <p:spPr>
          <a:xfrm>
            <a:off x="7461360" y="4709160"/>
            <a:ext cx="1626840" cy="22788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65" name="CustomShape 21">
            <a:extLst>
              <a:ext uri="{FF2B5EF4-FFF2-40B4-BE49-F238E27FC236}">
                <a16:creationId xmlns:a16="http://schemas.microsoft.com/office/drawing/2014/main" id="{3838B2FA-BC06-4673-9A15-D9E2A00CBEB8}"/>
              </a:ext>
            </a:extLst>
          </p:cNvPr>
          <p:cNvSpPr>
            <a:spLocks noGrp="1"/>
          </p:cNvSpPr>
          <p:nvPr/>
        </p:nvSpPr>
        <p:spPr>
          <a:xfrm>
            <a:off x="7461360" y="4722480"/>
            <a:ext cx="1626840" cy="20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/ugv/goal</a:t>
            </a:r>
          </a:p>
        </p:txBody>
      </p:sp>
      <p:sp>
        <p:nvSpPr>
          <p:cNvPr id="466" name="CustomShape 22">
            <a:extLst>
              <a:ext uri="{FF2B5EF4-FFF2-40B4-BE49-F238E27FC236}">
                <a16:creationId xmlns:a16="http://schemas.microsoft.com/office/drawing/2014/main" id="{6664E186-6CF8-4B0E-9E20-D8B5EDAD0B41}"/>
              </a:ext>
            </a:extLst>
          </p:cNvPr>
          <p:cNvSpPr>
            <a:spLocks noGrp="1"/>
          </p:cNvSpPr>
          <p:nvPr/>
        </p:nvSpPr>
        <p:spPr>
          <a:xfrm>
            <a:off x="7461360" y="4992480"/>
            <a:ext cx="1626840" cy="227880"/>
          </a:xfrm>
          <a:prstGeom prst="roundRect">
            <a:avLst>
              <a:gd name="adj" fmla="val 16667"/>
            </a:avLst>
          </a:prstGeom>
          <a:solidFill>
            <a:srgbClr val="55D99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67" name="CustomShape 23">
            <a:extLst>
              <a:ext uri="{FF2B5EF4-FFF2-40B4-BE49-F238E27FC236}">
                <a16:creationId xmlns:a16="http://schemas.microsoft.com/office/drawing/2014/main" id="{0D04DB9E-A44C-44A1-9758-18DC625B7D2B}"/>
              </a:ext>
            </a:extLst>
          </p:cNvPr>
          <p:cNvSpPr>
            <a:spLocks noGrp="1"/>
          </p:cNvSpPr>
          <p:nvPr/>
        </p:nvSpPr>
        <p:spPr>
          <a:xfrm>
            <a:off x="7461360" y="5005800"/>
            <a:ext cx="1626840" cy="20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/target_tour_markers</a:t>
            </a:r>
          </a:p>
        </p:txBody>
      </p:sp>
      <p:sp>
        <p:nvSpPr>
          <p:cNvPr id="468" name="CustomShape 24">
            <a:extLst>
              <a:ext uri="{FF2B5EF4-FFF2-40B4-BE49-F238E27FC236}">
                <a16:creationId xmlns:a16="http://schemas.microsoft.com/office/drawing/2014/main" id="{F6E63109-7687-4111-80FC-FB731C4981AA}"/>
              </a:ext>
            </a:extLst>
          </p:cNvPr>
          <p:cNvSpPr>
            <a:spLocks noGrp="1"/>
          </p:cNvSpPr>
          <p:nvPr/>
        </p:nvSpPr>
        <p:spPr>
          <a:xfrm>
            <a:off x="9372600" y="3694320"/>
            <a:ext cx="1480680" cy="34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状态主链</a:t>
            </a:r>
          </a:p>
        </p:txBody>
      </p:sp>
      <p:sp>
        <p:nvSpPr>
          <p:cNvPr id="469" name="CustomShape 25">
            <a:extLst>
              <a:ext uri="{FF2B5EF4-FFF2-40B4-BE49-F238E27FC236}">
                <a16:creationId xmlns:a16="http://schemas.microsoft.com/office/drawing/2014/main" id="{FB856B82-8865-46C4-A826-F8063983A458}"/>
              </a:ext>
            </a:extLst>
          </p:cNvPr>
          <p:cNvSpPr>
            <a:spLocks noGrp="1"/>
          </p:cNvSpPr>
          <p:nvPr/>
        </p:nvSpPr>
        <p:spPr>
          <a:xfrm>
            <a:off x="9326880" y="4171320"/>
            <a:ext cx="2084040" cy="864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COLLECT → NAV_TO_MINE</a:t>
            </a:r>
          </a:p>
          <a:p>
            <a:pPr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→ ALIGN → GRASP → NAV_HOME</a:t>
            </a:r>
          </a:p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→ PLACE → DONE</a:t>
            </a:r>
          </a:p>
        </p:txBody>
      </p:sp>
      <p:sp>
        <p:nvSpPr>
          <p:cNvPr id="470" name="CustomShape 26">
            <a:extLst>
              <a:ext uri="{FF2B5EF4-FFF2-40B4-BE49-F238E27FC236}">
                <a16:creationId xmlns:a16="http://schemas.microsoft.com/office/drawing/2014/main" id="{2A108E97-792F-473E-987F-EDDECF552584}"/>
              </a:ext>
            </a:extLst>
          </p:cNvPr>
          <p:cNvSpPr>
            <a:spLocks noGrp="1"/>
          </p:cNvSpPr>
          <p:nvPr/>
        </p:nvSpPr>
        <p:spPr>
          <a:xfrm>
            <a:off x="438840" y="5541120"/>
            <a:ext cx="11301120" cy="78552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71" name="CustomShape 27">
            <a:extLst>
              <a:ext uri="{FF2B5EF4-FFF2-40B4-BE49-F238E27FC236}">
                <a16:creationId xmlns:a16="http://schemas.microsoft.com/office/drawing/2014/main" id="{7ED409AA-FE5D-4B47-A49C-4EDB7F355605}"/>
              </a:ext>
            </a:extLst>
          </p:cNvPr>
          <p:cNvSpPr>
            <a:spLocks noGrp="1"/>
          </p:cNvSpPr>
          <p:nvPr/>
        </p:nvSpPr>
        <p:spPr>
          <a:xfrm>
            <a:off x="658440" y="5742360"/>
            <a:ext cx="1553760" cy="346680"/>
          </a:xfrm>
          <a:prstGeom prst="roundRect">
            <a:avLst>
              <a:gd name="adj" fmla="val 16667"/>
            </a:avLst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72" name="CustomShape 28">
            <a:extLst>
              <a:ext uri="{FF2B5EF4-FFF2-40B4-BE49-F238E27FC236}">
                <a16:creationId xmlns:a16="http://schemas.microsoft.com/office/drawing/2014/main" id="{C8245F23-254D-4834-9262-9500429CC882}"/>
              </a:ext>
            </a:extLst>
          </p:cNvPr>
          <p:cNvSpPr>
            <a:spLocks noGrp="1"/>
          </p:cNvSpPr>
          <p:nvPr/>
        </p:nvSpPr>
        <p:spPr>
          <a:xfrm>
            <a:off x="658440" y="5799960"/>
            <a:ext cx="1553760" cy="23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确认目标集</a:t>
            </a:r>
          </a:p>
        </p:txBody>
      </p:sp>
      <p:sp>
        <p:nvSpPr>
          <p:cNvPr id="473" name="Line 29">
            <a:extLst>
              <a:ext uri="{FF2B5EF4-FFF2-40B4-BE49-F238E27FC236}">
                <a16:creationId xmlns:a16="http://schemas.microsoft.com/office/drawing/2014/main" id="{3378BC4C-D785-49B1-9B9A-9C52C1FC25F2}"/>
              </a:ext>
            </a:extLst>
          </p:cNvPr>
          <p:cNvSpPr>
            <a:spLocks noGrp="1"/>
          </p:cNvSpPr>
          <p:nvPr/>
        </p:nvSpPr>
        <p:spPr>
          <a:xfrm>
            <a:off x="2212560" y="5915880"/>
            <a:ext cx="182880" cy="0"/>
          </a:xfrm>
          <a:prstGeom prst="line">
            <a:avLst/>
          </a:prstGeom>
          <a:ln w="2160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74" name="CustomShape 30">
            <a:extLst>
              <a:ext uri="{FF2B5EF4-FFF2-40B4-BE49-F238E27FC236}">
                <a16:creationId xmlns:a16="http://schemas.microsoft.com/office/drawing/2014/main" id="{3C5BE38F-B3D8-4B73-A870-68C9F6A13A8F}"/>
              </a:ext>
            </a:extLst>
          </p:cNvPr>
          <p:cNvSpPr>
            <a:spLocks noGrp="1"/>
          </p:cNvSpPr>
          <p:nvPr/>
        </p:nvSpPr>
        <p:spPr>
          <a:xfrm>
            <a:off x="2487240" y="5742360"/>
            <a:ext cx="1663560" cy="346680"/>
          </a:xfrm>
          <a:prstGeom prst="roundRect">
            <a:avLst>
              <a:gd name="adj" fmla="val 16667"/>
            </a:avLst>
          </a:prstGeom>
          <a:solidFill>
            <a:srgbClr val="28B99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75" name="CustomShape 31">
            <a:extLst>
              <a:ext uri="{FF2B5EF4-FFF2-40B4-BE49-F238E27FC236}">
                <a16:creationId xmlns:a16="http://schemas.microsoft.com/office/drawing/2014/main" id="{3FFBBF0B-E73F-4BD4-BBB9-5AC42D3312D3}"/>
              </a:ext>
            </a:extLst>
          </p:cNvPr>
          <p:cNvSpPr>
            <a:spLocks noGrp="1"/>
          </p:cNvSpPr>
          <p:nvPr/>
        </p:nvSpPr>
        <p:spPr>
          <a:xfrm>
            <a:off x="2487240" y="5799960"/>
            <a:ext cx="1663560" cy="23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/ugv/goal 抵近</a:t>
            </a:r>
          </a:p>
        </p:txBody>
      </p:sp>
      <p:sp>
        <p:nvSpPr>
          <p:cNvPr id="476" name="Line 32">
            <a:extLst>
              <a:ext uri="{FF2B5EF4-FFF2-40B4-BE49-F238E27FC236}">
                <a16:creationId xmlns:a16="http://schemas.microsoft.com/office/drawing/2014/main" id="{D2736CDB-9851-43F6-9BD0-CBB4F53E083A}"/>
              </a:ext>
            </a:extLst>
          </p:cNvPr>
          <p:cNvSpPr>
            <a:spLocks noGrp="1"/>
          </p:cNvSpPr>
          <p:nvPr/>
        </p:nvSpPr>
        <p:spPr>
          <a:xfrm>
            <a:off x="4151160" y="5915880"/>
            <a:ext cx="192240" cy="0"/>
          </a:xfrm>
          <a:prstGeom prst="line">
            <a:avLst/>
          </a:prstGeom>
          <a:ln w="21600">
            <a:solidFill>
              <a:srgbClr val="28B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77" name="CustomShape 33">
            <a:extLst>
              <a:ext uri="{FF2B5EF4-FFF2-40B4-BE49-F238E27FC236}">
                <a16:creationId xmlns:a16="http://schemas.microsoft.com/office/drawing/2014/main" id="{9C55133D-A4D3-4C4D-A501-88071C763C80}"/>
              </a:ext>
            </a:extLst>
          </p:cNvPr>
          <p:cNvSpPr>
            <a:spLocks noGrp="1"/>
          </p:cNvSpPr>
          <p:nvPr/>
        </p:nvSpPr>
        <p:spPr>
          <a:xfrm>
            <a:off x="4434840" y="5742360"/>
            <a:ext cx="1718280" cy="34668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78" name="CustomShape 34">
            <a:extLst>
              <a:ext uri="{FF2B5EF4-FFF2-40B4-BE49-F238E27FC236}">
                <a16:creationId xmlns:a16="http://schemas.microsoft.com/office/drawing/2014/main" id="{73630548-6ED6-4BC3-B008-D4E8EE7E6B06}"/>
              </a:ext>
            </a:extLst>
          </p:cNvPr>
          <p:cNvSpPr>
            <a:spLocks noGrp="1"/>
          </p:cNvSpPr>
          <p:nvPr/>
        </p:nvSpPr>
        <p:spPr>
          <a:xfrm>
            <a:off x="4434840" y="5799960"/>
            <a:ext cx="1718280" cy="23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地形代价门控</a:t>
            </a:r>
          </a:p>
        </p:txBody>
      </p:sp>
      <p:sp>
        <p:nvSpPr>
          <p:cNvPr id="479" name="Line 35">
            <a:extLst>
              <a:ext uri="{FF2B5EF4-FFF2-40B4-BE49-F238E27FC236}">
                <a16:creationId xmlns:a16="http://schemas.microsoft.com/office/drawing/2014/main" id="{A7F57584-C193-43DF-B3DE-320C84EF9D6C}"/>
              </a:ext>
            </a:extLst>
          </p:cNvPr>
          <p:cNvSpPr>
            <a:spLocks noGrp="1"/>
          </p:cNvSpPr>
          <p:nvPr/>
        </p:nvSpPr>
        <p:spPr>
          <a:xfrm>
            <a:off x="6153840" y="5915880"/>
            <a:ext cx="182880" cy="0"/>
          </a:xfrm>
          <a:prstGeom prst="line">
            <a:avLst/>
          </a:prstGeom>
          <a:ln w="216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80" name="CustomShape 36">
            <a:extLst>
              <a:ext uri="{FF2B5EF4-FFF2-40B4-BE49-F238E27FC236}">
                <a16:creationId xmlns:a16="http://schemas.microsoft.com/office/drawing/2014/main" id="{588CF3A6-8E61-41F0-9822-4BDEC28F5F91}"/>
              </a:ext>
            </a:extLst>
          </p:cNvPr>
          <p:cNvSpPr>
            <a:spLocks noGrp="1"/>
          </p:cNvSpPr>
          <p:nvPr/>
        </p:nvSpPr>
        <p:spPr>
          <a:xfrm>
            <a:off x="6428160" y="5742360"/>
            <a:ext cx="1919520" cy="346680"/>
          </a:xfrm>
          <a:prstGeom prst="roundRect">
            <a:avLst>
              <a:gd name="adj" fmla="val 16667"/>
            </a:avLst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81" name="CustomShape 37">
            <a:extLst>
              <a:ext uri="{FF2B5EF4-FFF2-40B4-BE49-F238E27FC236}">
                <a16:creationId xmlns:a16="http://schemas.microsoft.com/office/drawing/2014/main" id="{45093829-C647-4ECA-BAB8-54125BEFFEE0}"/>
              </a:ext>
            </a:extLst>
          </p:cNvPr>
          <p:cNvSpPr>
            <a:spLocks noGrp="1"/>
          </p:cNvSpPr>
          <p:nvPr/>
        </p:nvSpPr>
        <p:spPr>
          <a:xfrm>
            <a:off x="6428160" y="5799960"/>
            <a:ext cx="1919520" cy="23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腕部 color / RGB-D</a:t>
            </a:r>
          </a:p>
        </p:txBody>
      </p:sp>
      <p:sp>
        <p:nvSpPr>
          <p:cNvPr id="482" name="Line 38">
            <a:extLst>
              <a:ext uri="{FF2B5EF4-FFF2-40B4-BE49-F238E27FC236}">
                <a16:creationId xmlns:a16="http://schemas.microsoft.com/office/drawing/2014/main" id="{AAA3AF3B-49E4-4588-BB85-0C39850515C5}"/>
              </a:ext>
            </a:extLst>
          </p:cNvPr>
          <p:cNvSpPr>
            <a:spLocks noGrp="1"/>
          </p:cNvSpPr>
          <p:nvPr/>
        </p:nvSpPr>
        <p:spPr>
          <a:xfrm>
            <a:off x="8348400" y="5915880"/>
            <a:ext cx="182880" cy="0"/>
          </a:xfrm>
          <a:prstGeom prst="line">
            <a:avLst/>
          </a:prstGeom>
          <a:ln w="21600"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83" name="CustomShape 39">
            <a:extLst>
              <a:ext uri="{FF2B5EF4-FFF2-40B4-BE49-F238E27FC236}">
                <a16:creationId xmlns:a16="http://schemas.microsoft.com/office/drawing/2014/main" id="{068B646A-145E-41ED-80C2-7E3DCBDC6CF3}"/>
              </a:ext>
            </a:extLst>
          </p:cNvPr>
          <p:cNvSpPr>
            <a:spLocks noGrp="1"/>
          </p:cNvSpPr>
          <p:nvPr/>
        </p:nvSpPr>
        <p:spPr>
          <a:xfrm>
            <a:off x="8622720" y="5742360"/>
            <a:ext cx="1736640" cy="346680"/>
          </a:xfrm>
          <a:prstGeom prst="roundRect">
            <a:avLst>
              <a:gd name="adj" fmla="val 16667"/>
            </a:avLst>
          </a:prstGeom>
          <a:solidFill>
            <a:srgbClr val="55D99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pPr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84" name="CustomShape 40">
            <a:extLst>
              <a:ext uri="{FF2B5EF4-FFF2-40B4-BE49-F238E27FC236}">
                <a16:creationId xmlns:a16="http://schemas.microsoft.com/office/drawing/2014/main" id="{630D5C17-D1F0-48C8-A912-A6C044034162}"/>
              </a:ext>
            </a:extLst>
          </p:cNvPr>
          <p:cNvSpPr>
            <a:spLocks noGrp="1"/>
          </p:cNvSpPr>
          <p:nvPr/>
        </p:nvSpPr>
        <p:spPr>
          <a:xfrm>
            <a:off x="8622720" y="5799960"/>
            <a:ext cx="1736640" cy="23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MoveIt + grasp_tcp</a:t>
            </a: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ACB03052-D0FE-46B4-8AC4-097F7C2CDE41}"/>
              </a:ext>
            </a:extLst>
          </p:cNvPr>
          <p:cNvSpPr>
            <a:spLocks noGrp="1"/>
          </p:cNvSpPr>
          <p:nvPr/>
        </p:nvSpPr>
        <p:spPr>
          <a:xfrm>
            <a:off x="384048" y="1024128"/>
            <a:ext cx="11411712" cy="5349240"/>
          </a:xfrm>
          <a:prstGeom prst="rect">
            <a:avLst/>
          </a:prstGeom>
          <a:solidFill>
            <a:srgbClr val="0C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86" name="Rounded Rectangle 485">
            <a:extLst>
              <a:ext uri="{FF2B5EF4-FFF2-40B4-BE49-F238E27FC236}">
                <a16:creationId xmlns:a16="http://schemas.microsoft.com/office/drawing/2014/main" id="{0BD911DB-F39C-421F-8C95-261D2FFB0F5F}"/>
              </a:ext>
            </a:extLst>
          </p:cNvPr>
          <p:cNvSpPr>
            <a:spLocks noGrp="1"/>
          </p:cNvSpPr>
          <p:nvPr/>
        </p:nvSpPr>
        <p:spPr>
          <a:xfrm>
            <a:off x="566928" y="1261872"/>
            <a:ext cx="3401568" cy="205740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983735C-9A9A-487A-A1F2-DF35F3D0BA7D}"/>
              </a:ext>
            </a:extLst>
          </p:cNvPr>
          <p:cNvSpPr>
            <a:spLocks noGrp="1"/>
          </p:cNvSpPr>
          <p:nvPr/>
        </p:nvSpPr>
        <p:spPr>
          <a:xfrm>
            <a:off x="713232" y="1362456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rPr>
              <a:t>① Detection：抓取级近场定位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D8EE46FE-E837-4A0E-9B2F-FBB3D9D84744}"/>
              </a:ext>
            </a:extLst>
          </p:cNvPr>
          <p:cNvSpPr>
            <a:spLocks noGrp="1"/>
          </p:cNvSpPr>
          <p:nvPr/>
        </p:nvSpPr>
        <p:spPr>
          <a:xfrm>
            <a:off x="713232" y="1737360"/>
            <a:ext cx="3108960" cy="1508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landmine_detector.py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腕部 RGB-D：默认 HSV + 深度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最大连通域分离黄色引信块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时间戳/深度一致性门控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→ /ugv/landmine_detection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 sz="1200" b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与 UAV 远场 /detected_targets 严格分离</a:t>
            </a:r>
          </a:p>
        </p:txBody>
      </p:sp>
      <p:sp>
        <p:nvSpPr>
          <p:cNvPr id="489" name="Rounded Rectangle 488">
            <a:extLst>
              <a:ext uri="{FF2B5EF4-FFF2-40B4-BE49-F238E27FC236}">
                <a16:creationId xmlns:a16="http://schemas.microsoft.com/office/drawing/2014/main" id="{B754A1B5-4AF3-4C45-98DF-7A5C2A5FF64A}"/>
              </a:ext>
            </a:extLst>
          </p:cNvPr>
          <p:cNvSpPr>
            <a:spLocks noGrp="1"/>
          </p:cNvSpPr>
          <p:nvPr/>
        </p:nvSpPr>
        <p:spPr>
          <a:xfrm>
            <a:off x="4370832" y="1261872"/>
            <a:ext cx="3401568" cy="205740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BE4CFA05-DD01-4C8B-89D6-B0210E16EB04}"/>
              </a:ext>
            </a:extLst>
          </p:cNvPr>
          <p:cNvSpPr>
            <a:spLocks noGrp="1"/>
          </p:cNvSpPr>
          <p:nvPr/>
        </p:nvSpPr>
        <p:spPr>
          <a:xfrm>
            <a:off x="4517136" y="1362456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rPr>
              <a:t>② Analytic：生成俯抓候选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E696F868-7639-43A4-A7BC-3FCC2673C05E}"/>
              </a:ext>
            </a:extLst>
          </p:cNvPr>
          <p:cNvSpPr>
            <a:spLocks noGrp="1"/>
          </p:cNvSpPr>
          <p:nvPr/>
        </p:nvSpPr>
        <p:spPr>
          <a:xfrm>
            <a:off x="4517136" y="1737360"/>
            <a:ext cx="3108960" cy="1508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analytic_grasp_server.py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读取近场目标与引信方向</a:t>
            </a:r>
            <a:r>
              <a:rPr sz="1200" b="0" dirty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 → 基于已知几何生成 top-down poses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GraspConfig → ranked </a:t>
            </a:r>
            <a:r>
              <a:rPr sz="1200" b="0" dirty="0" err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grasp_tcp</a:t>
            </a:r>
            <a:r>
              <a:rPr sz="1200" b="0" dirty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 poses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 sz="1200" b="0" dirty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+Z=approach · +X=closing · +Y=axis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ComputeIK</a:t>
            </a:r>
            <a:r>
              <a:rPr sz="1200" b="0" dirty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会淘汰与圆盘</a:t>
            </a:r>
            <a:r>
              <a:rPr sz="1200" b="0" dirty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b="0" dirty="0" err="1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车体碰撞的候选</a:t>
            </a:r>
            <a:endParaRPr sz="1200" b="0" dirty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2" name="Rounded Rectangle 491">
            <a:extLst>
              <a:ext uri="{FF2B5EF4-FFF2-40B4-BE49-F238E27FC236}">
                <a16:creationId xmlns:a16="http://schemas.microsoft.com/office/drawing/2014/main" id="{1D77D6AD-214D-440D-B0D5-DDC73968D858}"/>
              </a:ext>
            </a:extLst>
          </p:cNvPr>
          <p:cNvSpPr>
            <a:spLocks noGrp="1"/>
          </p:cNvSpPr>
          <p:nvPr/>
        </p:nvSpPr>
        <p:spPr>
          <a:xfrm>
            <a:off x="8174736" y="1261872"/>
            <a:ext cx="3401568" cy="205740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E55BAF31-2DFD-4747-A53E-52627D7EA315}"/>
              </a:ext>
            </a:extLst>
          </p:cNvPr>
          <p:cNvSpPr>
            <a:spLocks noGrp="1"/>
          </p:cNvSpPr>
          <p:nvPr/>
        </p:nvSpPr>
        <p:spPr>
          <a:xfrm>
            <a:off x="8321040" y="1362456"/>
            <a:ext cx="3108960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FFB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B44B"/>
                </a:solidFill>
                <a:latin typeface="Microsoft YaHei"/>
                <a:ea typeface="Microsoft YaHei"/>
                <a:cs typeface="Microsoft YaHei"/>
              </a:rPr>
              <a:t>③ MTC + 执行器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7639B542-48B8-4B5B-A520-3A75234D5825}"/>
              </a:ext>
            </a:extLst>
          </p:cNvPr>
          <p:cNvSpPr>
            <a:spLocks noGrp="1"/>
          </p:cNvSpPr>
          <p:nvPr/>
        </p:nvSpPr>
        <p:spPr>
          <a:xfrm>
            <a:off x="8321040" y="1737360"/>
            <a:ext cx="3108960" cy="1508760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CurrentState → ready → open → Connect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→ Cartesian approach → GeneratePose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→ ComputeIK(grasp_tcp) → 夹爪闭合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→ Gazebo 固定关节锁定 → odom +Z lift → carry</a:t>
            </a:r>
          </a:p>
        </p:txBody>
      </p:sp>
      <p:sp>
        <p:nvSpPr>
          <p:cNvPr id="495" name="Rounded Rectangle 494">
            <a:extLst>
              <a:ext uri="{FF2B5EF4-FFF2-40B4-BE49-F238E27FC236}">
                <a16:creationId xmlns:a16="http://schemas.microsoft.com/office/drawing/2014/main" id="{C029F3E5-372A-48F3-975A-DCB2079932F2}"/>
              </a:ext>
            </a:extLst>
          </p:cNvPr>
          <p:cNvSpPr>
            <a:spLocks noGrp="1"/>
          </p:cNvSpPr>
          <p:nvPr/>
        </p:nvSpPr>
        <p:spPr>
          <a:xfrm>
            <a:off x="713232" y="3703320"/>
            <a:ext cx="5166360" cy="196596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7547D62-70EE-4751-8A09-E5B24BE35D1C}"/>
              </a:ext>
            </a:extLst>
          </p:cNvPr>
          <p:cNvSpPr>
            <a:spLocks noGrp="1"/>
          </p:cNvSpPr>
          <p:nvPr/>
        </p:nvSpPr>
        <p:spPr>
          <a:xfrm>
            <a:off x="859536" y="3803904"/>
            <a:ext cx="4873752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69DC9D"/>
                </a:solidFill>
                <a:latin typeface="Microsoft YaHei"/>
                <a:ea typeface="Microsoft YaHei"/>
                <a:cs typeface="Microsoft YaHei"/>
              </a:rPr>
              <a:t>三者之间的统一接口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CF1060CF-7C55-472E-B28A-229053BAB193}"/>
              </a:ext>
            </a:extLst>
          </p:cNvPr>
          <p:cNvSpPr>
            <a:spLocks noGrp="1"/>
          </p:cNvSpPr>
          <p:nvPr/>
        </p:nvSpPr>
        <p:spPr>
          <a:xfrm>
            <a:off x="859536" y="4178808"/>
            <a:ext cx="4873752" cy="1417319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Detection 输出近场目标；/get_grasps 返回 ranked grasp_tcp；MTC 与候选源解耦。</a:t>
            </a: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 sz="1200" b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因此可单独评价检测误差、抓取候选质量和任务规划成功率。</a:t>
            </a:r>
          </a:p>
        </p:txBody>
      </p:sp>
      <p:sp>
        <p:nvSpPr>
          <p:cNvPr id="498" name="Rounded Rectangle 497">
            <a:extLst>
              <a:ext uri="{FF2B5EF4-FFF2-40B4-BE49-F238E27FC236}">
                <a16:creationId xmlns:a16="http://schemas.microsoft.com/office/drawing/2014/main" id="{74946D7E-156C-42B0-8F51-DBD478F2A1AD}"/>
              </a:ext>
            </a:extLst>
          </p:cNvPr>
          <p:cNvSpPr>
            <a:spLocks noGrp="1"/>
          </p:cNvSpPr>
          <p:nvPr/>
        </p:nvSpPr>
        <p:spPr>
          <a:xfrm>
            <a:off x="6263640" y="3703320"/>
            <a:ext cx="5166360" cy="1965960"/>
          </a:xfrm>
          <a:prstGeom prst="roundRect">
            <a:avLst/>
          </a:prstGeom>
          <a:solidFill>
            <a:srgbClr val="142A4B"/>
          </a:solidFill>
          <a:ln>
            <a:solidFill>
              <a:srgbClr val="2E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473AE36F-296B-4475-A365-7F04D6501C71}"/>
              </a:ext>
            </a:extLst>
          </p:cNvPr>
          <p:cNvSpPr>
            <a:spLocks noGrp="1"/>
          </p:cNvSpPr>
          <p:nvPr/>
        </p:nvSpPr>
        <p:spPr>
          <a:xfrm>
            <a:off x="6409944" y="3803904"/>
            <a:ext cx="4873752" cy="310896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rPr>
              <a:t>可替换抓取源接口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75812562-DAAA-4017-B76E-B9D3119D258F}"/>
              </a:ext>
            </a:extLst>
          </p:cNvPr>
          <p:cNvSpPr>
            <a:spLocks noGrp="1"/>
          </p:cNvSpPr>
          <p:nvPr/>
        </p:nvSpPr>
        <p:spPr>
          <a:xfrm>
            <a:off x="6409944" y="4178808"/>
            <a:ext cx="4873752" cy="1417319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GetGrasps.srv 是统一候选接口：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提交默认 analytic；实验适配器可替换，MTC 不改代码。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endParaRPr sz="1200" b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服务：/grasp/execute · /grasp/look · /grasp/place</a:t>
            </a:r>
          </a:p>
          <a:p>
            <a:pPr>
              <a:spcAft>
                <a:spcPts val="400"/>
              </a:spcAft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rPr>
              <a:t>启动：grasp_stack.launch / manipulation.launch</a:t>
            </a:r>
          </a:p>
        </p:txBody>
      </p:sp>
    </p:spTree>
    <p:extLst>
      <p:ext uri="{BB962C8B-B14F-4D97-AF65-F5344CB8AC3E}">
        <p14:creationId xmlns:p14="http://schemas.microsoft.com/office/powerpoint/2010/main" val="293579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Picture 1"/>
          <p:cNvPicPr>
            <a:picLocks noChangeAspect="1"/>
          </p:cNvPicPr>
          <p:nvPr/>
        </p:nvPicPr>
        <p:blipFill>
          <a:blip r:embed="rId3"/>
          <a:srcRect l="2" r="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</p:pic>
      <p:sp>
        <p:nvSpPr>
          <p:cNvPr id="550" name="CustomShape 1">
            <a:extLst>
              <a:ext uri="{FF2B5EF4-FFF2-40B4-BE49-F238E27FC236}">
                <a16:creationId xmlns:a16="http://schemas.microsoft.com/office/drawing/2014/main" id="{385E7689-5532-4577-B2B0-67B6CCF37B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51" name="CustomShape 2">
            <a:extLst>
              <a:ext uri="{FF2B5EF4-FFF2-40B4-BE49-F238E27FC236}">
                <a16:creationId xmlns:a16="http://schemas.microsoft.com/office/drawing/2014/main" id="{F9D49888-7163-43D6-B131-FD589E3C3CA4}"/>
              </a:ext>
            </a:extLst>
          </p:cNvPr>
          <p:cNvSpPr>
            <a:spLocks noGrp="1"/>
          </p:cNvSpPr>
          <p:nvPr/>
        </p:nvSpPr>
        <p:spPr>
          <a:xfrm>
            <a:off x="438840" y="223391"/>
            <a:ext cx="502200" cy="3203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1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552" name="CustomShape 3">
            <a:extLst>
              <a:ext uri="{FF2B5EF4-FFF2-40B4-BE49-F238E27FC236}">
                <a16:creationId xmlns:a16="http://schemas.microsoft.com/office/drawing/2014/main" id="{B87875A0-0BFE-429F-8C6D-076EAE82D1A4}"/>
              </a:ext>
            </a:extLst>
          </p:cNvPr>
          <p:cNvSpPr>
            <a:spLocks noGrp="1"/>
          </p:cNvSpPr>
          <p:nvPr/>
        </p:nvSpPr>
        <p:spPr>
          <a:xfrm>
            <a:off x="960120" y="150840"/>
            <a:ext cx="10697760" cy="4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7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创新点、总结和真机部署路线</a:t>
            </a:r>
          </a:p>
        </p:txBody>
      </p:sp>
      <p:sp>
        <p:nvSpPr>
          <p:cNvPr id="553" name="CustomShape 4">
            <a:extLst>
              <a:ext uri="{FF2B5EF4-FFF2-40B4-BE49-F238E27FC236}">
                <a16:creationId xmlns:a16="http://schemas.microsoft.com/office/drawing/2014/main" id="{A4BA078E-DFA4-484D-95DC-17C8892B88E0}"/>
              </a:ext>
            </a:extLst>
          </p:cNvPr>
          <p:cNvSpPr>
            <a:spLocks noGrp="1"/>
          </p:cNvSpPr>
          <p:nvPr/>
        </p:nvSpPr>
        <p:spPr>
          <a:xfrm>
            <a:off x="978480" y="653040"/>
            <a:ext cx="10606320" cy="30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当前成果完成接口链与分层调试；完整五雷按 README 实测验收</a:t>
            </a:r>
          </a:p>
        </p:txBody>
      </p:sp>
      <p:sp>
        <p:nvSpPr>
          <p:cNvPr id="554" name="CustomShape 5">
            <a:extLst>
              <a:ext uri="{FF2B5EF4-FFF2-40B4-BE49-F238E27FC236}">
                <a16:creationId xmlns:a16="http://schemas.microsoft.com/office/drawing/2014/main" id="{D1C62464-534F-4569-990D-7D40C9C9EC75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55" name="CustomShape 6">
            <a:extLst>
              <a:ext uri="{FF2B5EF4-FFF2-40B4-BE49-F238E27FC236}">
                <a16:creationId xmlns:a16="http://schemas.microsoft.com/office/drawing/2014/main" id="{58A4B177-0505-4DEB-903B-B6AE1FB8EF62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sp>
        <p:nvSpPr>
          <p:cNvPr id="556" name="CustomShape 7">
            <a:extLst>
              <a:ext uri="{FF2B5EF4-FFF2-40B4-BE49-F238E27FC236}">
                <a16:creationId xmlns:a16="http://schemas.microsoft.com/office/drawing/2014/main" id="{97406284-86A2-4D57-8B38-6D022B963DF5}"/>
              </a:ext>
            </a:extLst>
          </p:cNvPr>
          <p:cNvSpPr>
            <a:spLocks noGrp="1"/>
          </p:cNvSpPr>
          <p:nvPr/>
        </p:nvSpPr>
        <p:spPr>
          <a:xfrm>
            <a:off x="475560" y="1097280"/>
            <a:ext cx="3693600" cy="510156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57" name="CustomShape 8">
            <a:extLst>
              <a:ext uri="{FF2B5EF4-FFF2-40B4-BE49-F238E27FC236}">
                <a16:creationId xmlns:a16="http://schemas.microsoft.com/office/drawing/2014/main" id="{4FAEC992-8711-43C5-BD9F-1EEED289C353}"/>
              </a:ext>
            </a:extLst>
          </p:cNvPr>
          <p:cNvSpPr>
            <a:spLocks noGrp="1"/>
          </p:cNvSpPr>
          <p:nvPr/>
        </p:nvSpPr>
        <p:spPr>
          <a:xfrm>
            <a:off x="768240" y="1371600"/>
            <a:ext cx="1736640" cy="39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100" b="1">
                <a:solidFill>
                  <a:srgbClr val="25D5D0"/>
                </a:solidFill>
                <a:latin typeface="Noto Sans CJK SC"/>
                <a:ea typeface="Noto Sans CJK SC"/>
                <a:cs typeface="Noto Sans CJK SC"/>
              </a:rPr>
              <a:t>工程创新点</a:t>
            </a:r>
          </a:p>
        </p:txBody>
      </p:sp>
      <p:sp>
        <p:nvSpPr>
          <p:cNvPr id="558" name="CustomShape 9">
            <a:extLst>
              <a:ext uri="{FF2B5EF4-FFF2-40B4-BE49-F238E27FC236}">
                <a16:creationId xmlns:a16="http://schemas.microsoft.com/office/drawing/2014/main" id="{47626F2A-706E-4EDB-8E62-8675E98A2B7A}"/>
              </a:ext>
            </a:extLst>
          </p:cNvPr>
          <p:cNvSpPr>
            <a:spLocks noGrp="1"/>
          </p:cNvSpPr>
          <p:nvPr/>
        </p:nvSpPr>
        <p:spPr>
          <a:xfrm>
            <a:off x="768240" y="1883520"/>
            <a:ext cx="3053520" cy="189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>
            <a:spAutoFit/>
          </a:bodyPr>
          <a:lstStyle/>
          <a:p>
            <a:pPr>
              <a:buNone/>
              <a:defRPr sz="12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● </a:t>
            </a:r>
            <a:r>
              <a:rPr dirty="0" err="1"/>
              <a:t>Egocentric：显式传播</a:t>
            </a:r>
            <a:r>
              <a:rPr dirty="0"/>
              <a:t> UAV pose / LiDAR / </a:t>
            </a:r>
            <a:r>
              <a:rPr dirty="0" err="1"/>
              <a:t>外参</a:t>
            </a:r>
            <a:r>
              <a:rPr dirty="0"/>
              <a:t> / </a:t>
            </a:r>
            <a:r>
              <a:rPr dirty="0" err="1"/>
              <a:t>时延误差</a:t>
            </a:r>
            <a:endParaRPr dirty="0"/>
          </a:p>
          <a:p>
            <a:pPr>
              <a:buNone/>
              <a:defRPr sz="12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● </a:t>
            </a:r>
            <a:r>
              <a:rPr dirty="0" err="1"/>
              <a:t>定制</a:t>
            </a:r>
            <a:r>
              <a:rPr dirty="0"/>
              <a:t> </a:t>
            </a:r>
            <a:r>
              <a:rPr dirty="0" err="1"/>
              <a:t>CMU：step</a:t>
            </a:r>
            <a:r>
              <a:rPr dirty="0"/>
              <a:t> + slope → intensity </a:t>
            </a:r>
            <a:r>
              <a:rPr dirty="0" err="1"/>
              <a:t>penalty，FAR</a:t>
            </a:r>
            <a:r>
              <a:rPr dirty="0"/>
              <a:t> </a:t>
            </a:r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traversability</a:t>
            </a:r>
            <a:r>
              <a:rPr dirty="0"/>
              <a:t> cost</a:t>
            </a:r>
          </a:p>
          <a:p>
            <a:pPr>
              <a:buNone/>
              <a:defRPr sz="12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● </a:t>
            </a:r>
            <a:r>
              <a:rPr dirty="0" err="1"/>
              <a:t>不做全局</a:t>
            </a:r>
            <a:r>
              <a:rPr dirty="0"/>
              <a:t> BA/</a:t>
            </a:r>
            <a:r>
              <a:rPr dirty="0" err="1"/>
              <a:t>回环：保护已融合</a:t>
            </a:r>
            <a:r>
              <a:rPr dirty="0"/>
              <a:t> elevation map </a:t>
            </a:r>
            <a:r>
              <a:rPr dirty="0" err="1"/>
              <a:t>的局部真实信息</a:t>
            </a:r>
            <a:endParaRPr dirty="0"/>
          </a:p>
          <a:p>
            <a:pPr>
              <a:buNone/>
              <a:defRPr sz="12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● </a:t>
            </a:r>
            <a:r>
              <a:rPr dirty="0" err="1"/>
              <a:t>抓取三关键：近场</a:t>
            </a:r>
            <a:r>
              <a:rPr dirty="0"/>
              <a:t> Detection → analytic → </a:t>
            </a:r>
            <a:r>
              <a:rPr dirty="0" err="1"/>
              <a:t>MoveIt</a:t>
            </a:r>
            <a:r>
              <a:rPr dirty="0"/>
              <a:t> MTC</a:t>
            </a:r>
          </a:p>
        </p:txBody>
      </p:sp>
      <p:sp>
        <p:nvSpPr>
          <p:cNvPr id="559" name="CustomShape 10">
            <a:extLst>
              <a:ext uri="{FF2B5EF4-FFF2-40B4-BE49-F238E27FC236}">
                <a16:creationId xmlns:a16="http://schemas.microsoft.com/office/drawing/2014/main" id="{3323FA9F-0F9F-4AD2-B0D0-6D0B5F0A966A}"/>
              </a:ext>
            </a:extLst>
          </p:cNvPr>
          <p:cNvSpPr>
            <a:spLocks noGrp="1"/>
          </p:cNvSpPr>
          <p:nvPr/>
        </p:nvSpPr>
        <p:spPr>
          <a:xfrm>
            <a:off x="749880" y="4754880"/>
            <a:ext cx="3144960" cy="9867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55D99F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0" name="CustomShape 11">
            <a:extLst>
              <a:ext uri="{FF2B5EF4-FFF2-40B4-BE49-F238E27FC236}">
                <a16:creationId xmlns:a16="http://schemas.microsoft.com/office/drawing/2014/main" id="{AFB535A0-0A5F-4B87-852A-F1E911E2CF10}"/>
              </a:ext>
            </a:extLst>
          </p:cNvPr>
          <p:cNvSpPr>
            <a:spLocks noGrp="1"/>
          </p:cNvSpPr>
          <p:nvPr/>
        </p:nvSpPr>
        <p:spPr>
          <a:xfrm>
            <a:off x="932760" y="4800960"/>
            <a:ext cx="2779200" cy="895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3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当前验证</a:t>
            </a:r>
          </a:p>
          <a:p>
            <a:pPr>
              <a:buNone/>
              <a:defRPr sz="13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DLIO RMSE 3.77 cm</a:t>
            </a:r>
          </a:p>
          <a:p>
            <a:pPr>
              <a:buNone/>
              <a:defRPr sz="13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仿真固定关节抓取—返程—放置链已接通 · 五雷按 README 逐颗验收</a:t>
            </a:r>
          </a:p>
        </p:txBody>
      </p:sp>
      <p:sp>
        <p:nvSpPr>
          <p:cNvPr id="561" name="CustomShape 12">
            <a:extLst>
              <a:ext uri="{FF2B5EF4-FFF2-40B4-BE49-F238E27FC236}">
                <a16:creationId xmlns:a16="http://schemas.microsoft.com/office/drawing/2014/main" id="{EB181C58-1410-4063-990B-0FB9CCEFA298}"/>
              </a:ext>
            </a:extLst>
          </p:cNvPr>
          <p:cNvSpPr>
            <a:spLocks noGrp="1"/>
          </p:cNvSpPr>
          <p:nvPr/>
        </p:nvSpPr>
        <p:spPr>
          <a:xfrm>
            <a:off x="4407480" y="1097280"/>
            <a:ext cx="7323480" cy="510156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2" name="CustomShape 13">
            <a:extLst>
              <a:ext uri="{FF2B5EF4-FFF2-40B4-BE49-F238E27FC236}">
                <a16:creationId xmlns:a16="http://schemas.microsoft.com/office/drawing/2014/main" id="{65A47DF8-8E3A-45F3-9078-B619AFDA0388}"/>
              </a:ext>
            </a:extLst>
          </p:cNvPr>
          <p:cNvSpPr>
            <a:spLocks noGrp="1"/>
          </p:cNvSpPr>
          <p:nvPr/>
        </p:nvSpPr>
        <p:spPr>
          <a:xfrm>
            <a:off x="4700160" y="1371600"/>
            <a:ext cx="1873800" cy="39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100" b="1">
                <a:solidFill>
                  <a:srgbClr val="FFB547"/>
                </a:solidFill>
                <a:latin typeface="Noto Sans CJK SC"/>
                <a:ea typeface="Noto Sans CJK SC"/>
                <a:cs typeface="Noto Sans CJK SC"/>
              </a:rPr>
              <a:t>真机部署路线</a:t>
            </a:r>
          </a:p>
        </p:txBody>
      </p:sp>
      <p:sp>
        <p:nvSpPr>
          <p:cNvPr id="563" name="CustomShape 14">
            <a:extLst>
              <a:ext uri="{FF2B5EF4-FFF2-40B4-BE49-F238E27FC236}">
                <a16:creationId xmlns:a16="http://schemas.microsoft.com/office/drawing/2014/main" id="{11813D28-18CB-4654-97BC-52FB1EE8F7AC}"/>
              </a:ext>
            </a:extLst>
          </p:cNvPr>
          <p:cNvSpPr>
            <a:spLocks noGrp="1"/>
          </p:cNvSpPr>
          <p:nvPr/>
        </p:nvSpPr>
        <p:spPr>
          <a:xfrm>
            <a:off x="4700160" y="1993320"/>
            <a:ext cx="749160" cy="383400"/>
          </a:xfrm>
          <a:prstGeom prst="roundRect">
            <a:avLst>
              <a:gd name="adj" fmla="val 16667"/>
            </a:avLst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4" name="CustomShape 15">
            <a:extLst>
              <a:ext uri="{FF2B5EF4-FFF2-40B4-BE49-F238E27FC236}">
                <a16:creationId xmlns:a16="http://schemas.microsoft.com/office/drawing/2014/main" id="{599BD803-6D57-4B8F-9688-7CB65DC1D60F}"/>
              </a:ext>
            </a:extLst>
          </p:cNvPr>
          <p:cNvSpPr>
            <a:spLocks noGrp="1"/>
          </p:cNvSpPr>
          <p:nvPr/>
        </p:nvSpPr>
        <p:spPr>
          <a:xfrm>
            <a:off x="4700160" y="2054160"/>
            <a:ext cx="749160" cy="26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UAV</a:t>
            </a:r>
          </a:p>
        </p:txBody>
      </p:sp>
      <p:sp>
        <p:nvSpPr>
          <p:cNvPr id="565" name="CustomShape 16">
            <a:extLst>
              <a:ext uri="{FF2B5EF4-FFF2-40B4-BE49-F238E27FC236}">
                <a16:creationId xmlns:a16="http://schemas.microsoft.com/office/drawing/2014/main" id="{4B4C46A4-1F15-4517-8059-10800B2C5DFC}"/>
              </a:ext>
            </a:extLst>
          </p:cNvPr>
          <p:cNvSpPr>
            <a:spLocks noGrp="1"/>
          </p:cNvSpPr>
          <p:nvPr/>
        </p:nvSpPr>
        <p:spPr>
          <a:xfrm>
            <a:off x="5623560" y="1923120"/>
            <a:ext cx="5714280" cy="56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LiDAR + IMU → FAST-LIO2；RTK/INS 或地图配准发布 map_enu → lio_odom</a:t>
            </a:r>
          </a:p>
        </p:txBody>
      </p:sp>
      <p:sp>
        <p:nvSpPr>
          <p:cNvPr id="566" name="Line 17">
            <a:extLst>
              <a:ext uri="{FF2B5EF4-FFF2-40B4-BE49-F238E27FC236}">
                <a16:creationId xmlns:a16="http://schemas.microsoft.com/office/drawing/2014/main" id="{7F574288-5DE0-4C9E-B3B8-FAC77CB8C901}"/>
              </a:ext>
            </a:extLst>
          </p:cNvPr>
          <p:cNvSpPr>
            <a:spLocks noGrp="1"/>
          </p:cNvSpPr>
          <p:nvPr/>
        </p:nvSpPr>
        <p:spPr>
          <a:xfrm>
            <a:off x="5074920" y="2404800"/>
            <a:ext cx="0" cy="384120"/>
          </a:xfrm>
          <a:prstGeom prst="line">
            <a:avLst/>
          </a:prstGeom>
          <a:ln w="28080">
            <a:solidFill>
              <a:srgbClr val="25D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7" name="CustomShape 18">
            <a:extLst>
              <a:ext uri="{FF2B5EF4-FFF2-40B4-BE49-F238E27FC236}">
                <a16:creationId xmlns:a16="http://schemas.microsoft.com/office/drawing/2014/main" id="{73A24D78-F715-47F1-8748-F26ADD00B8FF}"/>
              </a:ext>
            </a:extLst>
          </p:cNvPr>
          <p:cNvSpPr>
            <a:spLocks noGrp="1"/>
          </p:cNvSpPr>
          <p:nvPr/>
        </p:nvSpPr>
        <p:spPr>
          <a:xfrm>
            <a:off x="4700160" y="2926080"/>
            <a:ext cx="749160" cy="383400"/>
          </a:xfrm>
          <a:prstGeom prst="roundRect">
            <a:avLst>
              <a:gd name="adj" fmla="val 16667"/>
            </a:avLst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8" name="CustomShape 19">
            <a:extLst>
              <a:ext uri="{FF2B5EF4-FFF2-40B4-BE49-F238E27FC236}">
                <a16:creationId xmlns:a16="http://schemas.microsoft.com/office/drawing/2014/main" id="{5EF349FE-0B3F-40B9-BA3D-059C418B7D8C}"/>
              </a:ext>
            </a:extLst>
          </p:cNvPr>
          <p:cNvSpPr>
            <a:spLocks noGrp="1"/>
          </p:cNvSpPr>
          <p:nvPr/>
        </p:nvSpPr>
        <p:spPr>
          <a:xfrm>
            <a:off x="4700160" y="2986920"/>
            <a:ext cx="749160" cy="26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UGV</a:t>
            </a:r>
          </a:p>
        </p:txBody>
      </p:sp>
      <p:sp>
        <p:nvSpPr>
          <p:cNvPr id="569" name="CustomShape 20">
            <a:extLst>
              <a:ext uri="{FF2B5EF4-FFF2-40B4-BE49-F238E27FC236}">
                <a16:creationId xmlns:a16="http://schemas.microsoft.com/office/drawing/2014/main" id="{375E2B01-853C-4DF8-92DB-131BCF3FB41B}"/>
              </a:ext>
            </a:extLst>
          </p:cNvPr>
          <p:cNvSpPr>
            <a:spLocks noGrp="1"/>
          </p:cNvSpPr>
          <p:nvPr/>
        </p:nvSpPr>
        <p:spPr>
          <a:xfrm>
            <a:off x="5623560" y="2855880"/>
            <a:ext cx="5714280" cy="56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2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3D LiDAR + IMU → DLIO；odom 根系下构建 terrain/elevation 并执行 CMU 局部规划</a:t>
            </a:r>
          </a:p>
        </p:txBody>
      </p:sp>
      <p:sp>
        <p:nvSpPr>
          <p:cNvPr id="570" name="Line 21">
            <a:extLst>
              <a:ext uri="{FF2B5EF4-FFF2-40B4-BE49-F238E27FC236}">
                <a16:creationId xmlns:a16="http://schemas.microsoft.com/office/drawing/2014/main" id="{B0F7AA3D-0C1C-45AB-8206-1E4BAF2DDC34}"/>
              </a:ext>
            </a:extLst>
          </p:cNvPr>
          <p:cNvSpPr>
            <a:spLocks noGrp="1"/>
          </p:cNvSpPr>
          <p:nvPr/>
        </p:nvSpPr>
        <p:spPr>
          <a:xfrm>
            <a:off x="5074920" y="3337560"/>
            <a:ext cx="0" cy="383760"/>
          </a:xfrm>
          <a:prstGeom prst="line">
            <a:avLst/>
          </a:prstGeom>
          <a:ln w="28080"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71" name="CustomShape 22">
            <a:extLst>
              <a:ext uri="{FF2B5EF4-FFF2-40B4-BE49-F238E27FC236}">
                <a16:creationId xmlns:a16="http://schemas.microsoft.com/office/drawing/2014/main" id="{6A3BE1E2-7519-4AA2-9638-8A39A13169BA}"/>
              </a:ext>
            </a:extLst>
          </p:cNvPr>
          <p:cNvSpPr>
            <a:spLocks noGrp="1"/>
          </p:cNvSpPr>
          <p:nvPr/>
        </p:nvSpPr>
        <p:spPr>
          <a:xfrm>
            <a:off x="4700160" y="3858840"/>
            <a:ext cx="749160" cy="383400"/>
          </a:xfrm>
          <a:prstGeom prst="roundRect">
            <a:avLst>
              <a:gd name="adj" fmla="val 16667"/>
            </a:avLst>
          </a:prstGeom>
          <a:solidFill>
            <a:srgbClr val="55D99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72" name="CustomShape 23">
            <a:extLst>
              <a:ext uri="{FF2B5EF4-FFF2-40B4-BE49-F238E27FC236}">
                <a16:creationId xmlns:a16="http://schemas.microsoft.com/office/drawing/2014/main" id="{5346B7D0-0D9A-4E7A-A885-7A6B1F978F31}"/>
              </a:ext>
            </a:extLst>
          </p:cNvPr>
          <p:cNvSpPr>
            <a:spLocks noGrp="1"/>
          </p:cNvSpPr>
          <p:nvPr/>
        </p:nvSpPr>
        <p:spPr>
          <a:xfrm>
            <a:off x="4700160" y="3919680"/>
            <a:ext cx="749160" cy="26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00" b="1" dirty="0" err="1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共享</a:t>
            </a:r>
            <a:endParaRPr sz="1600" b="1" dirty="0">
              <a:solidFill>
                <a:srgbClr val="06131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3" name="CustomShape 24">
            <a:extLst>
              <a:ext uri="{FF2B5EF4-FFF2-40B4-BE49-F238E27FC236}">
                <a16:creationId xmlns:a16="http://schemas.microsoft.com/office/drawing/2014/main" id="{7C244395-F2BF-4812-A581-69893DF6BC86}"/>
              </a:ext>
            </a:extLst>
          </p:cNvPr>
          <p:cNvSpPr>
            <a:spLocks noGrp="1"/>
          </p:cNvSpPr>
          <p:nvPr/>
        </p:nvSpPr>
        <p:spPr>
          <a:xfrm>
            <a:off x="5623560" y="3908711"/>
            <a:ext cx="5714280" cy="3203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6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PointCloud2/</a:t>
            </a:r>
            <a:r>
              <a:rPr sz="1600" b="1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PCD、terrain</a:t>
            </a:r>
            <a:r>
              <a:rPr sz="16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/elevation </a:t>
            </a:r>
            <a:r>
              <a:rPr sz="1600" b="1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map、mine</a:t>
            </a:r>
            <a:r>
              <a:rPr sz="16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 map</a:t>
            </a:r>
            <a:r>
              <a:rPr lang="zh-CN" altLang="en-US" sz="16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共享</a:t>
            </a:r>
            <a:endParaRPr sz="1600" b="1" dirty="0">
              <a:solidFill>
                <a:srgbClr val="ECF7F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4" name="CustomShape 25">
            <a:extLst>
              <a:ext uri="{FF2B5EF4-FFF2-40B4-BE49-F238E27FC236}">
                <a16:creationId xmlns:a16="http://schemas.microsoft.com/office/drawing/2014/main" id="{A84E5AE7-D5A2-4967-8E48-F2CE777B1110}"/>
              </a:ext>
            </a:extLst>
          </p:cNvPr>
          <p:cNvSpPr>
            <a:spLocks noGrp="1"/>
          </p:cNvSpPr>
          <p:nvPr/>
        </p:nvSpPr>
        <p:spPr>
          <a:xfrm>
            <a:off x="4681800" y="4754880"/>
            <a:ext cx="6738480" cy="986760"/>
          </a:xfrm>
          <a:prstGeom prst="roundRect">
            <a:avLst>
              <a:gd name="adj" fmla="val 16667"/>
            </a:avLst>
          </a:prstGeom>
          <a:solidFill>
            <a:srgbClr val="123347"/>
          </a:solidFill>
          <a:ln w="12600">
            <a:solidFill>
              <a:srgbClr val="FFB547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75" name="CustomShape 26">
            <a:extLst>
              <a:ext uri="{FF2B5EF4-FFF2-40B4-BE49-F238E27FC236}">
                <a16:creationId xmlns:a16="http://schemas.microsoft.com/office/drawing/2014/main" id="{6973B7F3-9139-4CF4-838D-B625E9FACB48}"/>
              </a:ext>
            </a:extLst>
          </p:cNvPr>
          <p:cNvSpPr>
            <a:spLocks noGrp="1"/>
          </p:cNvSpPr>
          <p:nvPr/>
        </p:nvSpPr>
        <p:spPr>
          <a:xfrm>
            <a:off x="4901040" y="4693680"/>
            <a:ext cx="6308640" cy="1109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3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Gazebo truth 不生成抓取目标，仅用于空地锚定、离线评估和仿真实体锁定。</a:t>
            </a:r>
          </a:p>
          <a:p>
            <a:pPr>
              <a:buNone/>
              <a:defRPr sz="130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t>真机替换定位源后，WorldTarget、terrain map、/ugv/goal 与 /get_grasps 接口保持不变。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215910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6B7CE-77D7-D1DA-825F-DFCB541E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Picture 1">
            <a:extLst>
              <a:ext uri="{FF2B5EF4-FFF2-40B4-BE49-F238E27FC236}">
                <a16:creationId xmlns:a16="http://schemas.microsoft.com/office/drawing/2014/main" id="{098F6091-BE4D-3E3D-B8F4-1FE5605A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" r="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</p:pic>
      <p:sp>
        <p:nvSpPr>
          <p:cNvPr id="550" name="CustomShape 1">
            <a:extLst>
              <a:ext uri="{FF2B5EF4-FFF2-40B4-BE49-F238E27FC236}">
                <a16:creationId xmlns:a16="http://schemas.microsoft.com/office/drawing/2014/main" id="{4E275F85-1996-B3D3-65DD-1317B2DC1B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51" name="CustomShape 2">
            <a:extLst>
              <a:ext uri="{FF2B5EF4-FFF2-40B4-BE49-F238E27FC236}">
                <a16:creationId xmlns:a16="http://schemas.microsoft.com/office/drawing/2014/main" id="{4A5286C1-5D52-4004-91C5-80C5259B1A15}"/>
              </a:ext>
            </a:extLst>
          </p:cNvPr>
          <p:cNvSpPr>
            <a:spLocks noGrp="1"/>
          </p:cNvSpPr>
          <p:nvPr/>
        </p:nvSpPr>
        <p:spPr>
          <a:xfrm>
            <a:off x="438840" y="223391"/>
            <a:ext cx="502200" cy="3203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buNone/>
              <a:defRPr sz="1600" b="1">
                <a:solidFill>
                  <a:srgbClr val="3ACDD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552" name="CustomShape 3">
            <a:extLst>
              <a:ext uri="{FF2B5EF4-FFF2-40B4-BE49-F238E27FC236}">
                <a16:creationId xmlns:a16="http://schemas.microsoft.com/office/drawing/2014/main" id="{D9E75CE4-8BF4-6CAD-40C8-8516696AE4F7}"/>
              </a:ext>
            </a:extLst>
          </p:cNvPr>
          <p:cNvSpPr>
            <a:spLocks noGrp="1"/>
          </p:cNvSpPr>
          <p:nvPr/>
        </p:nvSpPr>
        <p:spPr>
          <a:xfrm>
            <a:off x="960120" y="148112"/>
            <a:ext cx="10697760" cy="4896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分工合作</a:t>
            </a:r>
            <a:endParaRPr sz="2700" b="1" dirty="0">
              <a:solidFill>
                <a:srgbClr val="ECF7F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4" name="CustomShape 5">
            <a:extLst>
              <a:ext uri="{FF2B5EF4-FFF2-40B4-BE49-F238E27FC236}">
                <a16:creationId xmlns:a16="http://schemas.microsoft.com/office/drawing/2014/main" id="{835F71F5-7FA6-359F-A73A-E37E7A38DA47}"/>
              </a:ext>
            </a:extLst>
          </p:cNvPr>
          <p:cNvSpPr>
            <a:spLocks noGrp="1"/>
          </p:cNvSpPr>
          <p:nvPr/>
        </p:nvSpPr>
        <p:spPr>
          <a:xfrm>
            <a:off x="438840" y="6611040"/>
            <a:ext cx="11292120" cy="10080"/>
          </a:xfrm>
          <a:prstGeom prst="rect">
            <a:avLst/>
          </a:prstGeom>
          <a:solidFill>
            <a:srgbClr val="294C61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55" name="CustomShape 6">
            <a:extLst>
              <a:ext uri="{FF2B5EF4-FFF2-40B4-BE49-F238E27FC236}">
                <a16:creationId xmlns:a16="http://schemas.microsoft.com/office/drawing/2014/main" id="{852E6274-9C45-E69B-9163-890654829F8C}"/>
              </a:ext>
            </a:extLst>
          </p:cNvPr>
          <p:cNvSpPr>
            <a:spLocks noGrp="1"/>
          </p:cNvSpPr>
          <p:nvPr/>
        </p:nvSpPr>
        <p:spPr>
          <a:xfrm>
            <a:off x="457200" y="6608160"/>
            <a:ext cx="7863120" cy="22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000" b="0">
                <a:solidFill>
                  <a:srgbClr val="678391"/>
                </a:solidFill>
                <a:latin typeface="Noto Sans CJK SC"/>
                <a:ea typeface="Noto Sans CJK SC"/>
                <a:cs typeface="Noto Sans CJK SC"/>
              </a:rPr>
              <a:t>空地协同连续排雷系统 · 当前项目实现与实验结果</a:t>
            </a:r>
          </a:p>
        </p:txBody>
      </p:sp>
      <p:sp>
        <p:nvSpPr>
          <p:cNvPr id="561" name="CustomShape 12">
            <a:extLst>
              <a:ext uri="{FF2B5EF4-FFF2-40B4-BE49-F238E27FC236}">
                <a16:creationId xmlns:a16="http://schemas.microsoft.com/office/drawing/2014/main" id="{99A3C364-84C2-2DCD-52FE-2CED3AEC8679}"/>
              </a:ext>
            </a:extLst>
          </p:cNvPr>
          <p:cNvSpPr>
            <a:spLocks noGrp="1"/>
          </p:cNvSpPr>
          <p:nvPr/>
        </p:nvSpPr>
        <p:spPr>
          <a:xfrm>
            <a:off x="1191060" y="1170540"/>
            <a:ext cx="7323480" cy="510156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3" name="CustomShape 14">
            <a:extLst>
              <a:ext uri="{FF2B5EF4-FFF2-40B4-BE49-F238E27FC236}">
                <a16:creationId xmlns:a16="http://schemas.microsoft.com/office/drawing/2014/main" id="{B878A7F6-FBF3-4212-4803-32B1C6AD212A}"/>
              </a:ext>
            </a:extLst>
          </p:cNvPr>
          <p:cNvSpPr>
            <a:spLocks noGrp="1"/>
          </p:cNvSpPr>
          <p:nvPr/>
        </p:nvSpPr>
        <p:spPr>
          <a:xfrm>
            <a:off x="2196449" y="2097582"/>
            <a:ext cx="944315" cy="383400"/>
          </a:xfrm>
          <a:prstGeom prst="roundRect">
            <a:avLst>
              <a:gd name="adj" fmla="val 16667"/>
            </a:avLst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赵汝堃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7" name="CustomShape 18">
            <a:extLst>
              <a:ext uri="{FF2B5EF4-FFF2-40B4-BE49-F238E27FC236}">
                <a16:creationId xmlns:a16="http://schemas.microsoft.com/office/drawing/2014/main" id="{098B7BF2-4F75-A753-B903-8A67D4F52A23}"/>
              </a:ext>
            </a:extLst>
          </p:cNvPr>
          <p:cNvSpPr>
            <a:spLocks noGrp="1"/>
          </p:cNvSpPr>
          <p:nvPr/>
        </p:nvSpPr>
        <p:spPr>
          <a:xfrm>
            <a:off x="2196450" y="3030342"/>
            <a:ext cx="944314" cy="383400"/>
          </a:xfrm>
          <a:prstGeom prst="roundRect">
            <a:avLst>
              <a:gd name="adj" fmla="val 16667"/>
            </a:avLst>
          </a:prstGeom>
          <a:solidFill>
            <a:srgbClr val="4F8CF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吴淑林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71" name="CustomShape 22">
            <a:extLst>
              <a:ext uri="{FF2B5EF4-FFF2-40B4-BE49-F238E27FC236}">
                <a16:creationId xmlns:a16="http://schemas.microsoft.com/office/drawing/2014/main" id="{4FB500AF-C809-774F-12A5-8D26E7C7E058}"/>
              </a:ext>
            </a:extLst>
          </p:cNvPr>
          <p:cNvSpPr>
            <a:spLocks noGrp="1"/>
          </p:cNvSpPr>
          <p:nvPr/>
        </p:nvSpPr>
        <p:spPr>
          <a:xfrm>
            <a:off x="2196450" y="3963102"/>
            <a:ext cx="944314" cy="383400"/>
          </a:xfrm>
          <a:prstGeom prst="roundRect">
            <a:avLst>
              <a:gd name="adj" fmla="val 16667"/>
            </a:avLst>
          </a:prstGeom>
          <a:solidFill>
            <a:srgbClr val="55D99F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杜军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CustomShape 14">
            <a:extLst>
              <a:ext uri="{FF2B5EF4-FFF2-40B4-BE49-F238E27FC236}">
                <a16:creationId xmlns:a16="http://schemas.microsoft.com/office/drawing/2014/main" id="{A4A6A754-3682-598B-0031-20937FE11508}"/>
              </a:ext>
            </a:extLst>
          </p:cNvPr>
          <p:cNvSpPr>
            <a:spLocks noGrp="1"/>
          </p:cNvSpPr>
          <p:nvPr/>
        </p:nvSpPr>
        <p:spPr>
          <a:xfrm>
            <a:off x="2196450" y="4879274"/>
            <a:ext cx="944314" cy="383400"/>
          </a:xfrm>
          <a:prstGeom prst="roundRect">
            <a:avLst>
              <a:gd name="adj" fmla="val 16667"/>
            </a:avLst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武天豪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1BB144-1907-4253-B434-FD1509CD6A2A}"/>
              </a:ext>
            </a:extLst>
          </p:cNvPr>
          <p:cNvSpPr txBox="1"/>
          <p:nvPr/>
        </p:nvSpPr>
        <p:spPr>
          <a:xfrm>
            <a:off x="3210339" y="1861979"/>
            <a:ext cx="2321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总体架构与项目统筹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44F2E2-C735-D262-A0A7-FC2D3F7644D0}"/>
              </a:ext>
            </a:extLst>
          </p:cNvPr>
          <p:cNvSpPr txBox="1"/>
          <p:nvPr/>
        </p:nvSpPr>
        <p:spPr>
          <a:xfrm>
            <a:off x="3140764" y="2844236"/>
            <a:ext cx="2321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UAV </a:t>
            </a:r>
            <a:r>
              <a:rPr lang="zh-CN" altLang="en-US" dirty="0">
                <a:solidFill>
                  <a:schemeClr val="bg1"/>
                </a:solidFill>
              </a:rPr>
              <a:t>飞行与定位建图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5730F7-FEF1-CCF2-81B6-63A892C9E130}"/>
              </a:ext>
            </a:extLst>
          </p:cNvPr>
          <p:cNvSpPr txBox="1"/>
          <p:nvPr/>
        </p:nvSpPr>
        <p:spPr>
          <a:xfrm>
            <a:off x="3140764" y="3772730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UGV </a:t>
            </a:r>
            <a:r>
              <a:rPr lang="zh-CN" altLang="en-US" dirty="0">
                <a:solidFill>
                  <a:schemeClr val="bg1"/>
                </a:solidFill>
              </a:rPr>
              <a:t>导航与机械臂抓取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468F10-802D-F88B-4AF5-3F9160680263}"/>
              </a:ext>
            </a:extLst>
          </p:cNvPr>
          <p:cNvSpPr txBox="1"/>
          <p:nvPr/>
        </p:nvSpPr>
        <p:spPr>
          <a:xfrm>
            <a:off x="3140764" y="4690606"/>
            <a:ext cx="2321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地雷感知与任务地图</a:t>
            </a:r>
          </a:p>
        </p:txBody>
      </p:sp>
      <p:sp>
        <p:nvSpPr>
          <p:cNvPr id="18" name="TextBox 490">
            <a:extLst>
              <a:ext uri="{FF2B5EF4-FFF2-40B4-BE49-F238E27FC236}">
                <a16:creationId xmlns:a16="http://schemas.microsoft.com/office/drawing/2014/main" id="{7F6A1443-8DE2-CBCB-7A9E-A2F58478A480}"/>
              </a:ext>
            </a:extLst>
          </p:cNvPr>
          <p:cNvSpPr>
            <a:spLocks noGrp="1"/>
          </p:cNvSpPr>
          <p:nvPr/>
        </p:nvSpPr>
        <p:spPr>
          <a:xfrm>
            <a:off x="3210339" y="2212560"/>
            <a:ext cx="4303644" cy="60939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00" dirty="0"/>
              <a:t>负责需求分析、总体路线和进度管理；统一 UAV、UGV、感知与机械臂接口，维护 odom / uav0/map_local 坐标契约、任务消息和状态机；</a:t>
            </a:r>
            <a:endParaRPr sz="1200" b="0" dirty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490">
            <a:extLst>
              <a:ext uri="{FF2B5EF4-FFF2-40B4-BE49-F238E27FC236}">
                <a16:creationId xmlns:a16="http://schemas.microsoft.com/office/drawing/2014/main" id="{671030FF-8DB4-8114-87F5-EE6019BCB818}"/>
              </a:ext>
            </a:extLst>
          </p:cNvPr>
          <p:cNvSpPr>
            <a:spLocks noGrp="1"/>
          </p:cNvSpPr>
          <p:nvPr/>
        </p:nvSpPr>
        <p:spPr>
          <a:xfrm>
            <a:off x="3210339" y="3161892"/>
            <a:ext cx="4303644" cy="60939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00" dirty="0"/>
              <a:t>负责 UAV 飞行控制、全局 A*、EGO 局部规划和 PX4 OFFBOARD；完成 MAVROS 位姿、LiDAR 点云与空地锚定接口调试</a:t>
            </a:r>
            <a:r>
              <a:rPr lang="zh-CN" altLang="en-US" sz="1200" dirty="0"/>
              <a:t>。</a:t>
            </a:r>
            <a:endParaRPr sz="1200" b="0" dirty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490">
            <a:extLst>
              <a:ext uri="{FF2B5EF4-FFF2-40B4-BE49-F238E27FC236}">
                <a16:creationId xmlns:a16="http://schemas.microsoft.com/office/drawing/2014/main" id="{C7F43BE3-7430-D4A0-4880-4B8DFF553531}"/>
              </a:ext>
            </a:extLst>
          </p:cNvPr>
          <p:cNvSpPr>
            <a:spLocks noGrp="1"/>
          </p:cNvSpPr>
          <p:nvPr/>
        </p:nvSpPr>
        <p:spPr>
          <a:xfrm>
            <a:off x="3210339" y="4072407"/>
            <a:ext cx="4303644" cy="60939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00" dirty="0"/>
              <a:t>负责 UGV 局部定位、Egocentric 导航、地形代价和目标巡检；负责解析式抓取候选、MoveIt MTC 以及接近、夹取、返程和放置流程。</a:t>
            </a:r>
            <a:endParaRPr sz="1200" b="0" dirty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490">
            <a:extLst>
              <a:ext uri="{FF2B5EF4-FFF2-40B4-BE49-F238E27FC236}">
                <a16:creationId xmlns:a16="http://schemas.microsoft.com/office/drawing/2014/main" id="{0C068080-C4C0-8120-EB44-E0804ADD4925}"/>
              </a:ext>
            </a:extLst>
          </p:cNvPr>
          <p:cNvSpPr>
            <a:spLocks noGrp="1"/>
          </p:cNvSpPr>
          <p:nvPr/>
        </p:nvSpPr>
        <p:spPr>
          <a:xfrm>
            <a:off x="3210339" y="5056621"/>
            <a:ext cx="4303644" cy="609398"/>
          </a:xfrm>
          <a:prstGeom prst="rect">
            <a:avLst/>
          </a:prstGeom>
          <a:noFill/>
        </p:spPr>
        <p:txBody>
          <a:bodyPr wrap="square" lIns="64008" tIns="27432" rIns="64008" bIns="27432">
            <a:spAutoFit/>
          </a:bodyPr>
          <a:lstStyle/>
          <a:p>
            <a:pPr>
              <a:buNone/>
              <a:defRPr sz="1200" b="0">
                <a:solidFill>
                  <a:srgbClr val="F5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00" dirty="0"/>
              <a:t>负责 YOLO11s-seg 数据集制作、标签审计、模型训练和独立测试；实现 UAV 远场地雷定位、UGV 腕部近场精定位以及 HSV、RGB-D 等多模态</a:t>
            </a:r>
            <a:r>
              <a:rPr lang="zh-CN" altLang="zh-CN" sz="1200"/>
              <a:t>融合；</a:t>
            </a:r>
            <a:endParaRPr sz="1200" b="0" dirty="0">
              <a:solidFill>
                <a:srgbClr val="F5F8F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3108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2F0C-9486-A2B8-2C4A-6B1C7B7A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">
            <a:extLst>
              <a:ext uri="{FF2B5EF4-FFF2-40B4-BE49-F238E27FC236}">
                <a16:creationId xmlns:a16="http://schemas.microsoft.com/office/drawing/2014/main" id="{14874B76-ECF3-2DEB-A59F-2CCF543FB3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" r="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</p:pic>
      <p:sp>
        <p:nvSpPr>
          <p:cNvPr id="39" name="CustomShape 1">
            <a:extLst>
              <a:ext uri="{FF2B5EF4-FFF2-40B4-BE49-F238E27FC236}">
                <a16:creationId xmlns:a16="http://schemas.microsoft.com/office/drawing/2014/main" id="{CC3FBA41-9065-E97D-495A-61B9FAD45E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0720" cy="6857280"/>
          </a:xfrm>
          <a:prstGeom prst="rect">
            <a:avLst/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" name="CustomShape 2">
            <a:extLst>
              <a:ext uri="{FF2B5EF4-FFF2-40B4-BE49-F238E27FC236}">
                <a16:creationId xmlns:a16="http://schemas.microsoft.com/office/drawing/2014/main" id="{6D3A05F4-D660-BEAE-74CE-5890918987E8}"/>
              </a:ext>
            </a:extLst>
          </p:cNvPr>
          <p:cNvSpPr>
            <a:spLocks noGrp="1"/>
          </p:cNvSpPr>
          <p:nvPr/>
        </p:nvSpPr>
        <p:spPr>
          <a:xfrm>
            <a:off x="694800" y="694800"/>
            <a:ext cx="3519720" cy="419760"/>
          </a:xfrm>
          <a:prstGeom prst="roundRect">
            <a:avLst>
              <a:gd name="adj" fmla="val 16667"/>
            </a:avLst>
          </a:prstGeom>
          <a:solidFill>
            <a:srgbClr val="25D5D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" name="CustomShape 3">
            <a:extLst>
              <a:ext uri="{FF2B5EF4-FFF2-40B4-BE49-F238E27FC236}">
                <a16:creationId xmlns:a16="http://schemas.microsoft.com/office/drawing/2014/main" id="{6CA19A3F-AC2E-FAD2-B4B8-484B4959DC7F}"/>
              </a:ext>
            </a:extLst>
          </p:cNvPr>
          <p:cNvSpPr>
            <a:spLocks noGrp="1"/>
          </p:cNvSpPr>
          <p:nvPr/>
        </p:nvSpPr>
        <p:spPr>
          <a:xfrm>
            <a:off x="694800" y="772841"/>
            <a:ext cx="3519720" cy="2643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" tIns="9000" rIns="9000" bIns="9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06131F"/>
                </a:solidFill>
                <a:latin typeface="Noto Sans CJK SC"/>
                <a:ea typeface="Noto Sans CJK SC"/>
                <a:cs typeface="Noto Sans CJK SC"/>
              </a:rPr>
              <a:t>结束</a:t>
            </a:r>
            <a:endParaRPr sz="1600" b="1" dirty="0">
              <a:solidFill>
                <a:srgbClr val="06131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CustomShape 4">
            <a:extLst>
              <a:ext uri="{FF2B5EF4-FFF2-40B4-BE49-F238E27FC236}">
                <a16:creationId xmlns:a16="http://schemas.microsoft.com/office/drawing/2014/main" id="{9CA2617E-402E-D41F-93D1-63AAB04810EC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789200" cy="652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3800" b="1" dirty="0" err="1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户外空地协同连续排雷系统</a:t>
            </a:r>
            <a:endParaRPr sz="3800" b="1" dirty="0">
              <a:solidFill>
                <a:srgbClr val="ECF7F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CustomShape 6">
            <a:extLst>
              <a:ext uri="{FF2B5EF4-FFF2-40B4-BE49-F238E27FC236}">
                <a16:creationId xmlns:a16="http://schemas.microsoft.com/office/drawing/2014/main" id="{EBE2FBE3-C8B3-B105-A77E-26400ED8CD62}"/>
              </a:ext>
            </a:extLst>
          </p:cNvPr>
          <p:cNvSpPr>
            <a:spLocks noGrp="1"/>
          </p:cNvSpPr>
          <p:nvPr/>
        </p:nvSpPr>
        <p:spPr>
          <a:xfrm>
            <a:off x="723420" y="2531340"/>
            <a:ext cx="10834920" cy="2750940"/>
          </a:xfrm>
          <a:prstGeom prst="roundRect">
            <a:avLst>
              <a:gd name="adj" fmla="val 16667"/>
            </a:avLst>
          </a:prstGeom>
          <a:solidFill>
            <a:srgbClr val="0A1D2C"/>
          </a:solidFill>
          <a:ln w="12600">
            <a:solidFill>
              <a:srgbClr val="294C6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dirty="0"/>
          </a:p>
        </p:txBody>
      </p:sp>
      <p:sp>
        <p:nvSpPr>
          <p:cNvPr id="47" name="CustomShape 9">
            <a:extLst>
              <a:ext uri="{FF2B5EF4-FFF2-40B4-BE49-F238E27FC236}">
                <a16:creationId xmlns:a16="http://schemas.microsoft.com/office/drawing/2014/main" id="{B8D5008F-9644-E468-131E-0833C37F750F}"/>
              </a:ext>
            </a:extLst>
          </p:cNvPr>
          <p:cNvSpPr>
            <a:spLocks noGrp="1"/>
          </p:cNvSpPr>
          <p:nvPr/>
        </p:nvSpPr>
        <p:spPr>
          <a:xfrm>
            <a:off x="749880" y="6192000"/>
            <a:ext cx="4145760" cy="286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400" b="0">
                <a:solidFill>
                  <a:srgbClr val="9CB4C1"/>
                </a:solidFill>
                <a:latin typeface="Noto Sans CJK SC"/>
                <a:ea typeface="Noto Sans CJK SC"/>
                <a:cs typeface="Noto Sans CJK SC"/>
              </a:rPr>
              <a:t>小组成员：武天豪 赵汝堃 杜军 吴淑林</a:t>
            </a:r>
          </a:p>
        </p:txBody>
      </p:sp>
      <p:sp>
        <p:nvSpPr>
          <p:cNvPr id="5" name="CustomShape 4">
            <a:extLst>
              <a:ext uri="{FF2B5EF4-FFF2-40B4-BE49-F238E27FC236}">
                <a16:creationId xmlns:a16="http://schemas.microsoft.com/office/drawing/2014/main" id="{B3814588-8031-C42B-73EF-51284BF31BE4}"/>
              </a:ext>
            </a:extLst>
          </p:cNvPr>
          <p:cNvSpPr>
            <a:spLocks noGrp="1"/>
          </p:cNvSpPr>
          <p:nvPr/>
        </p:nvSpPr>
        <p:spPr>
          <a:xfrm>
            <a:off x="2890784" y="2934000"/>
            <a:ext cx="6500192" cy="22901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36720" rIns="36720" bIns="3672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欢迎各位老师批评指正</a:t>
            </a:r>
            <a:endParaRPr lang="en-US" altLang="zh-CN" sz="4800" b="1" dirty="0">
              <a:solidFill>
                <a:srgbClr val="ECF7FA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lnSpc>
                <a:spcPct val="100000"/>
              </a:lnSpc>
              <a:buNone/>
            </a:pPr>
            <a:endParaRPr lang="en-US" sz="4800" b="1" dirty="0">
              <a:solidFill>
                <a:srgbClr val="ECF7FA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altLang="zh-CN" sz="4800" b="1" dirty="0">
                <a:solidFill>
                  <a:srgbClr val="ECF7FA"/>
                </a:solidFill>
                <a:latin typeface="Noto Sans CJK SC"/>
                <a:ea typeface="Noto Sans CJK SC"/>
                <a:cs typeface="Noto Sans CJK SC"/>
              </a:rPr>
              <a:t>THANKS</a:t>
            </a:r>
            <a:endParaRPr sz="4800" b="1" dirty="0">
              <a:solidFill>
                <a:srgbClr val="ECF7FA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847959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2459</Words>
  <Application>Microsoft Office PowerPoint</Application>
  <DocSecurity>0</DocSecurity>
  <PresentationFormat>宽屏</PresentationFormat>
  <Paragraphs>429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DejaVu Sans Condensed</vt:lpstr>
      <vt:lpstr>Noto Sans CJK SC</vt:lpstr>
      <vt:lpstr>Noto Sans Mono CJK SC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户外空地协同连续排雷系统</dc:title>
  <dc:creator>第3组：武天豪、赵汝堃、杜军、吴淑林</dc:creator>
  <cp:lastModifiedBy>第3组</cp:lastModifiedBy>
  <cp:revision>2</cp:revision>
  <dcterms:created xsi:type="dcterms:W3CDTF">2026-07-15T16:23:47Z</dcterms:created>
  <dcterms:modified xsi:type="dcterms:W3CDTF">2026-07-15T16:47:52Z</dcterms:modified>
</cp:coreProperties>
</file>